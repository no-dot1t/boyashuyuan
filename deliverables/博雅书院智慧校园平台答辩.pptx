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bin" ContentType="application/vnd.openxmlformats-officedocument.spreadsheetml.sheet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1aa354b43c24a2e" /><Relationship Type="http://schemas.openxmlformats.org/package/2006/relationships/metadata/core-properties" Target="/docProps/core.xml" Id="R72d28e8d481c48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dddecf60f4d26"/>
  </p:sldMasterIdLst>
  <p:sldIdLst>
    <p:sldId xmlns:r="http://schemas.openxmlformats.org/officeDocument/2006/relationships" id="257" r:id="Rcce25154615e4e35"/>
    <p:sldId xmlns:r="http://schemas.openxmlformats.org/officeDocument/2006/relationships" id="258" r:id="Re8fa246cb41c4e07"/>
    <p:sldId xmlns:r="http://schemas.openxmlformats.org/officeDocument/2006/relationships" id="259" r:id="Rcf2fd299efdf4976"/>
    <p:sldId xmlns:r="http://schemas.openxmlformats.org/officeDocument/2006/relationships" id="260" r:id="R19392f0222554efe"/>
    <p:sldId xmlns:r="http://schemas.openxmlformats.org/officeDocument/2006/relationships" id="261" r:id="Rbcae2b411641486b"/>
    <p:sldId xmlns:r="http://schemas.openxmlformats.org/officeDocument/2006/relationships" id="262" r:id="Rb3756a170360413b"/>
    <p:sldId xmlns:r="http://schemas.openxmlformats.org/officeDocument/2006/relationships" id="263" r:id="R6862117df238431c"/>
    <p:sldId xmlns:r="http://schemas.openxmlformats.org/officeDocument/2006/relationships" id="264" r:id="R2ed5dee39ebf4227"/>
    <p:sldId xmlns:r="http://schemas.openxmlformats.org/officeDocument/2006/relationships" id="265" r:id="R4797f0f79dac4f00"/>
    <p:sldId xmlns:r="http://schemas.openxmlformats.org/officeDocument/2006/relationships" id="266" r:id="Re73eda948f554b13"/>
    <p:sldId xmlns:r="http://schemas.openxmlformats.org/officeDocument/2006/relationships" id="267" r:id="R0507a775dd2643ac"/>
    <p:sldId xmlns:r="http://schemas.openxmlformats.org/officeDocument/2006/relationships" id="268" r:id="Reecb4e46a9a8405f"/>
    <p:sldId xmlns:r="http://schemas.openxmlformats.org/officeDocument/2006/relationships" id="269" r:id="Rcdcd435e3fce4f06"/>
    <p:sldId xmlns:r="http://schemas.openxmlformats.org/officeDocument/2006/relationships" id="270" r:id="Re3c1a609cf8b468a"/>
    <p:sldId xmlns:r="http://schemas.openxmlformats.org/officeDocument/2006/relationships" id="271" r:id="R792f335fe7d543f4"/>
    <p:sldId xmlns:r="http://schemas.openxmlformats.org/officeDocument/2006/relationships" id="272" r:id="R0eca5f05fb444d11"/>
    <p:sldId xmlns:r="http://schemas.openxmlformats.org/officeDocument/2006/relationships" id="273" r:id="R0d61fd26cdce41da"/>
    <p:sldId xmlns:r="http://schemas.openxmlformats.org/officeDocument/2006/relationships" id="274" r:id="Rc476e252bf9845c2"/>
  </p:sldIdLst>
  <p:sldSz cx="16256000" cy="9144000"/>
  <p:notesSz cx="6858000" cy="9144000"/>
  <p:defaultTextStyle>
    <a:defPPr xmlns:a="http://schemas.openxmlformats.org/drawingml/2006/main"/>
    <a:lvl1pPr xmlns:a="http://schemas.openxmlformats.org/drawingml/2006/main">
      <a:defRPr sz="1800"/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a26a5a779444c4" /><Relationship Type="http://schemas.openxmlformats.org/officeDocument/2006/relationships/slideMaster" Target="/ppt/slideMasters/slideMaster1.xml" Id="Rf26dddecf60f4d26" /><Relationship Type="http://schemas.openxmlformats.org/officeDocument/2006/relationships/slide" Target="/ppt/slides/slide1.xml" Id="Rcce25154615e4e35" /><Relationship Type="http://schemas.openxmlformats.org/officeDocument/2006/relationships/slide" Target="/ppt/slides/slide2.xml" Id="Re8fa246cb41c4e07" /><Relationship Type="http://schemas.openxmlformats.org/officeDocument/2006/relationships/slide" Target="/ppt/slides/slide3.xml" Id="Rcf2fd299efdf4976" /><Relationship Type="http://schemas.openxmlformats.org/officeDocument/2006/relationships/slide" Target="/ppt/slides/slide4.xml" Id="R19392f0222554efe" /><Relationship Type="http://schemas.openxmlformats.org/officeDocument/2006/relationships/slide" Target="/ppt/slides/slide5.xml" Id="Rbcae2b411641486b" /><Relationship Type="http://schemas.openxmlformats.org/officeDocument/2006/relationships/slide" Target="/ppt/slides/slide6.xml" Id="Rb3756a170360413b" /><Relationship Type="http://schemas.openxmlformats.org/officeDocument/2006/relationships/slide" Target="/ppt/slides/slide7.xml" Id="R6862117df238431c" /><Relationship Type="http://schemas.openxmlformats.org/officeDocument/2006/relationships/slide" Target="/ppt/slides/slide8.xml" Id="R2ed5dee39ebf4227" /><Relationship Type="http://schemas.openxmlformats.org/officeDocument/2006/relationships/slide" Target="/ppt/slides/slide9.xml" Id="R4797f0f79dac4f00" /><Relationship Type="http://schemas.openxmlformats.org/officeDocument/2006/relationships/slide" Target="/ppt/slides/slide10.xml" Id="Re73eda948f554b13" /><Relationship Type="http://schemas.openxmlformats.org/officeDocument/2006/relationships/slide" Target="/ppt/slides/slide11.xml" Id="R0507a775dd2643ac" /><Relationship Type="http://schemas.openxmlformats.org/officeDocument/2006/relationships/slide" Target="/ppt/slides/slide12.xml" Id="Reecb4e46a9a8405f" /><Relationship Type="http://schemas.openxmlformats.org/officeDocument/2006/relationships/slide" Target="/ppt/slides/slide13.xml" Id="Rcdcd435e3fce4f06" /><Relationship Type="http://schemas.openxmlformats.org/officeDocument/2006/relationships/slide" Target="/ppt/slides/slide14.xml" Id="Re3c1a609cf8b468a" /><Relationship Type="http://schemas.openxmlformats.org/officeDocument/2006/relationships/slide" Target="/ppt/slides/slide15.xml" Id="R792f335fe7d543f4" /><Relationship Type="http://schemas.openxmlformats.org/officeDocument/2006/relationships/slide" Target="/ppt/slides/slide16.xml" Id="R0eca5f05fb444d11" /><Relationship Type="http://schemas.openxmlformats.org/officeDocument/2006/relationships/slide" Target="/ppt/slides/slide17.xml" Id="R0d61fd26cdce41da" /><Relationship Type="http://schemas.openxmlformats.org/officeDocument/2006/relationships/slide" Target="/ppt/slides/slide18.xml" Id="Rc476e252bf9845c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ce0e4b3634af9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c92ef35e6c14cc7" /><Relationship Type="http://schemas.openxmlformats.org/officeDocument/2006/relationships/slideLayout" Target="/ppt/slideLayouts/slideLayout1.xml" Id="R86243105583f42c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243105583f42c1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c96ff0357418a" /><Relationship Type="http://schemas.openxmlformats.org/officeDocument/2006/relationships/image" Target="/ppt/media/image.png" Id="R922d0f16089744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0abffd6f94f5b" /><Relationship Type="http://schemas.openxmlformats.org/officeDocument/2006/relationships/image" Target="/ppt/media/image2.png" Id="R7c0acf22de2541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333e5b6e049c2" /><Relationship Type="http://schemas.openxmlformats.org/officeDocument/2006/relationships/image" Target="/ppt/media/image3.png" Id="R7d6d127053c546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453e325b448eb" /><Relationship Type="http://schemas.openxmlformats.org/officeDocument/2006/relationships/image" Target="/ppt/media/image4.png" Id="R34f1a4a996dd4cb1" /><Relationship Type="http://schemas.openxmlformats.org/officeDocument/2006/relationships/image" Target="/ppt/media/image5.png" Id="Rcd34c5c63dfa48c7" /><Relationship Type="http://schemas.openxmlformats.org/officeDocument/2006/relationships/image" Target="/ppt/media/image6.png" Id="R187391b89e464648" /><Relationship Type="http://schemas.openxmlformats.org/officeDocument/2006/relationships/image" Target="/ppt/media/image7.png" Id="R21ee071b36ce4072" /><Relationship Type="http://schemas.openxmlformats.org/officeDocument/2006/relationships/image" Target="/ppt/media/image8.png" Id="R27b503f461af4d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28bffeab84222" /><Relationship Type="http://schemas.openxmlformats.org/officeDocument/2006/relationships/image" Target="/ppt/media/image9.png" Id="R442eb23400524749" /><Relationship Type="http://schemas.openxmlformats.org/officeDocument/2006/relationships/image" Target="/ppt/media/image10.png" Id="R8e4fbca14d19489d" /><Relationship Type="http://schemas.openxmlformats.org/officeDocument/2006/relationships/image" Target="/ppt/media/image11.png" Id="Rd6cc616856b941c6" /><Relationship Type="http://schemas.openxmlformats.org/officeDocument/2006/relationships/image" Target="/ppt/media/image12.png" Id="R729e703aaeaa4089" /><Relationship Type="http://schemas.openxmlformats.org/officeDocument/2006/relationships/image" Target="/ppt/media/image13.png" Id="R0ba4b1e3067943f3" /><Relationship Type="http://schemas.openxmlformats.org/officeDocument/2006/relationships/image" Target="/ppt/media/image14.png" Id="Rfb8cd04cc6a04b95" /><Relationship Type="http://schemas.openxmlformats.org/officeDocument/2006/relationships/image" Target="/ppt/media/image15.png" Id="R207dc5e963f149da" /><Relationship Type="http://schemas.openxmlformats.org/officeDocument/2006/relationships/image" Target="/ppt/media/image16.png" Id="R382968654ae14917" /><Relationship Type="http://schemas.openxmlformats.org/officeDocument/2006/relationships/image" Target="/ppt/media/image17.png" Id="R0e2a32755bb74720" /><Relationship Type="http://schemas.openxmlformats.org/officeDocument/2006/relationships/image" Target="/ppt/media/image18.png" Id="R5a68e8327d964f97" /><Relationship Type="http://schemas.openxmlformats.org/officeDocument/2006/relationships/image" Target="/ppt/media/image19.png" Id="Rbf2b5589cdca431b" /><Relationship Type="http://schemas.openxmlformats.org/officeDocument/2006/relationships/image" Target="/ppt/media/image20.png" Id="R97e8d2ab4b9f4b06" /><Relationship Type="http://schemas.openxmlformats.org/officeDocument/2006/relationships/image" Target="/ppt/media/image21.png" Id="Re3963637ca0442e6" /><Relationship Type="http://schemas.openxmlformats.org/officeDocument/2006/relationships/image" Target="/ppt/media/image22.png" Id="R766bf9838f5b46e6" /><Relationship Type="http://schemas.openxmlformats.org/officeDocument/2006/relationships/image" Target="/ppt/media/image23.png" Id="R2ea2aa0e5064478f" /><Relationship Type="http://schemas.openxmlformats.org/officeDocument/2006/relationships/image" Target="/ppt/media/image24.png" Id="R917ffb362e38465a" /><Relationship Type="http://schemas.openxmlformats.org/officeDocument/2006/relationships/image" Target="/ppt/media/image25.png" Id="R949912a2beb842c5" /><Relationship Type="http://schemas.openxmlformats.org/officeDocument/2006/relationships/image" Target="/ppt/media/image26.png" Id="R1d317512f11c4e90" /><Relationship Type="http://schemas.openxmlformats.org/officeDocument/2006/relationships/image" Target="/ppt/media/image27.png" Id="R90a6fccb21754c3d" /><Relationship Type="http://schemas.openxmlformats.org/officeDocument/2006/relationships/image" Target="/ppt/media/image28.png" Id="R8ad1bd3c48bc47a0" /><Relationship Type="http://schemas.openxmlformats.org/officeDocument/2006/relationships/image" Target="/ppt/media/image29.png" Id="R22493a67aa86487d" /><Relationship Type="http://schemas.openxmlformats.org/officeDocument/2006/relationships/image" Target="/ppt/media/image30.png" Id="Rf083526143084374" /><Relationship Type="http://schemas.openxmlformats.org/officeDocument/2006/relationships/image" Target="/ppt/media/image31.png" Id="Ra76c4b7ecb2e4ca5" /><Relationship Type="http://schemas.openxmlformats.org/officeDocument/2006/relationships/image" Target="/ppt/media/image32.png" Id="Rc66acffd98ef4aef" /><Relationship Type="http://schemas.openxmlformats.org/officeDocument/2006/relationships/image" Target="/ppt/media/image33.png" Id="R48a2d41e792c4bda" /><Relationship Type="http://schemas.openxmlformats.org/officeDocument/2006/relationships/image" Target="/ppt/media/image34.png" Id="R1952a1579adb4001" /><Relationship Type="http://schemas.openxmlformats.org/officeDocument/2006/relationships/image" Target="/ppt/media/image35.png" Id="R128310b55adf4213" /><Relationship Type="http://schemas.openxmlformats.org/officeDocument/2006/relationships/image" Target="/ppt/media/image36.png" Id="R2ff7a82be1cd4b2f" /><Relationship Type="http://schemas.openxmlformats.org/officeDocument/2006/relationships/image" Target="/ppt/media/image37.png" Id="Rb06e68a554ca48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47a721d27475e" /><Relationship Type="http://schemas.openxmlformats.org/officeDocument/2006/relationships/image" Target="/ppt/media/image38.png" Id="R4e63d48de86a4a85" /><Relationship Type="http://schemas.openxmlformats.org/officeDocument/2006/relationships/image" Target="/ppt/media/image39.png" Id="R90b8483090714b82" /><Relationship Type="http://schemas.openxmlformats.org/officeDocument/2006/relationships/image" Target="/ppt/media/image40.png" Id="R9642440edafa4f8d" /><Relationship Type="http://schemas.openxmlformats.org/officeDocument/2006/relationships/image" Target="/ppt/media/image41.png" Id="Re7e04235899a493f" /><Relationship Type="http://schemas.openxmlformats.org/officeDocument/2006/relationships/image" Target="/ppt/media/image42.png" Id="Ra65c3c52db43466f" /><Relationship Type="http://schemas.openxmlformats.org/officeDocument/2006/relationships/image" Target="/ppt/media/image43.png" Id="R4afa1e41588f4a7b" /><Relationship Type="http://schemas.openxmlformats.org/officeDocument/2006/relationships/image" Target="/ppt/media/image44.png" Id="R9f76fa02d86a47a6" /><Relationship Type="http://schemas.openxmlformats.org/officeDocument/2006/relationships/image" Target="/ppt/media/image45.png" Id="R8c4c0c3eb5ff4ffc" /><Relationship Type="http://schemas.openxmlformats.org/officeDocument/2006/relationships/image" Target="/ppt/media/image46.png" Id="Re6dac25da04f42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5269dc7c04d99" /><Relationship Type="http://schemas.openxmlformats.org/officeDocument/2006/relationships/image" Target="/ppt/media/image47.png" Id="R792941a6abaf48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cd6b560f546b5" /><Relationship Type="http://schemas.openxmlformats.org/officeDocument/2006/relationships/image" Target="/ppt/media/image48.png" Id="Rd63f223378fd4a2b" /><Relationship Type="http://schemas.openxmlformats.org/officeDocument/2006/relationships/image" Target="/ppt/media/image49.png" Id="R04b525b4f2784beb" /><Relationship Type="http://schemas.openxmlformats.org/officeDocument/2006/relationships/image" Target="/ppt/media/image50.png" Id="Rc0c12d20aff2435f" /><Relationship Type="http://schemas.openxmlformats.org/officeDocument/2006/relationships/image" Target="/ppt/media/image51.png" Id="Rbb97a82dbc3243bd" /><Relationship Type="http://schemas.openxmlformats.org/officeDocument/2006/relationships/image" Target="/ppt/media/image52.png" Id="R6ef4ef8bde214059" /><Relationship Type="http://schemas.openxmlformats.org/officeDocument/2006/relationships/image" Target="/ppt/media/image53.png" Id="R30de23894ebd4e80" /><Relationship Type="http://schemas.openxmlformats.org/officeDocument/2006/relationships/image" Target="/ppt/media/image54.png" Id="Rb9287803850b47f7" /><Relationship Type="http://schemas.openxmlformats.org/officeDocument/2006/relationships/image" Target="/ppt/media/image55.png" Id="R972d2fc21a7d4d2f" /><Relationship Type="http://schemas.openxmlformats.org/officeDocument/2006/relationships/image" Target="/ppt/media/image56.png" Id="Rd694266db2be4c80" /><Relationship Type="http://schemas.openxmlformats.org/officeDocument/2006/relationships/image" Target="/ppt/media/image57.png" Id="Ra7b335017f084d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7be20ab4a4b69" /><Relationship Type="http://schemas.openxmlformats.org/officeDocument/2006/relationships/image" Target="/ppt/media/image58.png" Id="Raee01cc50e62483f" /><Relationship Type="http://schemas.openxmlformats.org/officeDocument/2006/relationships/image" Target="/ppt/media/image59.png" Id="R16e2744bf3e64a5f" /><Relationship Type="http://schemas.openxmlformats.org/officeDocument/2006/relationships/image" Target="/ppt/media/image60.png" Id="Rb467348832ab49a5" /><Relationship Type="http://schemas.openxmlformats.org/officeDocument/2006/relationships/image" Target="/ppt/media/image61.png" Id="R8febec346f3d473e" /><Relationship Type="http://schemas.openxmlformats.org/officeDocument/2006/relationships/image" Target="/ppt/media/image62.png" Id="R2a95eac401234e07" /><Relationship Type="http://schemas.openxmlformats.org/officeDocument/2006/relationships/chart" Target="/ppt/slides/charts/chart1.xml" Id="R77415d86b92f49cd" /><Relationship Type="http://schemas.openxmlformats.org/officeDocument/2006/relationships/image" Target="/ppt/media/image63.png" Id="R283fe7bedbac44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861d162df4003" /><Relationship Type="http://schemas.openxmlformats.org/officeDocument/2006/relationships/image" Target="/ppt/media/image64.png" Id="Rf58b76bcfb8a4ad4" /><Relationship Type="http://schemas.openxmlformats.org/officeDocument/2006/relationships/image" Target="/ppt/media/image65.png" Id="R4cb39ee4df5f487d" /><Relationship Type="http://schemas.openxmlformats.org/officeDocument/2006/relationships/image" Target="/ppt/media/image66.png" Id="R75653dc302664d02" /><Relationship Type="http://schemas.openxmlformats.org/officeDocument/2006/relationships/image" Target="/ppt/media/image67.png" Id="Rec0292c561f044e7" /><Relationship Type="http://schemas.openxmlformats.org/officeDocument/2006/relationships/image" Target="/ppt/media/image68.png" Id="R80b9e7aa6afe47ba" /><Relationship Type="http://schemas.openxmlformats.org/officeDocument/2006/relationships/image" Target="/ppt/media/image69.png" Id="Rdbd811c897114d9c" /><Relationship Type="http://schemas.openxmlformats.org/officeDocument/2006/relationships/image" Target="/ppt/media/image70.png" Id="Rc00d72ee95e4445f" /><Relationship Type="http://schemas.openxmlformats.org/officeDocument/2006/relationships/image" Target="/ppt/media/image71.png" Id="R46cef343cff64b47" /><Relationship Type="http://schemas.openxmlformats.org/officeDocument/2006/relationships/image" Target="/ppt/media/image72.png" Id="R3050283395c9465d" /><Relationship Type="http://schemas.openxmlformats.org/officeDocument/2006/relationships/image" Target="/ppt/media/image73.png" Id="R2838a75b3ea741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79f12d5ea49a0" /><Relationship Type="http://schemas.openxmlformats.org/officeDocument/2006/relationships/image" Target="/ppt/media/image74.png" Id="R991b6af0268e4e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72d025c854582" /><Relationship Type="http://schemas.openxmlformats.org/officeDocument/2006/relationships/image" Target="/ppt/media/image75.png" Id="Rfbab02fd0064415c" /><Relationship Type="http://schemas.openxmlformats.org/officeDocument/2006/relationships/image" Target="/ppt/media/image76.png" Id="Rbdce4e6e9e2940c9" /><Relationship Type="http://schemas.openxmlformats.org/officeDocument/2006/relationships/image" Target="/ppt/media/image77.png" Id="R2128975cfc734f00" /><Relationship Type="http://schemas.openxmlformats.org/officeDocument/2006/relationships/image" Target="/ppt/media/image78.png" Id="R48d08d10e68c44f3" /><Relationship Type="http://schemas.openxmlformats.org/officeDocument/2006/relationships/image" Target="/ppt/media/image79.png" Id="R69d259db83d245eb" /><Relationship Type="http://schemas.openxmlformats.org/officeDocument/2006/relationships/image" Target="/ppt/media/image80.png" Id="R381281afde144d5e" /><Relationship Type="http://schemas.openxmlformats.org/officeDocument/2006/relationships/image" Target="/ppt/media/image81.png" Id="R846d9db97d284936" /><Relationship Type="http://schemas.openxmlformats.org/officeDocument/2006/relationships/image" Target="/ppt/media/image82.png" Id="Ra5db39b9d7744001" /><Relationship Type="http://schemas.openxmlformats.org/officeDocument/2006/relationships/image" Target="/ppt/media/image83.png" Id="Rb4dd798dcd7d44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46d170c324828" /><Relationship Type="http://schemas.openxmlformats.org/officeDocument/2006/relationships/image" Target="/ppt/media/image84.png" Id="R04454e43359b41a3" /><Relationship Type="http://schemas.openxmlformats.org/officeDocument/2006/relationships/image" Target="/ppt/media/image85.png" Id="Rd891d663764a4762" /><Relationship Type="http://schemas.openxmlformats.org/officeDocument/2006/relationships/image" Target="/ppt/media/image86.png" Id="R3caf15b0e02248be" /><Relationship Type="http://schemas.openxmlformats.org/officeDocument/2006/relationships/image" Target="/ppt/media/image87.png" Id="R8d1264da608f4e62" /><Relationship Type="http://schemas.openxmlformats.org/officeDocument/2006/relationships/image" Target="/ppt/media/image88.png" Id="R7a5153f34efc4137" /><Relationship Type="http://schemas.openxmlformats.org/officeDocument/2006/relationships/image" Target="/ppt/media/image89.png" Id="Rdb43642a9fe24a82" /><Relationship Type="http://schemas.openxmlformats.org/officeDocument/2006/relationships/image" Target="/ppt/media/image90.png" Id="R917e9670b57b419f" /><Relationship Type="http://schemas.openxmlformats.org/officeDocument/2006/relationships/image" Target="/ppt/media/image91.png" Id="R15d87e57a7124597" /><Relationship Type="http://schemas.openxmlformats.org/officeDocument/2006/relationships/image" Target="/ppt/media/image92.png" Id="Rd9b17ad4eb124e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fbc56c0f74b6a" /><Relationship Type="http://schemas.openxmlformats.org/officeDocument/2006/relationships/image" Target="/ppt/media/image93.png" Id="R4621f65092244b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8bb410a0648bf" /><Relationship Type="http://schemas.openxmlformats.org/officeDocument/2006/relationships/image" Target="/ppt/media/image94.png" Id="R80ec29dc3cfe4a07" /><Relationship Type="http://schemas.openxmlformats.org/officeDocument/2006/relationships/image" Target="/ppt/media/image95.png" Id="Rf7140adeb1c0436c" /><Relationship Type="http://schemas.openxmlformats.org/officeDocument/2006/relationships/image" Target="/ppt/media/image96.png" Id="Rcd577f803118405c" /><Relationship Type="http://schemas.openxmlformats.org/officeDocument/2006/relationships/image" Target="/ppt/media/image97.png" Id="Re1462a6cbed44d85" /><Relationship Type="http://schemas.openxmlformats.org/officeDocument/2006/relationships/image" Target="/ppt/media/image98.png" Id="R11c7b1217ce24a7f" /><Relationship Type="http://schemas.openxmlformats.org/officeDocument/2006/relationships/image" Target="/ppt/media/image99.png" Id="R1ef88b317b3a44b3" /><Relationship Type="http://schemas.openxmlformats.org/officeDocument/2006/relationships/image" Target="/ppt/media/image100.png" Id="R79f7ad3b23494ef4" /><Relationship Type="http://schemas.openxmlformats.org/officeDocument/2006/relationships/image" Target="/ppt/media/image101.png" Id="Re79cfe78dfe44756" /><Relationship Type="http://schemas.openxmlformats.org/officeDocument/2006/relationships/image" Target="/ppt/media/image102.png" Id="Rcb84cfac7a2d4dfe" /><Relationship Type="http://schemas.openxmlformats.org/officeDocument/2006/relationships/image" Target="/ppt/media/image103.png" Id="R1aee9a370b03444e" /><Relationship Type="http://schemas.openxmlformats.org/officeDocument/2006/relationships/image" Target="/ppt/media/image104.png" Id="Rd40e0d75e8e64981" /><Relationship Type="http://schemas.openxmlformats.org/officeDocument/2006/relationships/image" Target="/ppt/media/image105.png" Id="Ref9de867be194068" /><Relationship Type="http://schemas.openxmlformats.org/officeDocument/2006/relationships/image" Target="/ppt/media/image106.png" Id="Rf9260c8978914c78" /><Relationship Type="http://schemas.openxmlformats.org/officeDocument/2006/relationships/image" Target="/ppt/media/image107.png" Id="Rf4e7758c655a4fae" /><Relationship Type="http://schemas.openxmlformats.org/officeDocument/2006/relationships/image" Target="/ppt/media/image108.png" Id="R4e0fee9b7953470c" /><Relationship Type="http://schemas.openxmlformats.org/officeDocument/2006/relationships/image" Target="/ppt/media/image109.png" Id="R0f0719cc14f04d4f" /><Relationship Type="http://schemas.openxmlformats.org/officeDocument/2006/relationships/image" Target="/ppt/media/image110.png" Id="Rd2e889bef155472a" /><Relationship Type="http://schemas.openxmlformats.org/officeDocument/2006/relationships/image" Target="/ppt/media/image111.png" Id="R1911ce2f18e545ce" /><Relationship Type="http://schemas.openxmlformats.org/officeDocument/2006/relationships/image" Target="/ppt/media/image112.png" Id="R938a11bea6f341f9" /><Relationship Type="http://schemas.openxmlformats.org/officeDocument/2006/relationships/image" Target="/ppt/media/image113.png" Id="Rb9c4a79d00494203" /><Relationship Type="http://schemas.openxmlformats.org/officeDocument/2006/relationships/image" Target="/ppt/media/image114.png" Id="R28ee235e45c748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fd7a2f27146ff" /><Relationship Type="http://schemas.openxmlformats.org/officeDocument/2006/relationships/image" Target="/ppt/media/image115.png" Id="Recf66cba38474b99" /><Relationship Type="http://schemas.openxmlformats.org/officeDocument/2006/relationships/image" Target="/ppt/media/image116.png" Id="R0a8ba3a15a4a4f1b" /><Relationship Type="http://schemas.openxmlformats.org/officeDocument/2006/relationships/image" Target="/ppt/media/image117.png" Id="R4731ac175a65466c" /><Relationship Type="http://schemas.openxmlformats.org/officeDocument/2006/relationships/image" Target="/ppt/media/image118.png" Id="R308334171a524f46" /><Relationship Type="http://schemas.openxmlformats.org/officeDocument/2006/relationships/image" Target="/ppt/media/image119.png" Id="R5d4b24deb0ca453b" /><Relationship Type="http://schemas.openxmlformats.org/officeDocument/2006/relationships/image" Target="/ppt/media/image120.png" Id="R24f36a0d451e4334" /><Relationship Type="http://schemas.openxmlformats.org/officeDocument/2006/relationships/image" Target="/ppt/media/image121.png" Id="Rc766f4889ffd477f" /><Relationship Type="http://schemas.openxmlformats.org/officeDocument/2006/relationships/image" Target="/ppt/media/image122.png" Id="R83cb061185ae4347" /><Relationship Type="http://schemas.openxmlformats.org/officeDocument/2006/relationships/image" Target="/ppt/media/image123.png" Id="Rd938b911a91449d5" /><Relationship Type="http://schemas.openxmlformats.org/officeDocument/2006/relationships/image" Target="/ppt/media/image124.png" Id="Rd6d7c1db11e64405" /><Relationship Type="http://schemas.openxmlformats.org/officeDocument/2006/relationships/image" Target="/ppt/media/image125.png" Id="R9867d8a66c09464a" /><Relationship Type="http://schemas.openxmlformats.org/officeDocument/2006/relationships/image" Target="/ppt/media/image126.png" Id="Rcab32072651c4c63" /><Relationship Type="http://schemas.openxmlformats.org/officeDocument/2006/relationships/image" Target="/ppt/media/image127.png" Id="R79b4f8a867784658" /><Relationship Type="http://schemas.openxmlformats.org/officeDocument/2006/relationships/image" Target="/ppt/media/image128.png" Id="R0faf5001067f4e44" /><Relationship Type="http://schemas.openxmlformats.org/officeDocument/2006/relationships/image" Target="/ppt/media/image129.png" Id="Rc1a6b8fca15c48ca" /><Relationship Type="http://schemas.openxmlformats.org/officeDocument/2006/relationships/image" Target="/ppt/media/image130.png" Id="R2d3777bca81c49b0" /><Relationship Type="http://schemas.openxmlformats.org/officeDocument/2006/relationships/image" Target="/ppt/media/image131.png" Id="R2df6e8ba6ea44ea7" /><Relationship Type="http://schemas.openxmlformats.org/officeDocument/2006/relationships/image" Target="/ppt/media/image132.png" Id="R61abda6ddd374c90" /><Relationship Type="http://schemas.openxmlformats.org/officeDocument/2006/relationships/image" Target="/ppt/media/image133.png" Id="Rbb162a7fc604422b" /><Relationship Type="http://schemas.openxmlformats.org/officeDocument/2006/relationships/image" Target="/ppt/media/image134.png" Id="Rfed3f75662de4d4a" /><Relationship Type="http://schemas.openxmlformats.org/officeDocument/2006/relationships/image" Target="/ppt/media/image135.png" Id="Rb6e135a6284f4e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a762aa0934a0c" /><Relationship Type="http://schemas.openxmlformats.org/officeDocument/2006/relationships/image" Target="/ppt/media/image136.png" Id="Rf6cf4f5ae7d648dd" /><Relationship Type="http://schemas.openxmlformats.org/officeDocument/2006/relationships/image" Target="/ppt/media/image137.png" Id="R24f211bcbbf44ee3" /><Relationship Type="http://schemas.openxmlformats.org/officeDocument/2006/relationships/image" Target="/ppt/media/image138.png" Id="R4803f6f9921c427c" /><Relationship Type="http://schemas.openxmlformats.org/officeDocument/2006/relationships/image" Target="/ppt/media/image139.png" Id="R7b692d7a17f140c0" /><Relationship Type="http://schemas.openxmlformats.org/officeDocument/2006/relationships/image" Target="/ppt/media/image140.png" Id="Rc69ecee1f6d04ae2" /><Relationship Type="http://schemas.openxmlformats.org/officeDocument/2006/relationships/image" Target="/ppt/media/image141.png" Id="R1201c891af6241ae" /><Relationship Type="http://schemas.openxmlformats.org/officeDocument/2006/relationships/image" Target="/ppt/media/image142.png" Id="R581250f324f64a96" /><Relationship Type="http://schemas.openxmlformats.org/officeDocument/2006/relationships/image" Target="/ppt/media/image143.png" Id="R18994ca6084f4443" /><Relationship Type="http://schemas.openxmlformats.org/officeDocument/2006/relationships/image" Target="/ppt/media/image144.png" Id="Re089e6797a7840dc" /><Relationship Type="http://schemas.openxmlformats.org/officeDocument/2006/relationships/image" Target="/ppt/media/image145.png" Id="Rbf809107d4e74ed6" /><Relationship Type="http://schemas.openxmlformats.org/officeDocument/2006/relationships/image" Target="/ppt/media/image146.png" Id="R804deaae4b5945ae" /><Relationship Type="http://schemas.openxmlformats.org/officeDocument/2006/relationships/image" Target="/ppt/media/image147.png" Id="R8be46fa438f4416f" /><Relationship Type="http://schemas.openxmlformats.org/officeDocument/2006/relationships/image" Target="/ppt/media/image148.png" Id="Rc0d6b1a4b31d4363" /><Relationship Type="http://schemas.openxmlformats.org/officeDocument/2006/relationships/image" Target="/ppt/media/image149.png" Id="R29d9beb5819e40ad" /><Relationship Type="http://schemas.openxmlformats.org/officeDocument/2006/relationships/image" Target="/ppt/media/image150.png" Id="Rac3b4a8e8990410d" /><Relationship Type="http://schemas.openxmlformats.org/officeDocument/2006/relationships/image" Target="/ppt/media/image151.png" Id="Reeadcca0b9da45c4" /><Relationship Type="http://schemas.openxmlformats.org/officeDocument/2006/relationships/image" Target="/ppt/media/image152.png" Id="Rd91242352deb4329" /><Relationship Type="http://schemas.openxmlformats.org/officeDocument/2006/relationships/image" Target="/ppt/media/image153.png" Id="R551002ec7b2a44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96c9851264657" /><Relationship Type="http://schemas.openxmlformats.org/officeDocument/2006/relationships/image" Target="/ppt/media/image154.png" Id="Rb30add52279a4a35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Id1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/>
          <a:lstStyle/>
          <a:p>
            <a:pPr>
              <a:defRPr/>
            </a:pPr>
            <a:r>
              <a:rPr lang="zh-CN" sz="1400">
                <a:latin typeface="Noto Sans"/>
                <a:ea typeface="Noto Sans"/>
                <a:solidFill>
                  <a:srgbClr val="333333"/>
                </a:solidFill>
              </a:rPr>
              <a:t>各行为权重对比</a:t>
            </a:r>
          </a:p>
        </c:rich>
      </c:tx>
      <c:layout/>
      <c:overlay val="0"/>
    </c:title>
    <c:plotArea>
      <c:layout/>
      <c:barChart>
        <c:barDir val="col"/>
        <c:grouping val="standard"/>
        <c:gapWidth val="400"/>
        <c:overlap val="-23"/>
        <c:ser>
          <c:idx val="0"/>
          <c:order val="0"/>
          <c:tx>
            <c:v>系列</c:v>
          </c:tx>
          <c:spPr>
            <a:solidFill>
              <a:srgbClr val="0F766E"/>
            </a:solidFill>
          </c:spPr>
          <c:dPt>
            <c:idx val="0"/>
            <c:bubble3D val="0"/>
            <c:spPr>
              <a:solidFill>
                <a:srgbClr val="0F766E"/>
              </a:solidFill>
            </c:spPr>
          </c:dPt>
          <c:dPt>
            <c:idx val="1"/>
            <c:bubble3D val="0"/>
            <c:spPr>
              <a:solidFill>
                <a:srgbClr val="5EEAD4"/>
              </a:solidFill>
            </c:spPr>
          </c:dPt>
          <c:dPt>
            <c:idx val="2"/>
            <c:bubble3D val="0"/>
            <c:spPr>
              <a:solidFill>
                <a:srgbClr val="EC4899"/>
              </a:solidFill>
            </c:spPr>
          </c:dPt>
          <c:dPt>
            <c:idx val="3"/>
            <c:bubble3D val="0"/>
            <c:spPr>
              <a:solidFill>
                <a:srgbClr val="3B82F6"/>
              </a:solidFill>
            </c:spPr>
          </c:dPt>
          <c:dPt>
            <c:idx val="4"/>
            <c:bubble3D val="0"/>
            <c:spPr>
              <a:solidFill>
                <a:srgbClr val="8B5CF6"/>
              </a:solidFill>
            </c:spPr>
          </c:dPt>
          <c:dPt>
            <c:idx val="5"/>
            <c:bubble3D val="0"/>
            <c:spPr>
              <a:solidFill>
                <a:srgbClr val="6B7280"/>
              </a:solidFill>
            </c:spPr>
          </c:dPt>
          <c:dLbls>
            <c:txPr>
              <a:bodyPr/>
              <a:lstStyle/>
              <a:p>
                <a:pPr>
                  <a:defRPr>
                    <a:solidFill>
                      <a:srgbClr val="333333"/>
                    </a:solidFill>
                  </a:defRPr>
                </a:pPr>
                <a:endParaRPr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strCache>
                <c:ptCount val="6"/>
                <c:pt idx="0">
                  <c:v>收藏</c:v>
                </c:pt>
                <c:pt idx="1">
                  <c:v>评分≥4</c:v>
                </c:pt>
                <c:pt idx="2">
                  <c:v>下载</c:v>
                </c:pt>
                <c:pt idx="3">
                  <c:v>阅读</c:v>
                </c:pt>
                <c:pt idx="4">
                  <c:v>场景访问</c:v>
                </c:pt>
                <c:pt idx="5">
                  <c:v>浏览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5.00</c:v>
                </c:pt>
                <c:pt idx="1">
                  <c:v>4.00</c:v>
                </c:pt>
                <c:pt idx="2">
                  <c:v>3.00</c:v>
                </c:pt>
                <c:pt idx="3">
                  <c:v>2.00</c:v>
                </c:pt>
                <c:pt idx="4">
                  <c:v>1.50</c:v>
                </c:pt>
                <c:pt idx="5">
                  <c:v>1.00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>
                <a:alpha val="15000"/>
              </a:srgbClr>
            </a:solidFill>
          </a:ln>
        </c:spPr>
        <c:crossAx val="2"/>
        <c:crosses val="autoZero"/>
        <c:auto val="1"/>
        <c:lblAlgn val="ctr"/>
        <c:lblOffset val="100"/>
        <c:noMultiLvlLbl val="0"/>
        <c:txPr>
          <a:bodyPr/>
          <a:lstStyle/>
          <a:p>
            <a:pPr>
              <a:defRPr sz="1100">
                <a:solidFill>
                  <a:srgbClr val="333333"/>
                </a:solidFill>
              </a:defRPr>
            </a:pPr>
            <a:endParaRPr/>
          </a:p>
        </c:txPr>
      </c:catAx>
      <c:valAx>
        <c:axId val="2"/>
        <c:scaling>
          <c:orientation val="minMax"/>
        </c:scaling>
        <c:delete val="0"/>
        <c:axPos val="l"/>
        <c:majorGridlines>
          <c:spPr>
            <a:ln w="9525">
              <a:solidFill>
                <a:srgbClr val="000000">
                  <a:alpha val="15000"/>
                </a:srgb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000000">
                <a:alpha val="15000"/>
              </a:srgbClr>
            </a:solidFill>
          </a:ln>
        </c:spPr>
        <c:crossAx val="1"/>
        <c:crosses val="autoZero"/>
        <c:crossBetween val="between"/>
        <c:txPr>
          <a:bodyPr/>
          <a:lstStyle/>
          <a:p>
            <a:pPr>
              <a:defRPr sz="1100">
                <a:solidFill>
                  <a:srgbClr val="333333"/>
                </a:solidFill>
              </a:defRPr>
            </a:pPr>
            <a:endParaRPr/>
          </a:p>
        </c:txPr>
      </c:valAx>
    </c:plotArea>
    <c:plotVisOnly val="1"/>
  </c:chart>
  <c:spPr>
    <a:solidFill>
      <a:srgbClr val="F3F4F6"/>
    </a:solidFill>
  </c:spPr>
  <c:externalData r:id="rId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65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66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22d0f160897443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6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6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7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6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6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6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6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215" y="2432050"/>
            <a:ext cx="33655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12700">
            <a:solidFill>
              <a:srgbClr val="0F766E"/>
            </a:solidFill>
            <a:prstDash val="solid"/>
            <a:round/>
          </a:ln>
        </p:spPr>
        <p:txBody>
          <a:bodyPr xmlns:a="http://schemas.openxmlformats.org/drawingml/2006/main" wrap="square" lIns="147637" tIns="76200" rIns="147637" bIns="762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 b="1">
                <a:solidFill>
                  <a:srgbClr val="0F766E"/>
                </a:solidFill>
                <a:latin typeface="Noto Sans SC"/>
                <a:ea typeface="Noto Sans SC"/>
              </a:rPr>
              <a:t>BOYA SMART CAMPUS</a:t>
            </a:r>
            <a:endParaRPr lang="zh-CN"/>
          </a:p>
        </p:txBody>
      </p:sp>
      <p:sp>
        <p:nvSpPr>
          <p:cNvPr id="39347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470196" y="3308350"/>
            <a:ext cx="732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800" b="1">
                <a:solidFill>
                  <a:srgbClr val="111827"/>
                </a:solidFill>
                <a:latin typeface="Noto Sans SC"/>
                <a:ea typeface="Noto Sans SC"/>
              </a:rPr>
              <a:t>博雅书院智慧校园平台答辩</a:t>
            </a:r>
            <a:endParaRPr lang="zh-CN"/>
          </a:p>
        </p:txBody>
      </p:sp>
      <p:sp>
        <p:nvSpPr>
          <p:cNvPr id="7896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75150"/>
            <a:ext cx="10160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7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07571" y="4730750"/>
            <a:ext cx="624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2400">
                <a:solidFill>
                  <a:srgbClr val="4B5563"/>
                </a:solidFill>
                <a:latin typeface="Noto Sans SC"/>
                <a:ea typeface="Noto Sans SC"/>
              </a:rPr>
              <a:t>未来学府·智联万象——综合性智慧校园平台</a:t>
            </a:r>
            <a:endParaRPr lang="zh-CN"/>
          </a:p>
        </p:txBody>
      </p:sp>
      <p:sp>
        <p:nvSpPr>
          <p:cNvPr id="78966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140" y="7861300"/>
            <a:ext cx="762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7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96340" y="77025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2026 年 6 月 1 日</a:t>
            </a:r>
            <a:endParaRPr lang="zh-CN"/>
          </a:p>
        </p:txBody>
      </p:sp>
      <p:sp>
        <p:nvSpPr>
          <p:cNvPr id="7896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668" y="7861300"/>
            <a:ext cx="762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6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67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c0acf22de25419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6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7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67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7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7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8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62000" y="533400"/>
            <a:ext cx="1955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4400" b="1">
                <a:solidFill>
                  <a:srgbClr val="0F766E"/>
                </a:solidFill>
                <a:latin typeface="Noto Sans SC"/>
                <a:ea typeface="Noto Sans SC"/>
              </a:rPr>
              <a:t>目录</a:t>
            </a:r>
            <a:endParaRPr lang="zh-CN"/>
          </a:p>
        </p:txBody>
      </p:sp>
      <p:sp>
        <p:nvSpPr>
          <p:cNvPr id="7896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927100"/>
            <a:ext cx="7620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8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6908800" cy="303530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7EB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8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6650"/>
            <a:ext cx="1016000" cy="101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8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19225" y="2571750"/>
            <a:ext cx="123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F766E"/>
                </a:solidFill>
                <a:latin typeface="Noto Sans SC"/>
                <a:ea typeface="Noto Sans SC"/>
              </a:rPr>
              <a:t>01</a:t>
            </a:r>
            <a:endParaRPr lang="zh-CN"/>
          </a:p>
        </p:txBody>
      </p:sp>
      <p:sp>
        <p:nvSpPr>
          <p:cNvPr id="39348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501900" y="2692400"/>
            <a:ext cx="41021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800" b="1">
                <a:solidFill>
                  <a:srgbClr val="111827"/>
                </a:solidFill>
                <a:latin typeface="Noto Sans SC"/>
                <a:ea typeface="Noto Sans SC"/>
              </a:rPr>
              <a:t>技术架构与数据库设计</a:t>
            </a:r>
            <a:endParaRPr lang="zh-CN"/>
          </a:p>
        </p:txBody>
      </p:sp>
      <p:sp>
        <p:nvSpPr>
          <p:cNvPr id="7896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97000"/>
            <a:ext cx="6908800" cy="303530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7EB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8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6650"/>
            <a:ext cx="1016000" cy="101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8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34425" y="2571750"/>
            <a:ext cx="123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F766E"/>
                </a:solidFill>
                <a:latin typeface="Noto Sans SC"/>
                <a:ea typeface="Noto Sans SC"/>
              </a:rPr>
              <a:t>02</a:t>
            </a:r>
            <a:endParaRPr lang="zh-CN"/>
          </a:p>
        </p:txBody>
      </p:sp>
      <p:sp>
        <p:nvSpPr>
          <p:cNvPr id="39348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817100" y="2692400"/>
            <a:ext cx="37465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800" b="1">
                <a:solidFill>
                  <a:srgbClr val="111827"/>
                </a:solidFill>
                <a:latin typeface="Noto Sans SC"/>
                <a:ea typeface="Noto Sans SC"/>
              </a:rPr>
              <a:t>核心功能与智能引擎</a:t>
            </a:r>
            <a:endParaRPr lang="zh-CN"/>
          </a:p>
        </p:txBody>
      </p:sp>
      <p:sp>
        <p:nvSpPr>
          <p:cNvPr id="7896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6908800" cy="303530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7EB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8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48350"/>
            <a:ext cx="1016000" cy="101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8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19225" y="6013450"/>
            <a:ext cx="123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F766E"/>
                </a:solidFill>
                <a:latin typeface="Noto Sans SC"/>
                <a:ea typeface="Noto Sans SC"/>
              </a:rPr>
              <a:t>03</a:t>
            </a:r>
            <a:endParaRPr lang="zh-CN"/>
          </a:p>
        </p:txBody>
      </p:sp>
      <p:sp>
        <p:nvSpPr>
          <p:cNvPr id="39348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501900" y="6134100"/>
            <a:ext cx="37465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800" b="1">
                <a:solidFill>
                  <a:srgbClr val="111827"/>
                </a:solidFill>
                <a:latin typeface="Noto Sans SC"/>
                <a:ea typeface="Noto Sans SC"/>
              </a:rPr>
              <a:t>前端创新与安全体系</a:t>
            </a:r>
            <a:endParaRPr lang="zh-CN"/>
          </a:p>
        </p:txBody>
      </p:sp>
      <p:sp>
        <p:nvSpPr>
          <p:cNvPr id="7896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38700"/>
            <a:ext cx="6908800" cy="303530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7EB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8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848350"/>
            <a:ext cx="1016000" cy="101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8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34425" y="6013450"/>
            <a:ext cx="123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0F766E"/>
                </a:solidFill>
                <a:latin typeface="Noto Sans SC"/>
                <a:ea typeface="Noto Sans SC"/>
              </a:rPr>
              <a:t>04</a:t>
            </a:r>
            <a:endParaRPr lang="zh-CN"/>
          </a:p>
        </p:txBody>
      </p:sp>
      <p:sp>
        <p:nvSpPr>
          <p:cNvPr id="39348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817100" y="6134100"/>
            <a:ext cx="37465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800" b="1">
                <a:solidFill>
                  <a:srgbClr val="111827"/>
                </a:solidFill>
                <a:latin typeface="Noto Sans SC"/>
                <a:ea typeface="Noto Sans SC"/>
              </a:rPr>
              <a:t>创新成果与总结展望</a:t>
            </a:r>
            <a:endParaRPr lang="zh-CN"/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6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68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d6d127053c546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69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8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6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9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9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6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697162"/>
            <a:ext cx="1524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9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3128962"/>
            <a:ext cx="245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7200" b="1">
                <a:solidFill>
                  <a:srgbClr val="0F766E"/>
                </a:solidFill>
                <a:latin typeface="Noto Sans SC"/>
                <a:ea typeface="Noto Sans SC"/>
              </a:rPr>
              <a:t>01</a:t>
            </a:r>
            <a:endParaRPr lang="zh-CN"/>
          </a:p>
        </p:txBody>
      </p:sp>
      <p:sp>
        <p:nvSpPr>
          <p:cNvPr id="39349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4449762"/>
            <a:ext cx="64262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4400" b="1">
                <a:solidFill>
                  <a:srgbClr val="111827"/>
                </a:solidFill>
                <a:latin typeface="Noto Sans SC"/>
                <a:ea typeface="Noto Sans SC"/>
              </a:rPr>
              <a:t>技术架构与数据库设计</a:t>
            </a:r>
            <a:endParaRPr lang="zh-CN"/>
          </a:p>
        </p:txBody>
      </p:sp>
      <p:sp>
        <p:nvSpPr>
          <p:cNvPr id="39349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5453062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深入解析纯原生技术栈与数据库模型</a:t>
            </a:r>
            <a:endParaRPr lang="zh-CN"/>
          </a:p>
        </p:txBody>
      </p:sp>
      <p:sp>
        <p:nvSpPr>
          <p:cNvPr id="7896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434137"/>
            <a:ext cx="254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3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6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69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4f1a4a996dd4cb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70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0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9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70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0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0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152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0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82750"/>
            <a:ext cx="1016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49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62000" y="1606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400" b="1">
                <a:solidFill>
                  <a:srgbClr val="111827"/>
                </a:solidFill>
                <a:latin typeface="Noto Sans SC"/>
                <a:ea typeface="Noto Sans SC"/>
              </a:rPr>
              <a:t>核心架构与技术能力分布</a:t>
            </a:r>
            <a:endParaRPr lang="zh-CN"/>
          </a:p>
        </p:txBody>
      </p:sp>
      <p:sp>
        <p:nvSpPr>
          <p:cNvPr id="39349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18694" y="1682750"/>
            <a:ext cx="313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纯原生架构 / HikariCP / BCrypt</a:t>
            </a:r>
            <a:endParaRPr lang="zh-CN"/>
          </a:p>
        </p:txBody>
      </p:sp>
      <p:sp>
        <p:nvSpPr>
          <p:cNvPr id="78970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590800"/>
            <a:ext cx="5715000" cy="57150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1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0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d34c5c63dfa48c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28700" y="2908300"/>
            <a:ext cx="5080000" cy="5080000"/>
          </a:xfrm>
          <a:prstGeom xmlns:a="http://schemas.openxmlformats.org/drawingml/2006/main" prst="rect">
            <a:avLst/>
          </a:prstGeom>
        </p:spPr>
      </p:pic>
      <p:sp>
        <p:nvSpPr>
          <p:cNvPr id="39349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933700" y="3543300"/>
            <a:ext cx="127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后端性能</a:t>
            </a:r>
            <a:endParaRPr lang="zh-CN"/>
          </a:p>
        </p:txBody>
      </p:sp>
      <p:sp>
        <p:nvSpPr>
          <p:cNvPr id="39349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156200" y="48768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前端交互</a:t>
            </a:r>
            <a:endParaRPr lang="zh-CN"/>
          </a:p>
        </p:txBody>
      </p:sp>
      <p:sp>
        <p:nvSpPr>
          <p:cNvPr id="39349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330700" y="6781800"/>
            <a:ext cx="157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数据库设计</a:t>
            </a:r>
            <a:endParaRPr lang="zh-CN"/>
          </a:p>
        </p:txBody>
      </p:sp>
      <p:sp>
        <p:nvSpPr>
          <p:cNvPr id="39349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36700" y="6781800"/>
            <a:ext cx="157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AI 集成</a:t>
            </a:r>
            <a:endParaRPr lang="zh-CN"/>
          </a:p>
        </p:txBody>
      </p:sp>
      <p:sp>
        <p:nvSpPr>
          <p:cNvPr id="39350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28700" y="48768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安全机制</a:t>
            </a:r>
            <a:endParaRPr lang="zh-CN"/>
          </a:p>
        </p:txBody>
      </p:sp>
      <p:sp>
        <p:nvSpPr>
          <p:cNvPr id="78971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2590800"/>
            <a:ext cx="8636000" cy="18034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1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94000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1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87391b89e46464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264400" y="2895600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9350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670800" y="2806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后端核心架构</a:t>
            </a:r>
            <a:endParaRPr lang="zh-CN"/>
          </a:p>
        </p:txBody>
      </p:sp>
      <p:sp>
        <p:nvSpPr>
          <p:cNvPr id="78971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7800" y="2813050"/>
            <a:ext cx="1193800" cy="36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4899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EC4899"/>
                </a:solidFill>
                <a:latin typeface="Noto Sans SC"/>
                <a:ea typeface="Noto Sans SC"/>
              </a:rPr>
              <a:t>纯原生架构</a:t>
            </a:r>
            <a:endParaRPr lang="zh-CN"/>
          </a:p>
        </p:txBody>
      </p:sp>
      <p:sp>
        <p:nvSpPr>
          <p:cNvPr id="39350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62800" y="3302000"/>
            <a:ext cx="81788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基于 Java 21 (LTS) 与 Tomcat 7，严格遵循 Servlet 4.0.1 与 JSP 2.2 规范，未引入重型框架以保持轻量与高性能。</a:t>
            </a:r>
            <a:endParaRPr lang="zh-CN"/>
          </a:p>
        </p:txBody>
      </p:sp>
      <p:sp>
        <p:nvSpPr>
          <p:cNvPr id="78971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4546600"/>
            <a:ext cx="8636000" cy="18034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1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49800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1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1ee071b36ce407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277100" y="4851400"/>
            <a:ext cx="177800" cy="203200"/>
          </a:xfrm>
          <a:prstGeom xmlns:a="http://schemas.openxmlformats.org/drawingml/2006/main" prst="rect">
            <a:avLst/>
          </a:prstGeom>
        </p:spPr>
      </p:pic>
      <p:sp>
        <p:nvSpPr>
          <p:cNvPr id="39350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670800" y="4762500"/>
            <a:ext cx="215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数据持久与安全</a:t>
            </a:r>
            <a:endParaRPr lang="zh-CN"/>
          </a:p>
        </p:txBody>
      </p:sp>
      <p:sp>
        <p:nvSpPr>
          <p:cNvPr id="78971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2610" y="4768850"/>
            <a:ext cx="1079500" cy="36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4899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EC4899"/>
                </a:solidFill>
                <a:latin typeface="Noto Sans SC"/>
                <a:ea typeface="Noto Sans SC"/>
              </a:rPr>
              <a:t>HikariCP</a:t>
            </a:r>
            <a:endParaRPr lang="zh-CN"/>
          </a:p>
        </p:txBody>
      </p:sp>
      <p:sp>
        <p:nvSpPr>
          <p:cNvPr id="78971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4185" y="4768850"/>
            <a:ext cx="914400" cy="36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4899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EC4899"/>
                </a:solidFill>
                <a:latin typeface="Noto Sans SC"/>
                <a:ea typeface="Noto Sans SC"/>
              </a:rPr>
              <a:t>BCrypt</a:t>
            </a:r>
            <a:endParaRPr lang="zh-CN"/>
          </a:p>
        </p:txBody>
      </p:sp>
      <p:sp>
        <p:nvSpPr>
          <p:cNvPr id="39350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62800" y="5257800"/>
            <a:ext cx="81788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选用 MySQL 8.0，配合 HikariCP 5.0.1 高性能连接池。集成 FastJSON 序列化与 jBCrypt 处理密码哈希，保障数据安全。</a:t>
            </a:r>
            <a:endParaRPr lang="zh-CN"/>
          </a:p>
        </p:txBody>
      </p:sp>
      <p:sp>
        <p:nvSpPr>
          <p:cNvPr id="78971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6502400"/>
            <a:ext cx="8636000" cy="18034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2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705600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2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7b503f461af4d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251700" y="6807200"/>
            <a:ext cx="228600" cy="203200"/>
          </a:xfrm>
          <a:prstGeom xmlns:a="http://schemas.openxmlformats.org/drawingml/2006/main" prst="rect">
            <a:avLst/>
          </a:prstGeom>
        </p:spPr>
      </p:pic>
      <p:sp>
        <p:nvSpPr>
          <p:cNvPr id="39350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670800" y="6718300"/>
            <a:ext cx="241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前端交互与AI集成</a:t>
            </a:r>
            <a:endParaRPr lang="zh-CN"/>
          </a:p>
        </p:txBody>
      </p:sp>
      <p:sp>
        <p:nvSpPr>
          <p:cNvPr id="78972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753" y="6724650"/>
            <a:ext cx="1701800" cy="36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Web Speech API</a:t>
            </a:r>
            <a:endParaRPr lang="zh-CN"/>
          </a:p>
        </p:txBody>
      </p:sp>
      <p:sp>
        <p:nvSpPr>
          <p:cNvPr id="39350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62800" y="7213600"/>
            <a:ext cx="81788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涵盖 JSP/JSTL/EL，利用 Fetch API 实现异步交互。集成 ECharts 5.5 可视化，并调用 Web Speech API 实现语音输入。</a:t>
            </a:r>
            <a:endParaRPr lang="zh-CN"/>
          </a:p>
        </p:txBody>
      </p:sp>
      <p:sp>
        <p:nvSpPr>
          <p:cNvPr id="69613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149475"/>
            <a:ext cx="15240000" cy="9525"/>
          </a:xfrm>
          <a:custGeom xmlns:a="http://schemas.openxmlformats.org/drawingml/2006/main">
            <a:avLst/>
            <a:pathLst>
              <a:path w="15240000" h="9525">
                <a:moveTo>
                  <a:pt x="0" y="0"/>
                </a:moveTo>
                <a:lnTo>
                  <a:pt x="15240000" y="0"/>
                </a:lnTo>
                <a:lnTo>
                  <a:pt x="1524000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0F766E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14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2590800"/>
            <a:ext cx="38100" cy="1803400"/>
          </a:xfrm>
          <a:custGeom xmlns:a="http://schemas.openxmlformats.org/drawingml/2006/main">
            <a:avLst/>
            <a:pathLst>
              <a:path w="38100" h="18034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1746250"/>
                </a:lnTo>
                <a:lnTo>
                  <a:pt x="1433" y="1758967"/>
                </a:lnTo>
                <a:lnTo>
                  <a:pt x="5660" y="1771046"/>
                </a:lnTo>
                <a:lnTo>
                  <a:pt x="12469" y="1781882"/>
                </a:lnTo>
                <a:lnTo>
                  <a:pt x="21518" y="1790931"/>
                </a:lnTo>
                <a:lnTo>
                  <a:pt x="32354" y="1797740"/>
                </a:lnTo>
                <a:lnTo>
                  <a:pt x="44433" y="1801967"/>
                </a:lnTo>
                <a:lnTo>
                  <a:pt x="57150" y="1803400"/>
                </a:lnTo>
                <a:lnTo>
                  <a:pt x="50792" y="1801967"/>
                </a:lnTo>
                <a:lnTo>
                  <a:pt x="44752" y="1797740"/>
                </a:lnTo>
                <a:lnTo>
                  <a:pt x="39334" y="1790931"/>
                </a:lnTo>
                <a:lnTo>
                  <a:pt x="34810" y="1781882"/>
                </a:lnTo>
                <a:lnTo>
                  <a:pt x="31405" y="1771046"/>
                </a:lnTo>
                <a:lnTo>
                  <a:pt x="29292" y="1758967"/>
                </a:lnTo>
                <a:lnTo>
                  <a:pt x="28575" y="17462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15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4546600"/>
            <a:ext cx="38100" cy="1803400"/>
          </a:xfrm>
          <a:custGeom xmlns:a="http://schemas.openxmlformats.org/drawingml/2006/main">
            <a:avLst/>
            <a:pathLst>
              <a:path w="38100" h="18034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1746250"/>
                </a:lnTo>
                <a:lnTo>
                  <a:pt x="1433" y="1758967"/>
                </a:lnTo>
                <a:lnTo>
                  <a:pt x="5660" y="1771046"/>
                </a:lnTo>
                <a:lnTo>
                  <a:pt x="12469" y="1781882"/>
                </a:lnTo>
                <a:lnTo>
                  <a:pt x="21518" y="1790931"/>
                </a:lnTo>
                <a:lnTo>
                  <a:pt x="32354" y="1797740"/>
                </a:lnTo>
                <a:lnTo>
                  <a:pt x="44433" y="1801967"/>
                </a:lnTo>
                <a:lnTo>
                  <a:pt x="57150" y="1803400"/>
                </a:lnTo>
                <a:lnTo>
                  <a:pt x="50792" y="1801967"/>
                </a:lnTo>
                <a:lnTo>
                  <a:pt x="44752" y="1797740"/>
                </a:lnTo>
                <a:lnTo>
                  <a:pt x="39334" y="1790931"/>
                </a:lnTo>
                <a:lnTo>
                  <a:pt x="34810" y="1781882"/>
                </a:lnTo>
                <a:lnTo>
                  <a:pt x="31405" y="1771046"/>
                </a:lnTo>
                <a:lnTo>
                  <a:pt x="29292" y="1758967"/>
                </a:lnTo>
                <a:lnTo>
                  <a:pt x="28575" y="17462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16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6502400"/>
            <a:ext cx="38100" cy="1803400"/>
          </a:xfrm>
          <a:custGeom xmlns:a="http://schemas.openxmlformats.org/drawingml/2006/main">
            <a:avLst/>
            <a:pathLst>
              <a:path w="38100" h="18034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1746250"/>
                </a:lnTo>
                <a:lnTo>
                  <a:pt x="1433" y="1758967"/>
                </a:lnTo>
                <a:lnTo>
                  <a:pt x="5660" y="1771046"/>
                </a:lnTo>
                <a:lnTo>
                  <a:pt x="12469" y="1781882"/>
                </a:lnTo>
                <a:lnTo>
                  <a:pt x="21518" y="1790931"/>
                </a:lnTo>
                <a:lnTo>
                  <a:pt x="32354" y="1797740"/>
                </a:lnTo>
                <a:lnTo>
                  <a:pt x="44433" y="1801967"/>
                </a:lnTo>
                <a:lnTo>
                  <a:pt x="57150" y="1803400"/>
                </a:lnTo>
                <a:lnTo>
                  <a:pt x="50792" y="1801967"/>
                </a:lnTo>
                <a:lnTo>
                  <a:pt x="44752" y="1797740"/>
                </a:lnTo>
                <a:lnTo>
                  <a:pt x="39334" y="1790931"/>
                </a:lnTo>
                <a:lnTo>
                  <a:pt x="34810" y="1781882"/>
                </a:lnTo>
                <a:lnTo>
                  <a:pt x="31405" y="1771046"/>
                </a:lnTo>
                <a:lnTo>
                  <a:pt x="29292" y="1758967"/>
                </a:lnTo>
                <a:lnTo>
                  <a:pt x="28575" y="17462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2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0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4914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技术栈总览与雷达图</a:t>
            </a:r>
            <a:endParaRPr lang="zh-CN"/>
          </a:p>
        </p:txBody>
      </p:sp>
      <p:sp>
        <p:nvSpPr>
          <p:cNvPr id="78972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2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2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72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2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42eb2340052474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72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3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0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73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3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3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e4fbca14d19489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1689100"/>
            <a:ext cx="342900" cy="304800"/>
          </a:xfrm>
          <a:prstGeom xmlns:a="http://schemas.openxmlformats.org/drawingml/2006/main" prst="rect">
            <a:avLst/>
          </a:prstGeom>
        </p:spPr>
      </p:pic>
      <p:sp>
        <p:nvSpPr>
          <p:cNvPr id="39350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03300" y="1612900"/>
            <a:ext cx="494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400" b="1">
                <a:solidFill>
                  <a:srgbClr val="0F766E"/>
                </a:solidFill>
                <a:latin typeface="Noto Sans SC"/>
                <a:ea typeface="Noto Sans SC"/>
              </a:rPr>
              <a:t>5层原生MVC架构职责与数据流向</a:t>
            </a:r>
            <a:endParaRPr lang="zh-CN"/>
          </a:p>
        </p:txBody>
      </p:sp>
      <p:sp>
        <p:nvSpPr>
          <p:cNvPr id="39351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839815" y="1689100"/>
            <a:ext cx="440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深度应用单例模式、DAO模式及观察者模式</a:t>
            </a:r>
            <a:endParaRPr lang="zh-CN"/>
          </a:p>
        </p:txBody>
      </p:sp>
      <p:pic>
        <p:nvPicPr>
          <p:cNvPr id="78973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6cc616856b941c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056562" y="3505200"/>
            <a:ext cx="152400" cy="228600"/>
          </a:xfrm>
          <a:prstGeom xmlns:a="http://schemas.openxmlformats.org/drawingml/2006/main" prst="rect">
            <a:avLst/>
          </a:prstGeom>
        </p:spPr>
      </p:pic>
      <p:pic>
        <p:nvPicPr>
          <p:cNvPr id="78973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29e703aaeaa408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056562" y="4724400"/>
            <a:ext cx="152400" cy="228600"/>
          </a:xfrm>
          <a:prstGeom xmlns:a="http://schemas.openxmlformats.org/drawingml/2006/main" prst="rect">
            <a:avLst/>
          </a:prstGeom>
        </p:spPr>
      </p:pic>
      <p:pic>
        <p:nvPicPr>
          <p:cNvPr id="78973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ba4b1e3067943f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056562" y="5943600"/>
            <a:ext cx="152400" cy="228600"/>
          </a:xfrm>
          <a:prstGeom xmlns:a="http://schemas.openxmlformats.org/drawingml/2006/main" prst="rect">
            <a:avLst/>
          </a:prstGeom>
        </p:spPr>
      </p:pic>
      <p:pic>
        <p:nvPicPr>
          <p:cNvPr id="78973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b8cd04cc6a04b9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056562" y="7162800"/>
            <a:ext cx="152400" cy="228600"/>
          </a:xfrm>
          <a:prstGeom xmlns:a="http://schemas.openxmlformats.org/drawingml/2006/main" prst="rect">
            <a:avLst/>
          </a:prstGeom>
        </p:spPr>
      </p:pic>
      <p:sp>
        <p:nvSpPr>
          <p:cNvPr id="78974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2527300"/>
            <a:ext cx="3302000" cy="2794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4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07dc5e963f149d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700000" y="2882900"/>
            <a:ext cx="228600" cy="203200"/>
          </a:xfrm>
          <a:prstGeom xmlns:a="http://schemas.openxmlformats.org/drawingml/2006/main" prst="rect">
            <a:avLst/>
          </a:prstGeom>
        </p:spPr>
      </p:pic>
      <p:sp>
        <p:nvSpPr>
          <p:cNvPr id="39351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030200" y="2832100"/>
            <a:ext cx="153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111827"/>
                </a:solidFill>
                <a:latin typeface="Noto Sans SC"/>
                <a:ea typeface="Noto Sans SC"/>
              </a:rPr>
              <a:t>核心设计模式</a:t>
            </a:r>
            <a:endParaRPr lang="zh-CN"/>
          </a:p>
        </p:txBody>
      </p:sp>
      <p:pic>
        <p:nvPicPr>
          <p:cNvPr id="78974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82968654ae1491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700000" y="33909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9351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79400" y="3340100"/>
            <a:ext cx="17145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单例模式</a:t>
            </a:r>
            <a:endParaRPr lang="zh-CN"/>
          </a:p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DBManager 统一管理</a:t>
            </a:r>
            <a:endParaRPr lang="zh-CN"/>
          </a:p>
        </p:txBody>
      </p:sp>
      <p:pic>
        <p:nvPicPr>
          <p:cNvPr id="78974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e2a32755bb7472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700000" y="4005262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9351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79400" y="3954462"/>
            <a:ext cx="1600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DAO 模式</a:t>
            </a:r>
            <a:endParaRPr lang="zh-CN"/>
          </a:p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解耦业务与数据访问</a:t>
            </a:r>
            <a:endParaRPr lang="zh-CN"/>
          </a:p>
        </p:txBody>
      </p:sp>
      <p:pic>
        <p:nvPicPr>
          <p:cNvPr id="78974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a68e8327d964f9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700000" y="4619625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9351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79400" y="4568825"/>
            <a:ext cx="18923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观察者模式</a:t>
            </a:r>
            <a:endParaRPr lang="zh-CN"/>
          </a:p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ServletContextListener</a:t>
            </a:r>
            <a:endParaRPr lang="zh-CN"/>
          </a:p>
        </p:txBody>
      </p:sp>
      <p:sp>
        <p:nvSpPr>
          <p:cNvPr id="78974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5575300"/>
            <a:ext cx="3302000" cy="2794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4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f2b5589cdca431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700000" y="5930900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9351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004800" y="5880100"/>
            <a:ext cx="173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111827"/>
                </a:solidFill>
                <a:latin typeface="Noto Sans SC"/>
                <a:ea typeface="Noto Sans SC"/>
              </a:rPr>
              <a:t>安全与性能优化</a:t>
            </a:r>
            <a:endParaRPr lang="zh-CN"/>
          </a:p>
        </p:txBody>
      </p:sp>
      <p:pic>
        <p:nvPicPr>
          <p:cNvPr id="78974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7e8d2ab4b9f4b0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700000" y="6438900"/>
            <a:ext cx="165100" cy="177800"/>
          </a:xfrm>
          <a:prstGeom xmlns:a="http://schemas.openxmlformats.org/drawingml/2006/main" prst="rect">
            <a:avLst/>
          </a:prstGeom>
        </p:spPr>
      </p:pic>
      <p:sp>
        <p:nvSpPr>
          <p:cNvPr id="39351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57175" y="6388100"/>
            <a:ext cx="23749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防 SQL 注入</a:t>
            </a:r>
            <a:endParaRPr lang="zh-CN"/>
          </a:p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全面使用 PreparedStatement</a:t>
            </a:r>
            <a:endParaRPr lang="zh-CN"/>
          </a:p>
        </p:txBody>
      </p:sp>
      <p:pic>
        <p:nvPicPr>
          <p:cNvPr id="78974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3963637ca0442e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700000" y="7053262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9351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79400" y="7002462"/>
            <a:ext cx="23749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连接池限流</a:t>
            </a:r>
            <a:endParaRPr lang="zh-CN"/>
          </a:p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最大连接数 10，防止资源耗尽</a:t>
            </a:r>
            <a:endParaRPr lang="zh-CN"/>
          </a:p>
        </p:txBody>
      </p:sp>
      <p:pic>
        <p:nvPicPr>
          <p:cNvPr id="78974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66bf9838f5b46e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700000" y="7667625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9351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79400" y="7616825"/>
            <a:ext cx="17653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事务安全</a:t>
            </a:r>
            <a:endParaRPr lang="zh-CN"/>
          </a:p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基于 InnoDB 引擎保障</a:t>
            </a:r>
            <a:endParaRPr lang="zh-CN"/>
          </a:p>
        </p:txBody>
      </p:sp>
      <p:sp>
        <p:nvSpPr>
          <p:cNvPr id="69617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2527300"/>
            <a:ext cx="3302000" cy="38100"/>
          </a:xfrm>
          <a:custGeom xmlns:a="http://schemas.openxmlformats.org/drawingml/2006/main">
            <a:avLst/>
            <a:pathLst>
              <a:path w="3302000" h="38100">
                <a:moveTo>
                  <a:pt x="0" y="57150"/>
                </a:moveTo>
                <a:lnTo>
                  <a:pt x="1433" y="44433"/>
                </a:lnTo>
                <a:lnTo>
                  <a:pt x="5660" y="32354"/>
                </a:lnTo>
                <a:lnTo>
                  <a:pt x="12469" y="21518"/>
                </a:lnTo>
                <a:lnTo>
                  <a:pt x="21518" y="12469"/>
                </a:lnTo>
                <a:lnTo>
                  <a:pt x="32354" y="5660"/>
                </a:lnTo>
                <a:lnTo>
                  <a:pt x="44433" y="1433"/>
                </a:lnTo>
                <a:lnTo>
                  <a:pt x="57150" y="0"/>
                </a:lnTo>
                <a:lnTo>
                  <a:pt x="3244850" y="0"/>
                </a:lnTo>
                <a:lnTo>
                  <a:pt x="3257567" y="1433"/>
                </a:lnTo>
                <a:lnTo>
                  <a:pt x="3269646" y="5660"/>
                </a:lnTo>
                <a:lnTo>
                  <a:pt x="3280482" y="12469"/>
                </a:lnTo>
                <a:lnTo>
                  <a:pt x="3289531" y="21518"/>
                </a:lnTo>
                <a:lnTo>
                  <a:pt x="3296340" y="32354"/>
                </a:lnTo>
                <a:lnTo>
                  <a:pt x="3300567" y="44433"/>
                </a:lnTo>
                <a:lnTo>
                  <a:pt x="3302000" y="57150"/>
                </a:lnTo>
                <a:lnTo>
                  <a:pt x="3300567" y="50792"/>
                </a:lnTo>
                <a:lnTo>
                  <a:pt x="3296340" y="44752"/>
                </a:lnTo>
                <a:lnTo>
                  <a:pt x="3289531" y="39334"/>
                </a:lnTo>
                <a:lnTo>
                  <a:pt x="3280482" y="34810"/>
                </a:lnTo>
                <a:lnTo>
                  <a:pt x="3269646" y="31405"/>
                </a:lnTo>
                <a:lnTo>
                  <a:pt x="3257567" y="29292"/>
                </a:lnTo>
                <a:lnTo>
                  <a:pt x="3244850" y="28575"/>
                </a:lnTo>
                <a:lnTo>
                  <a:pt x="57150" y="28575"/>
                </a:lnTo>
                <a:lnTo>
                  <a:pt x="44433" y="29292"/>
                </a:lnTo>
                <a:lnTo>
                  <a:pt x="32354" y="31405"/>
                </a:lnTo>
                <a:lnTo>
                  <a:pt x="21518" y="34810"/>
                </a:lnTo>
                <a:lnTo>
                  <a:pt x="12469" y="39334"/>
                </a:lnTo>
                <a:lnTo>
                  <a:pt x="5660" y="44752"/>
                </a:lnTo>
                <a:lnTo>
                  <a:pt x="1433" y="50792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EC489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18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0" y="5575300"/>
            <a:ext cx="3302000" cy="38100"/>
          </a:xfrm>
          <a:custGeom xmlns:a="http://schemas.openxmlformats.org/drawingml/2006/main">
            <a:avLst/>
            <a:pathLst>
              <a:path w="3302000" h="38100">
                <a:moveTo>
                  <a:pt x="0" y="57150"/>
                </a:moveTo>
                <a:lnTo>
                  <a:pt x="1433" y="44433"/>
                </a:lnTo>
                <a:lnTo>
                  <a:pt x="5660" y="32354"/>
                </a:lnTo>
                <a:lnTo>
                  <a:pt x="12469" y="21518"/>
                </a:lnTo>
                <a:lnTo>
                  <a:pt x="21518" y="12469"/>
                </a:lnTo>
                <a:lnTo>
                  <a:pt x="32354" y="5660"/>
                </a:lnTo>
                <a:lnTo>
                  <a:pt x="44433" y="1433"/>
                </a:lnTo>
                <a:lnTo>
                  <a:pt x="57150" y="0"/>
                </a:lnTo>
                <a:lnTo>
                  <a:pt x="3244850" y="0"/>
                </a:lnTo>
                <a:lnTo>
                  <a:pt x="3257567" y="1433"/>
                </a:lnTo>
                <a:lnTo>
                  <a:pt x="3269646" y="5660"/>
                </a:lnTo>
                <a:lnTo>
                  <a:pt x="3280482" y="12469"/>
                </a:lnTo>
                <a:lnTo>
                  <a:pt x="3289531" y="21518"/>
                </a:lnTo>
                <a:lnTo>
                  <a:pt x="3296340" y="32354"/>
                </a:lnTo>
                <a:lnTo>
                  <a:pt x="3300567" y="44433"/>
                </a:lnTo>
                <a:lnTo>
                  <a:pt x="3302000" y="57150"/>
                </a:lnTo>
                <a:lnTo>
                  <a:pt x="3300567" y="50792"/>
                </a:lnTo>
                <a:lnTo>
                  <a:pt x="3296340" y="44752"/>
                </a:lnTo>
                <a:lnTo>
                  <a:pt x="3289531" y="39334"/>
                </a:lnTo>
                <a:lnTo>
                  <a:pt x="3280482" y="34810"/>
                </a:lnTo>
                <a:lnTo>
                  <a:pt x="3269646" y="31405"/>
                </a:lnTo>
                <a:lnTo>
                  <a:pt x="3257567" y="29292"/>
                </a:lnTo>
                <a:lnTo>
                  <a:pt x="3244850" y="28575"/>
                </a:lnTo>
                <a:lnTo>
                  <a:pt x="57150" y="28575"/>
                </a:lnTo>
                <a:lnTo>
                  <a:pt x="44433" y="29292"/>
                </a:lnTo>
                <a:lnTo>
                  <a:pt x="32354" y="31405"/>
                </a:lnTo>
                <a:lnTo>
                  <a:pt x="21518" y="34810"/>
                </a:lnTo>
                <a:lnTo>
                  <a:pt x="12469" y="39334"/>
                </a:lnTo>
                <a:lnTo>
                  <a:pt x="5660" y="44752"/>
                </a:lnTo>
                <a:lnTo>
                  <a:pt x="1433" y="50792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5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ea2aa0e5064478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191000" y="2527300"/>
            <a:ext cx="7874000" cy="5842000"/>
          </a:xfrm>
          <a:prstGeom xmlns:a="http://schemas.openxmlformats.org/drawingml/2006/main" prst="rect">
            <a:avLst/>
          </a:prstGeom>
        </p:spPr>
      </p:pic>
      <p:sp>
        <p:nvSpPr>
          <p:cNvPr id="78975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27300"/>
            <a:ext cx="3302000" cy="1651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5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17ffb362e38465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2841231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39351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0775" y="2777731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FFFFFF"/>
                </a:solidFill>
                <a:latin typeface="Noto Sans SC"/>
                <a:ea typeface="Noto Sans SC"/>
              </a:rPr>
              <a:t>前端展示层</a:t>
            </a:r>
            <a:endParaRPr lang="zh-CN"/>
          </a:p>
        </p:txBody>
      </p:sp>
      <p:sp>
        <p:nvSpPr>
          <p:cNvPr id="39352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62000" y="3228581"/>
            <a:ext cx="2794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5EEAD4"/>
                </a:solidFill>
                <a:latin typeface="Noto Sans SC"/>
                <a:ea typeface="Noto Sans SC"/>
              </a:rPr>
              <a:t>40+ JSP 页面</a:t>
            </a:r>
            <a:endParaRPr lang="zh-CN"/>
          </a:p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5EEAD4"/>
                </a:solidFill>
                <a:latin typeface="Noto Sans SC"/>
                <a:ea typeface="Noto Sans SC"/>
              </a:rPr>
              <a:t>24 个 CSS 文件</a:t>
            </a:r>
            <a:endParaRPr lang="zh-CN"/>
          </a:p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5EEAD4"/>
                </a:solidFill>
                <a:latin typeface="Noto Sans SC"/>
                <a:ea typeface="Noto Sans SC"/>
              </a:rPr>
              <a:t>3 个 JS 文件</a:t>
            </a:r>
            <a:endParaRPr lang="zh-CN"/>
          </a:p>
        </p:txBody>
      </p:sp>
      <p:pic>
        <p:nvPicPr>
          <p:cNvPr id="78975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49912a2beb842c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810000" y="31496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8975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432300"/>
            <a:ext cx="3302000" cy="3937000"/>
          </a:xfrm>
          <a:prstGeom xmlns:a="http://schemas.openxmlformats.org/drawingml/2006/main" prst="roundRect">
            <a:avLst>
              <a:gd name="adj" fmla="val 23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3F4F6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5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d317512f11c4e9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4700" y="4749800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9352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79500" y="4699000"/>
            <a:ext cx="153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111827"/>
                </a:solidFill>
                <a:latin typeface="Noto Sans SC"/>
                <a:ea typeface="Noto Sans SC"/>
              </a:rPr>
              <a:t>请求生命周期</a:t>
            </a:r>
            <a:endParaRPr lang="zh-CN"/>
          </a:p>
        </p:txBody>
      </p:sp>
      <p:pic>
        <p:nvPicPr>
          <p:cNvPr id="78975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0a6fccb21754c3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4700" y="5264150"/>
            <a:ext cx="203200" cy="177800"/>
          </a:xfrm>
          <a:prstGeom xmlns:a="http://schemas.openxmlformats.org/drawingml/2006/main" prst="rect">
            <a:avLst/>
          </a:prstGeom>
        </p:spPr>
      </p:pic>
      <p:sp>
        <p:nvSpPr>
          <p:cNvPr id="39352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30300" y="5219700"/>
            <a:ext cx="115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浏览器请求</a:t>
            </a:r>
            <a:endParaRPr lang="zh-CN"/>
          </a:p>
        </p:txBody>
      </p:sp>
      <p:sp>
        <p:nvSpPr>
          <p:cNvPr id="78975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537200"/>
            <a:ext cx="2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5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ad1bd3c48bc47a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4700" y="5784850"/>
            <a:ext cx="203200" cy="177800"/>
          </a:xfrm>
          <a:prstGeom xmlns:a="http://schemas.openxmlformats.org/drawingml/2006/main" prst="rect">
            <a:avLst/>
          </a:prstGeom>
        </p:spPr>
      </p:pic>
      <p:sp>
        <p:nvSpPr>
          <p:cNvPr id="39352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30300" y="5740400"/>
            <a:ext cx="151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全局异常过滤器</a:t>
            </a:r>
            <a:endParaRPr lang="zh-CN"/>
          </a:p>
        </p:txBody>
      </p:sp>
      <p:sp>
        <p:nvSpPr>
          <p:cNvPr id="78975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6057900"/>
            <a:ext cx="2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6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2493a67aa86487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4700" y="6305550"/>
            <a:ext cx="203200" cy="177800"/>
          </a:xfrm>
          <a:prstGeom xmlns:a="http://schemas.openxmlformats.org/drawingml/2006/main" prst="rect">
            <a:avLst/>
          </a:prstGeom>
        </p:spPr>
      </p:pic>
      <p:sp>
        <p:nvSpPr>
          <p:cNvPr id="39352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30300" y="6261100"/>
            <a:ext cx="161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Servlet 路由分发</a:t>
            </a:r>
            <a:endParaRPr lang="zh-CN"/>
          </a:p>
        </p:txBody>
      </p:sp>
      <p:sp>
        <p:nvSpPr>
          <p:cNvPr id="7897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6578600"/>
            <a:ext cx="2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6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08352614308437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4700" y="6826250"/>
            <a:ext cx="203200" cy="177800"/>
          </a:xfrm>
          <a:prstGeom xmlns:a="http://schemas.openxmlformats.org/drawingml/2006/main" prst="rect">
            <a:avLst/>
          </a:prstGeom>
        </p:spPr>
      </p:pic>
      <p:sp>
        <p:nvSpPr>
          <p:cNvPr id="39352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30300" y="6781800"/>
            <a:ext cx="162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Service 业务逻辑</a:t>
            </a:r>
            <a:endParaRPr lang="zh-CN"/>
          </a:p>
        </p:txBody>
      </p:sp>
      <p:sp>
        <p:nvSpPr>
          <p:cNvPr id="7897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7099300"/>
            <a:ext cx="2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6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76c4b7ecb2e4ca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4700" y="7346950"/>
            <a:ext cx="203200" cy="177800"/>
          </a:xfrm>
          <a:prstGeom xmlns:a="http://schemas.openxmlformats.org/drawingml/2006/main" prst="rect">
            <a:avLst/>
          </a:prstGeom>
        </p:spPr>
      </p:pic>
      <p:sp>
        <p:nvSpPr>
          <p:cNvPr id="39352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30300" y="7302500"/>
            <a:ext cx="13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DAO &amp; MySQL</a:t>
            </a:r>
            <a:endParaRPr lang="zh-CN"/>
          </a:p>
        </p:txBody>
      </p:sp>
      <p:sp>
        <p:nvSpPr>
          <p:cNvPr id="78976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7620000"/>
            <a:ext cx="2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6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66acffd98ef4ae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4700" y="7867650"/>
            <a:ext cx="203200" cy="177800"/>
          </a:xfrm>
          <a:prstGeom xmlns:a="http://schemas.openxmlformats.org/drawingml/2006/main" prst="rect">
            <a:avLst/>
          </a:prstGeom>
        </p:spPr>
      </p:pic>
      <p:sp>
        <p:nvSpPr>
          <p:cNvPr id="39352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30300" y="7823200"/>
            <a:ext cx="15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返回 JSON / JSP</a:t>
            </a:r>
            <a:endParaRPr lang="zh-CN"/>
          </a:p>
        </p:txBody>
      </p:sp>
      <p:sp>
        <p:nvSpPr>
          <p:cNvPr id="7897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7300"/>
            <a:ext cx="7874000" cy="965200"/>
          </a:xfrm>
          <a:prstGeom xmlns:a="http://schemas.openxmlformats.org/drawingml/2006/main" prst="roundRect">
            <a:avLst>
              <a:gd name="adj" fmla="val 7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2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46600" y="2857500"/>
            <a:ext cx="208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控制层 (Servlet)</a:t>
            </a:r>
            <a:endParaRPr lang="zh-CN"/>
          </a:p>
        </p:txBody>
      </p:sp>
      <p:sp>
        <p:nvSpPr>
          <p:cNvPr id="7897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8912"/>
            <a:ext cx="50419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2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591300" y="2778912"/>
            <a:ext cx="452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部署 44 个 Servlet 类，通过 @WebServlet 注解进行路由分发，对接前端展示层</a:t>
            </a:r>
            <a:endParaRPr lang="zh-CN"/>
          </a:p>
        </p:txBody>
      </p:sp>
      <p:pic>
        <p:nvPicPr>
          <p:cNvPr id="78976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8a2d41e792c4bd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360150" y="2832100"/>
            <a:ext cx="406400" cy="355600"/>
          </a:xfrm>
          <a:prstGeom xmlns:a="http://schemas.openxmlformats.org/drawingml/2006/main" prst="rect">
            <a:avLst/>
          </a:prstGeom>
        </p:spPr>
      </p:pic>
      <p:sp>
        <p:nvSpPr>
          <p:cNvPr id="7897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46500"/>
            <a:ext cx="7874000" cy="965200"/>
          </a:xfrm>
          <a:prstGeom xmlns:a="http://schemas.openxmlformats.org/drawingml/2006/main" prst="roundRect">
            <a:avLst>
              <a:gd name="adj" fmla="val 7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3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46600" y="4076700"/>
            <a:ext cx="208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业务逻辑层</a:t>
            </a:r>
            <a:endParaRPr lang="zh-CN"/>
          </a:p>
        </p:txBody>
      </p:sp>
      <p:sp>
        <p:nvSpPr>
          <p:cNvPr id="7897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98112"/>
            <a:ext cx="50800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3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591300" y="3998112"/>
            <a:ext cx="45593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核心包含 RecommendEngine 推荐引擎与 EnhancedAIService 智能助手服务</a:t>
            </a:r>
            <a:endParaRPr lang="zh-CN"/>
          </a:p>
        </p:txBody>
      </p:sp>
      <p:pic>
        <p:nvPicPr>
          <p:cNvPr id="78977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952a1579adb400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404600" y="4051300"/>
            <a:ext cx="355600" cy="355600"/>
          </a:xfrm>
          <a:prstGeom xmlns:a="http://schemas.openxmlformats.org/drawingml/2006/main" prst="rect">
            <a:avLst/>
          </a:prstGeom>
        </p:spPr>
      </p:pic>
      <p:sp>
        <p:nvSpPr>
          <p:cNvPr id="7897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65700"/>
            <a:ext cx="7874000" cy="965200"/>
          </a:xfrm>
          <a:prstGeom xmlns:a="http://schemas.openxmlformats.org/drawingml/2006/main" prst="roundRect">
            <a:avLst>
              <a:gd name="adj" fmla="val 7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3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46600" y="5295900"/>
            <a:ext cx="208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数据访问层</a:t>
            </a:r>
            <a:endParaRPr lang="zh-CN"/>
          </a:p>
        </p:txBody>
      </p:sp>
      <p:sp>
        <p:nvSpPr>
          <p:cNvPr id="7897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7312"/>
            <a:ext cx="49911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3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591300" y="5217312"/>
            <a:ext cx="44704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18 个专用 DAO 类，完全使用原生 JDBC 配合 PreparedStatement 执行 SQL</a:t>
            </a:r>
            <a:endParaRPr lang="zh-CN"/>
          </a:p>
        </p:txBody>
      </p:sp>
      <p:pic>
        <p:nvPicPr>
          <p:cNvPr id="78977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28310b55adf42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315700" y="5270500"/>
            <a:ext cx="444500" cy="355600"/>
          </a:xfrm>
          <a:prstGeom xmlns:a="http://schemas.openxmlformats.org/drawingml/2006/main" prst="rect">
            <a:avLst/>
          </a:prstGeom>
        </p:spPr>
      </p:pic>
      <p:sp>
        <p:nvSpPr>
          <p:cNvPr id="78977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84900"/>
            <a:ext cx="7874000" cy="965200"/>
          </a:xfrm>
          <a:prstGeom xmlns:a="http://schemas.openxmlformats.org/drawingml/2006/main" prst="roundRect">
            <a:avLst>
              <a:gd name="adj" fmla="val 7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3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46600" y="6515100"/>
            <a:ext cx="208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连接池层</a:t>
            </a:r>
            <a:endParaRPr lang="zh-CN"/>
          </a:p>
        </p:txBody>
      </p:sp>
      <p:sp>
        <p:nvSpPr>
          <p:cNvPr id="7897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436512"/>
            <a:ext cx="50419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3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591300" y="6436512"/>
            <a:ext cx="452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由 HikariCP 单例模式管理，限制最大连接数为 10 以优化资源</a:t>
            </a:r>
            <a:endParaRPr lang="zh-CN"/>
          </a:p>
        </p:txBody>
      </p:sp>
      <p:pic>
        <p:nvPicPr>
          <p:cNvPr id="78977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ff7a82be1cd4b2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360150" y="6489700"/>
            <a:ext cx="406400" cy="355600"/>
          </a:xfrm>
          <a:prstGeom xmlns:a="http://schemas.openxmlformats.org/drawingml/2006/main" prst="rect">
            <a:avLst/>
          </a:prstGeom>
        </p:spPr>
      </p:pic>
      <p:sp>
        <p:nvSpPr>
          <p:cNvPr id="7897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04100"/>
            <a:ext cx="7874000" cy="965200"/>
          </a:xfrm>
          <a:prstGeom xmlns:a="http://schemas.openxmlformats.org/drawingml/2006/main" prst="roundRect">
            <a:avLst>
              <a:gd name="adj" fmla="val 7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3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46600" y="7734300"/>
            <a:ext cx="208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数据存储层</a:t>
            </a:r>
            <a:endParaRPr lang="zh-CN"/>
          </a:p>
        </p:txBody>
      </p:sp>
      <p:sp>
        <p:nvSpPr>
          <p:cNvPr id="78978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655712"/>
            <a:ext cx="51308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3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591300" y="7655712"/>
            <a:ext cx="46101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采用 MySQL 8.0 (InnoDB 引擎) 确保事务安全，提供底层数据支撑</a:t>
            </a:r>
            <a:endParaRPr lang="zh-CN"/>
          </a:p>
        </p:txBody>
      </p:sp>
      <p:pic>
        <p:nvPicPr>
          <p:cNvPr id="78978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06e68a554ca480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449050" y="7708900"/>
            <a:ext cx="317500" cy="355600"/>
          </a:xfrm>
          <a:prstGeom xmlns:a="http://schemas.openxmlformats.org/drawingml/2006/main" prst="rect">
            <a:avLst/>
          </a:prstGeom>
        </p:spPr>
      </p:pic>
      <p:sp>
        <p:nvSpPr>
          <p:cNvPr id="69619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7300"/>
            <a:ext cx="38100" cy="965200"/>
          </a:xfrm>
          <a:custGeom xmlns:a="http://schemas.openxmlformats.org/drawingml/2006/main">
            <a:avLst/>
            <a:pathLst>
              <a:path w="38100" h="965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908050"/>
                </a:lnTo>
                <a:lnTo>
                  <a:pt x="1433" y="920767"/>
                </a:lnTo>
                <a:lnTo>
                  <a:pt x="5660" y="932846"/>
                </a:lnTo>
                <a:lnTo>
                  <a:pt x="12469" y="943682"/>
                </a:lnTo>
                <a:lnTo>
                  <a:pt x="21518" y="952731"/>
                </a:lnTo>
                <a:lnTo>
                  <a:pt x="32354" y="959540"/>
                </a:lnTo>
                <a:lnTo>
                  <a:pt x="44433" y="963767"/>
                </a:lnTo>
                <a:lnTo>
                  <a:pt x="57150" y="965200"/>
                </a:lnTo>
                <a:lnTo>
                  <a:pt x="50792" y="963767"/>
                </a:lnTo>
                <a:lnTo>
                  <a:pt x="44752" y="959540"/>
                </a:lnTo>
                <a:lnTo>
                  <a:pt x="39334" y="952731"/>
                </a:lnTo>
                <a:lnTo>
                  <a:pt x="34810" y="943682"/>
                </a:lnTo>
                <a:lnTo>
                  <a:pt x="31405" y="932846"/>
                </a:lnTo>
                <a:lnTo>
                  <a:pt x="29292" y="920767"/>
                </a:lnTo>
                <a:lnTo>
                  <a:pt x="28575" y="908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20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8912"/>
            <a:ext cx="9525" cy="469900"/>
          </a:xfrm>
          <a:custGeom xmlns:a="http://schemas.openxmlformats.org/drawingml/2006/main">
            <a:avLst/>
            <a:pathLst>
              <a:path w="9525" h="469900">
                <a:moveTo>
                  <a:pt x="0" y="0"/>
                </a:moveTo>
                <a:lnTo>
                  <a:pt x="9525" y="0"/>
                </a:lnTo>
                <a:lnTo>
                  <a:pt x="9525" y="469900"/>
                </a:lnTo>
                <a:lnTo>
                  <a:pt x="0" y="469900"/>
                </a:lnTo>
                <a:close/>
              </a:path>
            </a:pathLst>
          </a:cu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21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46500"/>
            <a:ext cx="38100" cy="965200"/>
          </a:xfrm>
          <a:custGeom xmlns:a="http://schemas.openxmlformats.org/drawingml/2006/main">
            <a:avLst/>
            <a:pathLst>
              <a:path w="38100" h="965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908050"/>
                </a:lnTo>
                <a:lnTo>
                  <a:pt x="1433" y="920767"/>
                </a:lnTo>
                <a:lnTo>
                  <a:pt x="5660" y="932846"/>
                </a:lnTo>
                <a:lnTo>
                  <a:pt x="12469" y="943682"/>
                </a:lnTo>
                <a:lnTo>
                  <a:pt x="21518" y="952731"/>
                </a:lnTo>
                <a:lnTo>
                  <a:pt x="32354" y="959540"/>
                </a:lnTo>
                <a:lnTo>
                  <a:pt x="44433" y="963767"/>
                </a:lnTo>
                <a:lnTo>
                  <a:pt x="57150" y="965200"/>
                </a:lnTo>
                <a:lnTo>
                  <a:pt x="50792" y="963767"/>
                </a:lnTo>
                <a:lnTo>
                  <a:pt x="44752" y="959540"/>
                </a:lnTo>
                <a:lnTo>
                  <a:pt x="39334" y="952731"/>
                </a:lnTo>
                <a:lnTo>
                  <a:pt x="34810" y="943682"/>
                </a:lnTo>
                <a:lnTo>
                  <a:pt x="31405" y="932846"/>
                </a:lnTo>
                <a:lnTo>
                  <a:pt x="29292" y="920767"/>
                </a:lnTo>
                <a:lnTo>
                  <a:pt x="28575" y="908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22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98112"/>
            <a:ext cx="9525" cy="469900"/>
          </a:xfrm>
          <a:custGeom xmlns:a="http://schemas.openxmlformats.org/drawingml/2006/main">
            <a:avLst/>
            <a:pathLst>
              <a:path w="9525" h="469900">
                <a:moveTo>
                  <a:pt x="0" y="0"/>
                </a:moveTo>
                <a:lnTo>
                  <a:pt x="9525" y="0"/>
                </a:lnTo>
                <a:lnTo>
                  <a:pt x="9525" y="469900"/>
                </a:lnTo>
                <a:lnTo>
                  <a:pt x="0" y="469900"/>
                </a:lnTo>
                <a:close/>
              </a:path>
            </a:pathLst>
          </a:cu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23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65700"/>
            <a:ext cx="38100" cy="965200"/>
          </a:xfrm>
          <a:custGeom xmlns:a="http://schemas.openxmlformats.org/drawingml/2006/main">
            <a:avLst/>
            <a:pathLst>
              <a:path w="38100" h="965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908050"/>
                </a:lnTo>
                <a:lnTo>
                  <a:pt x="1433" y="920767"/>
                </a:lnTo>
                <a:lnTo>
                  <a:pt x="5660" y="932846"/>
                </a:lnTo>
                <a:lnTo>
                  <a:pt x="12469" y="943682"/>
                </a:lnTo>
                <a:lnTo>
                  <a:pt x="21518" y="952731"/>
                </a:lnTo>
                <a:lnTo>
                  <a:pt x="32354" y="959540"/>
                </a:lnTo>
                <a:lnTo>
                  <a:pt x="44433" y="963767"/>
                </a:lnTo>
                <a:lnTo>
                  <a:pt x="57150" y="965200"/>
                </a:lnTo>
                <a:lnTo>
                  <a:pt x="50792" y="963767"/>
                </a:lnTo>
                <a:lnTo>
                  <a:pt x="44752" y="959540"/>
                </a:lnTo>
                <a:lnTo>
                  <a:pt x="39334" y="952731"/>
                </a:lnTo>
                <a:lnTo>
                  <a:pt x="34810" y="943682"/>
                </a:lnTo>
                <a:lnTo>
                  <a:pt x="31405" y="932846"/>
                </a:lnTo>
                <a:lnTo>
                  <a:pt x="29292" y="920767"/>
                </a:lnTo>
                <a:lnTo>
                  <a:pt x="28575" y="908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24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7312"/>
            <a:ext cx="9525" cy="469900"/>
          </a:xfrm>
          <a:custGeom xmlns:a="http://schemas.openxmlformats.org/drawingml/2006/main">
            <a:avLst/>
            <a:pathLst>
              <a:path w="9525" h="469900">
                <a:moveTo>
                  <a:pt x="0" y="0"/>
                </a:moveTo>
                <a:lnTo>
                  <a:pt x="9525" y="0"/>
                </a:lnTo>
                <a:lnTo>
                  <a:pt x="9525" y="469900"/>
                </a:lnTo>
                <a:lnTo>
                  <a:pt x="0" y="469900"/>
                </a:lnTo>
                <a:close/>
              </a:path>
            </a:pathLst>
          </a:cu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25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84900"/>
            <a:ext cx="38100" cy="965200"/>
          </a:xfrm>
          <a:custGeom xmlns:a="http://schemas.openxmlformats.org/drawingml/2006/main">
            <a:avLst/>
            <a:pathLst>
              <a:path w="38100" h="965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908050"/>
                </a:lnTo>
                <a:lnTo>
                  <a:pt x="1433" y="920767"/>
                </a:lnTo>
                <a:lnTo>
                  <a:pt x="5660" y="932846"/>
                </a:lnTo>
                <a:lnTo>
                  <a:pt x="12469" y="943682"/>
                </a:lnTo>
                <a:lnTo>
                  <a:pt x="21518" y="952731"/>
                </a:lnTo>
                <a:lnTo>
                  <a:pt x="32354" y="959540"/>
                </a:lnTo>
                <a:lnTo>
                  <a:pt x="44433" y="963767"/>
                </a:lnTo>
                <a:lnTo>
                  <a:pt x="57150" y="965200"/>
                </a:lnTo>
                <a:lnTo>
                  <a:pt x="50792" y="963767"/>
                </a:lnTo>
                <a:lnTo>
                  <a:pt x="44752" y="959540"/>
                </a:lnTo>
                <a:lnTo>
                  <a:pt x="39334" y="952731"/>
                </a:lnTo>
                <a:lnTo>
                  <a:pt x="34810" y="943682"/>
                </a:lnTo>
                <a:lnTo>
                  <a:pt x="31405" y="932846"/>
                </a:lnTo>
                <a:lnTo>
                  <a:pt x="29292" y="920767"/>
                </a:lnTo>
                <a:lnTo>
                  <a:pt x="28575" y="908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26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436512"/>
            <a:ext cx="9525" cy="469900"/>
          </a:xfrm>
          <a:custGeom xmlns:a="http://schemas.openxmlformats.org/drawingml/2006/main">
            <a:avLst/>
            <a:pathLst>
              <a:path w="9525" h="469900">
                <a:moveTo>
                  <a:pt x="0" y="0"/>
                </a:moveTo>
                <a:lnTo>
                  <a:pt x="9525" y="0"/>
                </a:lnTo>
                <a:lnTo>
                  <a:pt x="9525" y="469900"/>
                </a:lnTo>
                <a:lnTo>
                  <a:pt x="0" y="469900"/>
                </a:lnTo>
                <a:close/>
              </a:path>
            </a:pathLst>
          </a:cu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27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04100"/>
            <a:ext cx="38100" cy="965200"/>
          </a:xfrm>
          <a:custGeom xmlns:a="http://schemas.openxmlformats.org/drawingml/2006/main">
            <a:avLst/>
            <a:pathLst>
              <a:path w="38100" h="965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908050"/>
                </a:lnTo>
                <a:lnTo>
                  <a:pt x="1433" y="920767"/>
                </a:lnTo>
                <a:lnTo>
                  <a:pt x="5660" y="932846"/>
                </a:lnTo>
                <a:lnTo>
                  <a:pt x="12469" y="943682"/>
                </a:lnTo>
                <a:lnTo>
                  <a:pt x="21518" y="952731"/>
                </a:lnTo>
                <a:lnTo>
                  <a:pt x="32354" y="959540"/>
                </a:lnTo>
                <a:lnTo>
                  <a:pt x="44433" y="963767"/>
                </a:lnTo>
                <a:lnTo>
                  <a:pt x="57150" y="965200"/>
                </a:lnTo>
                <a:lnTo>
                  <a:pt x="50792" y="963767"/>
                </a:lnTo>
                <a:lnTo>
                  <a:pt x="44752" y="959540"/>
                </a:lnTo>
                <a:lnTo>
                  <a:pt x="39334" y="952731"/>
                </a:lnTo>
                <a:lnTo>
                  <a:pt x="34810" y="943682"/>
                </a:lnTo>
                <a:lnTo>
                  <a:pt x="31405" y="932846"/>
                </a:lnTo>
                <a:lnTo>
                  <a:pt x="29292" y="920767"/>
                </a:lnTo>
                <a:lnTo>
                  <a:pt x="28575" y="908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28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655712"/>
            <a:ext cx="9525" cy="469900"/>
          </a:xfrm>
          <a:custGeom xmlns:a="http://schemas.openxmlformats.org/drawingml/2006/main">
            <a:avLst/>
            <a:pathLst>
              <a:path w="9525" h="469900">
                <a:moveTo>
                  <a:pt x="0" y="0"/>
                </a:moveTo>
                <a:lnTo>
                  <a:pt x="9525" y="0"/>
                </a:lnTo>
                <a:lnTo>
                  <a:pt x="9525" y="469900"/>
                </a:lnTo>
                <a:lnTo>
                  <a:pt x="0" y="469900"/>
                </a:lnTo>
                <a:close/>
              </a:path>
            </a:pathLst>
          </a:cu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3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567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原生 MVC 三层架构设计</a:t>
            </a:r>
            <a:endParaRPr lang="zh-CN"/>
          </a:p>
        </p:txBody>
      </p:sp>
      <p:sp>
        <p:nvSpPr>
          <p:cNvPr id="78978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8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7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8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e63d48de86a4a8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7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3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79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79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38300"/>
            <a:ext cx="1016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4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62000" y="1698625"/>
            <a:ext cx="9639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系统共设计 50 张数据库表，以 users 表为核心构建庞大的 3D ER 网络，预置完整种子数据。</a:t>
            </a:r>
            <a:endParaRPr lang="zh-CN"/>
          </a:p>
        </p:txBody>
      </p:sp>
      <p:sp>
        <p:nvSpPr>
          <p:cNvPr id="78979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362200"/>
            <a:ext cx="4064000" cy="61722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79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0b8483090714b8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11200" y="260985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39354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66800" y="256540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数据库表分类统计</a:t>
            </a:r>
            <a:endParaRPr lang="zh-CN"/>
          </a:p>
        </p:txBody>
      </p:sp>
      <p:sp>
        <p:nvSpPr>
          <p:cNvPr id="7897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740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4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12800" y="38100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核心基础</a:t>
            </a:r>
            <a:endParaRPr lang="zh-CN"/>
          </a:p>
        </p:txBody>
      </p:sp>
      <p:sp>
        <p:nvSpPr>
          <p:cNvPr id="39354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282621" y="3810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3</a:t>
            </a:r>
            <a:endParaRPr lang="zh-CN"/>
          </a:p>
        </p:txBody>
      </p:sp>
      <p:sp>
        <p:nvSpPr>
          <p:cNvPr id="7897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40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4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692400" y="38100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课程管理</a:t>
            </a:r>
            <a:endParaRPr lang="zh-CN"/>
          </a:p>
        </p:txBody>
      </p:sp>
      <p:sp>
        <p:nvSpPr>
          <p:cNvPr id="39354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162221" y="3810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2</a:t>
            </a:r>
            <a:endParaRPr lang="zh-CN"/>
          </a:p>
        </p:txBody>
      </p:sp>
      <p:sp>
        <p:nvSpPr>
          <p:cNvPr id="78979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248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4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12800" y="43180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智能推荐</a:t>
            </a:r>
            <a:endParaRPr lang="zh-CN"/>
          </a:p>
        </p:txBody>
      </p:sp>
      <p:sp>
        <p:nvSpPr>
          <p:cNvPr id="39354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282621" y="4318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6</a:t>
            </a:r>
            <a:endParaRPr lang="zh-CN"/>
          </a:p>
        </p:txBody>
      </p:sp>
      <p:sp>
        <p:nvSpPr>
          <p:cNvPr id="78980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48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4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692400" y="43180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校友导师</a:t>
            </a:r>
            <a:endParaRPr lang="zh-CN"/>
          </a:p>
        </p:txBody>
      </p:sp>
      <p:sp>
        <p:nvSpPr>
          <p:cNvPr id="39354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162221" y="4318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3</a:t>
            </a:r>
            <a:endParaRPr lang="zh-CN"/>
          </a:p>
        </p:txBody>
      </p:sp>
      <p:sp>
        <p:nvSpPr>
          <p:cNvPr id="78980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756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5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12800" y="4826000"/>
            <a:ext cx="62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讲座</a:t>
            </a:r>
            <a:endParaRPr lang="zh-CN"/>
          </a:p>
        </p:txBody>
      </p:sp>
      <p:sp>
        <p:nvSpPr>
          <p:cNvPr id="39355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282621" y="4826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2</a:t>
            </a:r>
            <a:endParaRPr lang="zh-CN"/>
          </a:p>
        </p:txBody>
      </p:sp>
      <p:sp>
        <p:nvSpPr>
          <p:cNvPr id="78980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56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5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692400" y="48260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文化模块</a:t>
            </a:r>
            <a:endParaRPr lang="zh-CN"/>
          </a:p>
        </p:txBody>
      </p:sp>
      <p:sp>
        <p:nvSpPr>
          <p:cNvPr id="39355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162221" y="4826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3</a:t>
            </a:r>
            <a:endParaRPr lang="zh-CN"/>
          </a:p>
        </p:txBody>
      </p:sp>
      <p:sp>
        <p:nvSpPr>
          <p:cNvPr id="78980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264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5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12800" y="53340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元宇宙</a:t>
            </a:r>
            <a:endParaRPr lang="zh-CN"/>
          </a:p>
        </p:txBody>
      </p:sp>
      <p:sp>
        <p:nvSpPr>
          <p:cNvPr id="39355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282621" y="5334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3</a:t>
            </a:r>
            <a:endParaRPr lang="zh-CN"/>
          </a:p>
        </p:txBody>
      </p:sp>
      <p:sp>
        <p:nvSpPr>
          <p:cNvPr id="7898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64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5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692400" y="53340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自习室</a:t>
            </a:r>
            <a:endParaRPr lang="zh-CN"/>
          </a:p>
        </p:txBody>
      </p:sp>
      <p:sp>
        <p:nvSpPr>
          <p:cNvPr id="39355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162221" y="5334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4</a:t>
            </a:r>
            <a:endParaRPr lang="zh-CN"/>
          </a:p>
        </p:txBody>
      </p:sp>
      <p:sp>
        <p:nvSpPr>
          <p:cNvPr id="78980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772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5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12800" y="58420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首页管理</a:t>
            </a:r>
            <a:endParaRPr lang="zh-CN"/>
          </a:p>
        </p:txBody>
      </p:sp>
      <p:sp>
        <p:nvSpPr>
          <p:cNvPr id="39355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282621" y="5842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4</a:t>
            </a:r>
            <a:endParaRPr lang="zh-CN"/>
          </a:p>
        </p:txBody>
      </p:sp>
      <p:sp>
        <p:nvSpPr>
          <p:cNvPr id="7898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72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6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692400" y="58420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审核通知</a:t>
            </a:r>
            <a:endParaRPr lang="zh-CN"/>
          </a:p>
        </p:txBody>
      </p:sp>
      <p:sp>
        <p:nvSpPr>
          <p:cNvPr id="39356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162221" y="5842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3</a:t>
            </a:r>
            <a:endParaRPr lang="zh-CN"/>
          </a:p>
        </p:txBody>
      </p:sp>
      <p:sp>
        <p:nvSpPr>
          <p:cNvPr id="78980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80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6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12800" y="6350000"/>
            <a:ext cx="62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私信</a:t>
            </a:r>
            <a:endParaRPr lang="zh-CN"/>
          </a:p>
        </p:txBody>
      </p:sp>
      <p:sp>
        <p:nvSpPr>
          <p:cNvPr id="39356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282621" y="6350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1</a:t>
            </a:r>
            <a:endParaRPr lang="zh-CN"/>
          </a:p>
        </p:txBody>
      </p:sp>
      <p:sp>
        <p:nvSpPr>
          <p:cNvPr id="78980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280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6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692400" y="6350000"/>
            <a:ext cx="62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成就</a:t>
            </a:r>
            <a:endParaRPr lang="zh-CN"/>
          </a:p>
        </p:txBody>
      </p:sp>
      <p:sp>
        <p:nvSpPr>
          <p:cNvPr id="39356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162221" y="6350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2</a:t>
            </a:r>
            <a:endParaRPr lang="zh-CN"/>
          </a:p>
        </p:txBody>
      </p:sp>
      <p:sp>
        <p:nvSpPr>
          <p:cNvPr id="78980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788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6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12800" y="68580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学习社区</a:t>
            </a:r>
            <a:endParaRPr lang="zh-CN"/>
          </a:p>
        </p:txBody>
      </p:sp>
      <p:sp>
        <p:nvSpPr>
          <p:cNvPr id="39356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282621" y="6858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4</a:t>
            </a:r>
            <a:endParaRPr lang="zh-CN"/>
          </a:p>
        </p:txBody>
      </p:sp>
      <p:sp>
        <p:nvSpPr>
          <p:cNvPr id="78981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788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6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692400" y="68580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图书互动</a:t>
            </a:r>
            <a:endParaRPr lang="zh-CN"/>
          </a:p>
        </p:txBody>
      </p:sp>
      <p:sp>
        <p:nvSpPr>
          <p:cNvPr id="39356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162221" y="6858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5</a:t>
            </a:r>
            <a:endParaRPr lang="zh-CN"/>
          </a:p>
        </p:txBody>
      </p:sp>
      <p:sp>
        <p:nvSpPr>
          <p:cNvPr id="78981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296150"/>
            <a:ext cx="17780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7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12800" y="73660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辅助表</a:t>
            </a:r>
            <a:endParaRPr lang="zh-CN"/>
          </a:p>
        </p:txBody>
      </p:sp>
      <p:sp>
        <p:nvSpPr>
          <p:cNvPr id="39357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282621" y="7366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5</a:t>
            </a:r>
            <a:endParaRPr lang="zh-CN"/>
          </a:p>
        </p:txBody>
      </p:sp>
      <p:sp>
        <p:nvSpPr>
          <p:cNvPr id="78981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2362200"/>
            <a:ext cx="6705600" cy="6172200"/>
          </a:xfrm>
          <a:prstGeom xmlns:a="http://schemas.openxmlformats.org/drawingml/2006/main" prst="roundRect">
            <a:avLst>
              <a:gd name="adj" fmla="val 12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1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0" y="2362200"/>
            <a:ext cx="4064000" cy="61722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1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642440edafa4f8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887200" y="2609850"/>
            <a:ext cx="292100" cy="254000"/>
          </a:xfrm>
          <a:prstGeom xmlns:a="http://schemas.openxmlformats.org/drawingml/2006/main" prst="rect">
            <a:avLst/>
          </a:prstGeom>
        </p:spPr>
      </p:pic>
      <p:sp>
        <p:nvSpPr>
          <p:cNvPr id="39357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274550" y="25654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核心设计亮点</a:t>
            </a:r>
            <a:endParaRPr lang="zh-CN"/>
          </a:p>
        </p:txBody>
      </p:sp>
      <p:sp>
        <p:nvSpPr>
          <p:cNvPr id="78981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84550"/>
            <a:ext cx="36576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1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7e04235899a493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039600" y="3689350"/>
            <a:ext cx="254000" cy="203200"/>
          </a:xfrm>
          <a:prstGeom xmlns:a="http://schemas.openxmlformats.org/drawingml/2006/main" prst="rect">
            <a:avLst/>
          </a:prstGeom>
        </p:spPr>
      </p:pic>
      <p:sp>
        <p:nvSpPr>
          <p:cNvPr id="39357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446000" y="3559962"/>
            <a:ext cx="29464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严格的外键完整性与唯一约束，全方位保障数据一致性。</a:t>
            </a:r>
            <a:endParaRPr lang="zh-CN"/>
          </a:p>
        </p:txBody>
      </p:sp>
      <p:sp>
        <p:nvSpPr>
          <p:cNvPr id="78981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349750"/>
            <a:ext cx="36576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1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65c3c52db43466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039600" y="4654550"/>
            <a:ext cx="177800" cy="203200"/>
          </a:xfrm>
          <a:prstGeom xmlns:a="http://schemas.openxmlformats.org/drawingml/2006/main" prst="rect">
            <a:avLst/>
          </a:prstGeom>
        </p:spPr>
      </p:pic>
      <p:sp>
        <p:nvSpPr>
          <p:cNvPr id="39357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69800" y="4525162"/>
            <a:ext cx="3022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私信模块采用双向软删除机制，确保关键数据可恢复。</a:t>
            </a:r>
            <a:endParaRPr lang="zh-CN"/>
          </a:p>
        </p:txBody>
      </p:sp>
      <p:sp>
        <p:nvSpPr>
          <p:cNvPr id="78981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314950"/>
            <a:ext cx="36576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2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afa1e41588f4a7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039600" y="5619750"/>
            <a:ext cx="177800" cy="203200"/>
          </a:xfrm>
          <a:prstGeom xmlns:a="http://schemas.openxmlformats.org/drawingml/2006/main" prst="rect">
            <a:avLst/>
          </a:prstGeom>
        </p:spPr>
      </p:pic>
      <p:sp>
        <p:nvSpPr>
          <p:cNvPr id="39357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69800" y="5490362"/>
            <a:ext cx="30226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评价系统支持多态设计，通过 target_type 字段灵活区分。</a:t>
            </a:r>
            <a:endParaRPr lang="zh-CN"/>
          </a:p>
        </p:txBody>
      </p:sp>
      <p:sp>
        <p:nvSpPr>
          <p:cNvPr id="78982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280150"/>
            <a:ext cx="36576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2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f76fa02d86a47a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039600" y="6584950"/>
            <a:ext cx="254000" cy="203200"/>
          </a:xfrm>
          <a:prstGeom xmlns:a="http://schemas.openxmlformats.org/drawingml/2006/main" prst="rect">
            <a:avLst/>
          </a:prstGeom>
        </p:spPr>
      </p:pic>
      <p:sp>
        <p:nvSpPr>
          <p:cNvPr id="39357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446000" y="6455562"/>
            <a:ext cx="29464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内容审核深度集成 AI 评分与反馈字段，提升审核效率。</a:t>
            </a:r>
            <a:endParaRPr lang="zh-CN"/>
          </a:p>
        </p:txBody>
      </p:sp>
      <p:sp>
        <p:nvSpPr>
          <p:cNvPr id="78982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245350"/>
            <a:ext cx="36576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2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c4c0c3eb5ff4ff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039600" y="7550150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9357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95200" y="7420762"/>
            <a:ext cx="2997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所有表统一包含时间追踪字段，保障数据可追溯性。</a:t>
            </a:r>
            <a:endParaRPr lang="zh-CN"/>
          </a:p>
        </p:txBody>
      </p:sp>
      <p:pic>
        <p:nvPicPr>
          <p:cNvPr id="78982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6dac25da04f42c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75200" y="2362200"/>
            <a:ext cx="6705600" cy="6172200"/>
          </a:xfrm>
          <a:prstGeom xmlns:a="http://schemas.openxmlformats.org/drawingml/2006/main" prst="rect">
            <a:avLst/>
          </a:prstGeom>
        </p:spPr>
      </p:pic>
      <p:sp>
        <p:nvSpPr>
          <p:cNvPr id="78982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177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F766E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7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905750" y="3282950"/>
            <a:ext cx="71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book</a:t>
            </a:r>
            <a:endParaRPr lang="zh-CN"/>
          </a:p>
        </p:txBody>
      </p:sp>
      <p:sp>
        <p:nvSpPr>
          <p:cNvPr id="78982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500" y="3924300"/>
            <a:ext cx="177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F766E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7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26181" y="4044950"/>
            <a:ext cx="85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course</a:t>
            </a:r>
            <a:endParaRPr lang="zh-CN"/>
          </a:p>
        </p:txBody>
      </p:sp>
      <p:sp>
        <p:nvSpPr>
          <p:cNvPr id="78982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638800"/>
            <a:ext cx="177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F766E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8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373984" y="5759450"/>
            <a:ext cx="173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studyroom_stats</a:t>
            </a:r>
            <a:endParaRPr lang="zh-CN"/>
          </a:p>
        </p:txBody>
      </p:sp>
      <p:sp>
        <p:nvSpPr>
          <p:cNvPr id="78982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175500"/>
            <a:ext cx="177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F766E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8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696121" y="7296150"/>
            <a:ext cx="88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lecture</a:t>
            </a:r>
            <a:endParaRPr lang="zh-CN"/>
          </a:p>
        </p:txBody>
      </p:sp>
      <p:sp>
        <p:nvSpPr>
          <p:cNvPr id="78983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7175500"/>
            <a:ext cx="177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F766E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8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744690" y="7296150"/>
            <a:ext cx="128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notification</a:t>
            </a:r>
            <a:endParaRPr lang="zh-CN"/>
          </a:p>
        </p:txBody>
      </p:sp>
      <p:sp>
        <p:nvSpPr>
          <p:cNvPr id="78983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38800"/>
            <a:ext cx="177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F766E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8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406821" y="5759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private_message</a:t>
            </a:r>
            <a:endParaRPr lang="zh-CN"/>
          </a:p>
        </p:txBody>
      </p:sp>
      <p:sp>
        <p:nvSpPr>
          <p:cNvPr id="7898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3924300"/>
            <a:ext cx="177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F766E"/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8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969787" y="40449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user_activity</a:t>
            </a:r>
            <a:endParaRPr lang="zh-CN"/>
          </a:p>
        </p:txBody>
      </p:sp>
      <p:sp>
        <p:nvSpPr>
          <p:cNvPr id="78983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5715000"/>
            <a:ext cx="1270000" cy="431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29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715000"/>
            <a:ext cx="19050" cy="431800"/>
          </a:xfrm>
          <a:custGeom xmlns:a="http://schemas.openxmlformats.org/drawingml/2006/main">
            <a:avLst/>
            <a:pathLst>
              <a:path w="19050" h="431800">
                <a:moveTo>
                  <a:pt x="-142875" y="0"/>
                </a:moveTo>
                <a:lnTo>
                  <a:pt x="-106844" y="4060"/>
                </a:lnTo>
                <a:lnTo>
                  <a:pt x="-72619" y="16036"/>
                </a:lnTo>
                <a:lnTo>
                  <a:pt x="-41917" y="35327"/>
                </a:lnTo>
                <a:lnTo>
                  <a:pt x="-16277" y="60967"/>
                </a:lnTo>
                <a:lnTo>
                  <a:pt x="3014" y="91669"/>
                </a:lnTo>
                <a:lnTo>
                  <a:pt x="14990" y="125894"/>
                </a:lnTo>
                <a:lnTo>
                  <a:pt x="19050" y="161925"/>
                </a:lnTo>
                <a:lnTo>
                  <a:pt x="19050" y="269875"/>
                </a:lnTo>
                <a:lnTo>
                  <a:pt x="14990" y="305906"/>
                </a:lnTo>
                <a:lnTo>
                  <a:pt x="3014" y="340131"/>
                </a:lnTo>
                <a:lnTo>
                  <a:pt x="-16277" y="370833"/>
                </a:lnTo>
                <a:lnTo>
                  <a:pt x="-41917" y="396473"/>
                </a:lnTo>
                <a:lnTo>
                  <a:pt x="-72619" y="415764"/>
                </a:lnTo>
                <a:lnTo>
                  <a:pt x="-106844" y="427740"/>
                </a:lnTo>
                <a:lnTo>
                  <a:pt x="-142875" y="431800"/>
                </a:lnTo>
                <a:lnTo>
                  <a:pt x="-124860" y="427740"/>
                </a:lnTo>
                <a:lnTo>
                  <a:pt x="-107747" y="415764"/>
                </a:lnTo>
                <a:lnTo>
                  <a:pt x="-92397" y="396473"/>
                </a:lnTo>
                <a:lnTo>
                  <a:pt x="-79577" y="370833"/>
                </a:lnTo>
                <a:lnTo>
                  <a:pt x="-69931" y="340131"/>
                </a:lnTo>
                <a:lnTo>
                  <a:pt x="-63943" y="305906"/>
                </a:lnTo>
                <a:lnTo>
                  <a:pt x="-61913" y="269875"/>
                </a:lnTo>
                <a:lnTo>
                  <a:pt x="-61912" y="161925"/>
                </a:lnTo>
                <a:lnTo>
                  <a:pt x="-63943" y="125894"/>
                </a:lnTo>
                <a:lnTo>
                  <a:pt x="-69931" y="91669"/>
                </a:lnTo>
                <a:lnTo>
                  <a:pt x="-79577" y="60967"/>
                </a:lnTo>
                <a:lnTo>
                  <a:pt x="-92397" y="35327"/>
                </a:lnTo>
                <a:lnTo>
                  <a:pt x="-107747" y="16036"/>
                </a:lnTo>
                <a:lnTo>
                  <a:pt x="-124860" y="4060"/>
                </a:lnTo>
                <a:lnTo>
                  <a:pt x="-142875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30" name="BorderLine_bottom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6127750"/>
            <a:ext cx="1270000" cy="19050"/>
          </a:xfrm>
          <a:custGeom xmlns:a="http://schemas.openxmlformats.org/drawingml/2006/main">
            <a:avLst/>
            <a:pathLst>
              <a:path w="1270000" h="19050">
                <a:moveTo>
                  <a:pt x="0" y="-142875"/>
                </a:moveTo>
                <a:lnTo>
                  <a:pt x="4060" y="-106844"/>
                </a:lnTo>
                <a:lnTo>
                  <a:pt x="16036" y="-72619"/>
                </a:lnTo>
                <a:lnTo>
                  <a:pt x="35327" y="-41917"/>
                </a:lnTo>
                <a:lnTo>
                  <a:pt x="60967" y="-16277"/>
                </a:lnTo>
                <a:lnTo>
                  <a:pt x="91669" y="3014"/>
                </a:lnTo>
                <a:lnTo>
                  <a:pt x="125894" y="14990"/>
                </a:lnTo>
                <a:lnTo>
                  <a:pt x="161925" y="19050"/>
                </a:lnTo>
                <a:lnTo>
                  <a:pt x="1108075" y="19050"/>
                </a:lnTo>
                <a:lnTo>
                  <a:pt x="1144106" y="14990"/>
                </a:lnTo>
                <a:lnTo>
                  <a:pt x="1178331" y="3014"/>
                </a:lnTo>
                <a:lnTo>
                  <a:pt x="1209033" y="-16277"/>
                </a:lnTo>
                <a:lnTo>
                  <a:pt x="1234673" y="-41917"/>
                </a:lnTo>
                <a:lnTo>
                  <a:pt x="1253964" y="-72619"/>
                </a:lnTo>
                <a:lnTo>
                  <a:pt x="1265940" y="-106844"/>
                </a:lnTo>
                <a:lnTo>
                  <a:pt x="1270000" y="-142875"/>
                </a:lnTo>
                <a:lnTo>
                  <a:pt x="1265940" y="-124860"/>
                </a:lnTo>
                <a:lnTo>
                  <a:pt x="1253964" y="-107747"/>
                </a:lnTo>
                <a:lnTo>
                  <a:pt x="1234673" y="-92397"/>
                </a:lnTo>
                <a:lnTo>
                  <a:pt x="1209033" y="-79577"/>
                </a:lnTo>
                <a:lnTo>
                  <a:pt x="1178331" y="-69931"/>
                </a:lnTo>
                <a:lnTo>
                  <a:pt x="1144106" y="-63943"/>
                </a:lnTo>
                <a:lnTo>
                  <a:pt x="1108075" y="-61913"/>
                </a:lnTo>
                <a:lnTo>
                  <a:pt x="161925" y="-61912"/>
                </a:lnTo>
                <a:lnTo>
                  <a:pt x="125894" y="-63943"/>
                </a:lnTo>
                <a:lnTo>
                  <a:pt x="91669" y="-69931"/>
                </a:lnTo>
                <a:lnTo>
                  <a:pt x="60967" y="-79577"/>
                </a:lnTo>
                <a:lnTo>
                  <a:pt x="35327" y="-92397"/>
                </a:lnTo>
                <a:lnTo>
                  <a:pt x="16036" y="-107747"/>
                </a:lnTo>
                <a:lnTo>
                  <a:pt x="4060" y="-124860"/>
                </a:lnTo>
                <a:lnTo>
                  <a:pt x="0" y="-142875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31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5715000"/>
            <a:ext cx="19050" cy="431800"/>
          </a:xfrm>
          <a:custGeom xmlns:a="http://schemas.openxmlformats.org/drawingml/2006/main">
            <a:avLst/>
            <a:pathLst>
              <a:path w="19050" h="431800">
                <a:moveTo>
                  <a:pt x="161925" y="0"/>
                </a:moveTo>
                <a:lnTo>
                  <a:pt x="125894" y="4060"/>
                </a:lnTo>
                <a:lnTo>
                  <a:pt x="91669" y="16036"/>
                </a:lnTo>
                <a:lnTo>
                  <a:pt x="60967" y="35327"/>
                </a:lnTo>
                <a:lnTo>
                  <a:pt x="35327" y="60967"/>
                </a:lnTo>
                <a:lnTo>
                  <a:pt x="16036" y="91669"/>
                </a:lnTo>
                <a:lnTo>
                  <a:pt x="4060" y="125894"/>
                </a:lnTo>
                <a:lnTo>
                  <a:pt x="0" y="161925"/>
                </a:lnTo>
                <a:lnTo>
                  <a:pt x="0" y="269875"/>
                </a:lnTo>
                <a:lnTo>
                  <a:pt x="4060" y="305906"/>
                </a:lnTo>
                <a:lnTo>
                  <a:pt x="16036" y="340131"/>
                </a:lnTo>
                <a:lnTo>
                  <a:pt x="35327" y="370833"/>
                </a:lnTo>
                <a:lnTo>
                  <a:pt x="60967" y="396473"/>
                </a:lnTo>
                <a:lnTo>
                  <a:pt x="91669" y="415764"/>
                </a:lnTo>
                <a:lnTo>
                  <a:pt x="125894" y="427740"/>
                </a:lnTo>
                <a:lnTo>
                  <a:pt x="161925" y="431800"/>
                </a:lnTo>
                <a:lnTo>
                  <a:pt x="143910" y="427740"/>
                </a:lnTo>
                <a:lnTo>
                  <a:pt x="126797" y="415764"/>
                </a:lnTo>
                <a:lnTo>
                  <a:pt x="111447" y="396473"/>
                </a:lnTo>
                <a:lnTo>
                  <a:pt x="98627" y="370833"/>
                </a:lnTo>
                <a:lnTo>
                  <a:pt x="88981" y="340131"/>
                </a:lnTo>
                <a:lnTo>
                  <a:pt x="82993" y="305906"/>
                </a:lnTo>
                <a:lnTo>
                  <a:pt x="80963" y="269875"/>
                </a:lnTo>
                <a:lnTo>
                  <a:pt x="80962" y="161925"/>
                </a:lnTo>
                <a:lnTo>
                  <a:pt x="82993" y="125894"/>
                </a:lnTo>
                <a:lnTo>
                  <a:pt x="88981" y="91669"/>
                </a:lnTo>
                <a:lnTo>
                  <a:pt x="98627" y="60967"/>
                </a:lnTo>
                <a:lnTo>
                  <a:pt x="111447" y="35327"/>
                </a:lnTo>
                <a:lnTo>
                  <a:pt x="126797" y="16036"/>
                </a:lnTo>
                <a:lnTo>
                  <a:pt x="143910" y="4060"/>
                </a:lnTo>
                <a:lnTo>
                  <a:pt x="161925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4965700"/>
            <a:ext cx="1270000" cy="9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8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827162" y="53530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Noto Sans SC"/>
                <a:ea typeface="Noto Sans SC"/>
              </a:rPr>
              <a:t>users</a:t>
            </a:r>
            <a:endParaRPr lang="zh-CN"/>
          </a:p>
        </p:txBody>
      </p:sp>
      <p:sp>
        <p:nvSpPr>
          <p:cNvPr id="69632" name="BorderLine_righ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65700"/>
            <a:ext cx="19050" cy="965200"/>
          </a:xfrm>
          <a:custGeom xmlns:a="http://schemas.openxmlformats.org/drawingml/2006/main">
            <a:avLst/>
            <a:pathLst>
              <a:path w="19050" h="965200">
                <a:moveTo>
                  <a:pt x="0" y="0"/>
                </a:moveTo>
                <a:lnTo>
                  <a:pt x="19050" y="0"/>
                </a:lnTo>
                <a:lnTo>
                  <a:pt x="19050" y="965200"/>
                </a:lnTo>
                <a:lnTo>
                  <a:pt x="0" y="96520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33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4965700"/>
            <a:ext cx="19050" cy="965200"/>
          </a:xfrm>
          <a:custGeom xmlns:a="http://schemas.openxmlformats.org/drawingml/2006/main">
            <a:avLst/>
            <a:pathLst>
              <a:path w="19050" h="965200">
                <a:moveTo>
                  <a:pt x="0" y="0"/>
                </a:moveTo>
                <a:lnTo>
                  <a:pt x="19050" y="0"/>
                </a:lnTo>
                <a:lnTo>
                  <a:pt x="19050" y="965200"/>
                </a:lnTo>
                <a:lnTo>
                  <a:pt x="0" y="96520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3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4749800"/>
            <a:ext cx="1270000" cy="431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 w="25400">
            <a:solidFill>
              <a:srgbClr val="0F766E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3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8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528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数据库设计与 ER 网络</a:t>
            </a:r>
            <a:endParaRPr lang="zh-CN"/>
          </a:p>
        </p:txBody>
      </p:sp>
      <p:sp>
        <p:nvSpPr>
          <p:cNvPr id="78983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3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3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84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4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92941a6abaf48f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84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4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8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84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4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4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4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4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697162"/>
            <a:ext cx="1524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8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3128962"/>
            <a:ext cx="245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7200" b="1">
                <a:solidFill>
                  <a:srgbClr val="0F766E"/>
                </a:solidFill>
                <a:latin typeface="Noto Sans SC"/>
                <a:ea typeface="Noto Sans SC"/>
              </a:rPr>
              <a:t>02</a:t>
            </a:r>
            <a:endParaRPr lang="zh-CN"/>
          </a:p>
        </p:txBody>
      </p:sp>
      <p:sp>
        <p:nvSpPr>
          <p:cNvPr id="39358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4449762"/>
            <a:ext cx="58674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4400" b="1">
                <a:solidFill>
                  <a:srgbClr val="111827"/>
                </a:solidFill>
                <a:latin typeface="Noto Sans SC"/>
                <a:ea typeface="Noto Sans SC"/>
              </a:rPr>
              <a:t>核心功能与智能引擎</a:t>
            </a:r>
            <a:endParaRPr lang="zh-CN"/>
          </a:p>
        </p:txBody>
      </p:sp>
      <p:sp>
        <p:nvSpPr>
          <p:cNvPr id="39359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5453062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功能模块矩阵与智能引擎</a:t>
            </a:r>
            <a:endParaRPr lang="zh-CN"/>
          </a:p>
        </p:txBody>
      </p:sp>
      <p:sp>
        <p:nvSpPr>
          <p:cNvPr id="78984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434137"/>
            <a:ext cx="254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3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85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5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63f223378fd4a2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85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5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9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85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5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5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5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5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74800"/>
            <a:ext cx="4902200" cy="2235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5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18415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6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4b525b4f2784be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01700" y="1968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39359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35100" y="1905000"/>
            <a:ext cx="165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数字图书馆</a:t>
            </a:r>
            <a:endParaRPr lang="zh-CN"/>
          </a:p>
        </p:txBody>
      </p:sp>
      <p:sp>
        <p:nvSpPr>
          <p:cNvPr id="7898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2641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9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52500" y="2552700"/>
            <a:ext cx="25527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支持分类搜索与评分评论</a:t>
            </a:r>
            <a:endParaRPr lang="zh-CN"/>
          </a:p>
        </p:txBody>
      </p:sp>
      <p:sp>
        <p:nvSpPr>
          <p:cNvPr id="78986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2997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9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52500" y="2908300"/>
            <a:ext cx="25527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提供书籍收藏及阅读追踪</a:t>
            </a:r>
            <a:endParaRPr lang="zh-CN"/>
          </a:p>
        </p:txBody>
      </p:sp>
      <p:sp>
        <p:nvSpPr>
          <p:cNvPr id="7898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962400"/>
            <a:ext cx="4902200" cy="2235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6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42291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6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0c12d20aff2435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85825" y="4356100"/>
            <a:ext cx="292100" cy="254000"/>
          </a:xfrm>
          <a:prstGeom xmlns:a="http://schemas.openxmlformats.org/drawingml/2006/main" prst="rect">
            <a:avLst/>
          </a:prstGeom>
        </p:spPr>
      </p:pic>
      <p:sp>
        <p:nvSpPr>
          <p:cNvPr id="39359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35100" y="42926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智能推荐引擎</a:t>
            </a:r>
            <a:endParaRPr lang="zh-CN"/>
          </a:p>
        </p:txBody>
      </p:sp>
      <p:sp>
        <p:nvSpPr>
          <p:cNvPr id="78986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5029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9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52500" y="4940300"/>
            <a:ext cx="25527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基于多维度用户画像分析</a:t>
            </a:r>
            <a:endParaRPr lang="zh-CN"/>
          </a:p>
        </p:txBody>
      </p:sp>
      <p:sp>
        <p:nvSpPr>
          <p:cNvPr id="7898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5384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9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52500" y="5295900"/>
            <a:ext cx="2959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实现协同过滤与精准内容匹配</a:t>
            </a:r>
            <a:endParaRPr lang="zh-CN"/>
          </a:p>
        </p:txBody>
      </p:sp>
      <p:sp>
        <p:nvSpPr>
          <p:cNvPr id="7898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350000"/>
            <a:ext cx="4902200" cy="2235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6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66167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7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b97a82dbc3243b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69950" y="6743700"/>
            <a:ext cx="317500" cy="254000"/>
          </a:xfrm>
          <a:prstGeom xmlns:a="http://schemas.openxmlformats.org/drawingml/2006/main" prst="rect">
            <a:avLst/>
          </a:prstGeom>
        </p:spPr>
      </p:pic>
      <p:sp>
        <p:nvSpPr>
          <p:cNvPr id="39359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35100" y="6680200"/>
            <a:ext cx="170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AI 智能助手</a:t>
            </a:r>
            <a:endParaRPr lang="zh-CN"/>
          </a:p>
        </p:txBody>
      </p:sp>
      <p:sp>
        <p:nvSpPr>
          <p:cNvPr id="7898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7416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59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52500" y="7327900"/>
            <a:ext cx="2959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支持多模型对话与打字机效果</a:t>
            </a:r>
            <a:endParaRPr lang="zh-CN"/>
          </a:p>
        </p:txBody>
      </p:sp>
      <p:sp>
        <p:nvSpPr>
          <p:cNvPr id="78987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7772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0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52500" y="7683500"/>
            <a:ext cx="28194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提供高质量 Markdown 渲染</a:t>
            </a:r>
            <a:endParaRPr lang="zh-CN"/>
          </a:p>
        </p:txBody>
      </p:sp>
      <p:sp>
        <p:nvSpPr>
          <p:cNvPr id="7898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1574800"/>
            <a:ext cx="4902200" cy="2235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31" y="18415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7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ef4ef8bde21405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082106" y="1968500"/>
            <a:ext cx="228600" cy="254000"/>
          </a:xfrm>
          <a:prstGeom xmlns:a="http://schemas.openxmlformats.org/drawingml/2006/main" prst="rect">
            <a:avLst/>
          </a:prstGeom>
        </p:spPr>
      </p:pic>
      <p:sp>
        <p:nvSpPr>
          <p:cNvPr id="39360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599631" y="1905000"/>
            <a:ext cx="165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沉浸自习室</a:t>
            </a:r>
            <a:endParaRPr lang="zh-CN"/>
          </a:p>
        </p:txBody>
      </p:sp>
      <p:sp>
        <p:nvSpPr>
          <p:cNvPr id="78987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31" y="2641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0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17031" y="2552700"/>
            <a:ext cx="27559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集成番茄钟与任务管理功能</a:t>
            </a:r>
            <a:endParaRPr lang="zh-CN"/>
          </a:p>
        </p:txBody>
      </p:sp>
      <p:sp>
        <p:nvSpPr>
          <p:cNvPr id="7898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31" y="2997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0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17031" y="2908300"/>
            <a:ext cx="2959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支持小组协作与专属成就系统</a:t>
            </a:r>
            <a:endParaRPr lang="zh-CN"/>
          </a:p>
        </p:txBody>
      </p:sp>
      <p:sp>
        <p:nvSpPr>
          <p:cNvPr id="78987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3962400"/>
            <a:ext cx="4902200" cy="2235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31" y="42291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8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0de23894ebd4e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034481" y="4356100"/>
            <a:ext cx="317500" cy="254000"/>
          </a:xfrm>
          <a:prstGeom xmlns:a="http://schemas.openxmlformats.org/drawingml/2006/main" prst="rect">
            <a:avLst/>
          </a:prstGeom>
        </p:spPr>
      </p:pic>
      <p:sp>
        <p:nvSpPr>
          <p:cNvPr id="39360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599631" y="4292600"/>
            <a:ext cx="165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元宇宙校园</a:t>
            </a:r>
            <a:endParaRPr lang="zh-CN"/>
          </a:p>
        </p:txBody>
      </p:sp>
      <p:sp>
        <p:nvSpPr>
          <p:cNvPr id="78988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31" y="5029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0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17031" y="4940300"/>
            <a:ext cx="25527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构建 4 大沉浸式虚拟场景</a:t>
            </a:r>
            <a:endParaRPr lang="zh-CN"/>
          </a:p>
        </p:txBody>
      </p:sp>
      <p:sp>
        <p:nvSpPr>
          <p:cNvPr id="7898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31" y="5384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0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17031" y="5295900"/>
            <a:ext cx="2959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实时记录并分析访问追踪数据</a:t>
            </a:r>
            <a:endParaRPr lang="zh-CN"/>
          </a:p>
        </p:txBody>
      </p:sp>
      <p:sp>
        <p:nvSpPr>
          <p:cNvPr id="78988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31" y="6350000"/>
            <a:ext cx="4902200" cy="2235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31" y="66167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8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9287803850b47f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066231" y="67437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39360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599631" y="6680200"/>
            <a:ext cx="139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笔记中心</a:t>
            </a:r>
            <a:endParaRPr lang="zh-CN"/>
          </a:p>
        </p:txBody>
      </p:sp>
      <p:sp>
        <p:nvSpPr>
          <p:cNvPr id="7898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31" y="7416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0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17031" y="7327900"/>
            <a:ext cx="3225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提供流畅的 Markdown 编辑体验</a:t>
            </a:r>
            <a:endParaRPr lang="zh-CN"/>
          </a:p>
        </p:txBody>
      </p:sp>
      <p:sp>
        <p:nvSpPr>
          <p:cNvPr id="78988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231" y="7772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0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17031" y="7683500"/>
            <a:ext cx="2959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支持多维标签管理与置顶功能</a:t>
            </a:r>
            <a:endParaRPr lang="zh-CN"/>
          </a:p>
        </p:txBody>
      </p:sp>
      <p:sp>
        <p:nvSpPr>
          <p:cNvPr id="7898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1574800"/>
            <a:ext cx="4902200" cy="2235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965" y="18415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9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72d2fc21a7d4d2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30965" y="19685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39361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764365" y="1905000"/>
            <a:ext cx="215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成长与讲座中心</a:t>
            </a:r>
            <a:endParaRPr lang="zh-CN"/>
          </a:p>
        </p:txBody>
      </p:sp>
      <p:sp>
        <p:nvSpPr>
          <p:cNvPr id="7898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965" y="2641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1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81765" y="2552700"/>
            <a:ext cx="27559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展示成就徽章与活动时间线</a:t>
            </a:r>
            <a:endParaRPr lang="zh-CN"/>
          </a:p>
        </p:txBody>
      </p:sp>
      <p:sp>
        <p:nvSpPr>
          <p:cNvPr id="7898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965" y="2997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1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81765" y="2908300"/>
            <a:ext cx="27559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提供讲座线上线下报名通道</a:t>
            </a:r>
            <a:endParaRPr lang="zh-CN"/>
          </a:p>
        </p:txBody>
      </p:sp>
      <p:sp>
        <p:nvSpPr>
          <p:cNvPr id="7898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3962400"/>
            <a:ext cx="4902200" cy="2235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9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965" y="42291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89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694266db2be4c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46840" y="4356100"/>
            <a:ext cx="228600" cy="254000"/>
          </a:xfrm>
          <a:prstGeom xmlns:a="http://schemas.openxmlformats.org/drawingml/2006/main" prst="rect">
            <a:avLst/>
          </a:prstGeom>
        </p:spPr>
      </p:pic>
      <p:sp>
        <p:nvSpPr>
          <p:cNvPr id="39361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764365" y="4292600"/>
            <a:ext cx="215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校友与师资生态</a:t>
            </a:r>
            <a:endParaRPr lang="zh-CN"/>
          </a:p>
        </p:txBody>
      </p:sp>
      <p:sp>
        <p:nvSpPr>
          <p:cNvPr id="7898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965" y="5029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1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81765" y="4940300"/>
            <a:ext cx="2959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整合校友列表与关联企业信息</a:t>
            </a:r>
            <a:endParaRPr lang="zh-CN"/>
          </a:p>
        </p:txBody>
      </p:sp>
      <p:sp>
        <p:nvSpPr>
          <p:cNvPr id="7898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965" y="5384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1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81765" y="5295900"/>
            <a:ext cx="2959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全面展示导师研究方向与时间</a:t>
            </a:r>
            <a:endParaRPr lang="zh-CN"/>
          </a:p>
        </p:txBody>
      </p:sp>
      <p:sp>
        <p:nvSpPr>
          <p:cNvPr id="7898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65" y="6350000"/>
            <a:ext cx="4902200" cy="2235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89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965" y="66167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0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7b335017f084d6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15090" y="6743700"/>
            <a:ext cx="292100" cy="254000"/>
          </a:xfrm>
          <a:prstGeom xmlns:a="http://schemas.openxmlformats.org/drawingml/2006/main" prst="rect">
            <a:avLst/>
          </a:prstGeom>
        </p:spPr>
      </p:pic>
      <p:sp>
        <p:nvSpPr>
          <p:cNvPr id="39361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764365" y="6680200"/>
            <a:ext cx="241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文化与管理驾驶舱</a:t>
            </a:r>
            <a:endParaRPr lang="zh-CN"/>
          </a:p>
        </p:txBody>
      </p:sp>
      <p:sp>
        <p:nvSpPr>
          <p:cNvPr id="78990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965" y="7416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1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81765" y="7327900"/>
            <a:ext cx="31623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涵盖活动、作品及社团综合管理</a:t>
            </a:r>
            <a:endParaRPr lang="zh-CN"/>
          </a:p>
        </p:txBody>
      </p:sp>
      <p:sp>
        <p:nvSpPr>
          <p:cNvPr id="78990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965" y="7772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1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281765" y="7683500"/>
            <a:ext cx="32385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集成 ECharts 仪表盘与 JVM 监控</a:t>
            </a:r>
            <a:endParaRPr lang="zh-CN"/>
          </a:p>
        </p:txBody>
      </p:sp>
      <p:sp>
        <p:nvSpPr>
          <p:cNvPr id="78990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1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558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19 大核心功能模块矩阵</a:t>
            </a:r>
            <a:endParaRPr lang="zh-CN"/>
          </a:p>
        </p:txBody>
      </p:sp>
      <p:sp>
        <p:nvSpPr>
          <p:cNvPr id="7899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0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90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0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ee01cc50e62483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90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1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2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91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1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1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1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1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4876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1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2098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1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6e2744bf3e64a5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06500" y="2463800"/>
            <a:ext cx="457200" cy="406400"/>
          </a:xfrm>
          <a:prstGeom xmlns:a="http://schemas.openxmlformats.org/drawingml/2006/main" prst="rect">
            <a:avLst/>
          </a:prstGeom>
        </p:spPr>
      </p:pic>
      <p:sp>
        <p:nvSpPr>
          <p:cNvPr id="39362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146300" y="2193925"/>
            <a:ext cx="1714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收藏行为权重</a:t>
            </a:r>
            <a:endParaRPr lang="zh-CN"/>
          </a:p>
        </p:txBody>
      </p:sp>
      <p:sp>
        <p:nvSpPr>
          <p:cNvPr id="39362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146300" y="2530475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4800" b="1">
                <a:solidFill>
                  <a:srgbClr val="0F766E"/>
                </a:solidFill>
                <a:latin typeface="Noto Sans SC"/>
                <a:ea typeface="Noto Sans SC"/>
              </a:rPr>
              <a:t>5.0</a:t>
            </a:r>
            <a:endParaRPr lang="zh-CN"/>
          </a:p>
        </p:txBody>
      </p:sp>
      <p:sp>
        <p:nvSpPr>
          <p:cNvPr id="78991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1524000"/>
            <a:ext cx="4876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1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2098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2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467348832ab49a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13500" y="24638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39362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327900" y="2193925"/>
            <a:ext cx="1612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评分≥4权重</a:t>
            </a:r>
            <a:endParaRPr lang="zh-CN"/>
          </a:p>
        </p:txBody>
      </p:sp>
      <p:sp>
        <p:nvSpPr>
          <p:cNvPr id="39362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327900" y="2530475"/>
            <a:ext cx="218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4800" b="1">
                <a:solidFill>
                  <a:srgbClr val="0F766E"/>
                </a:solidFill>
                <a:latin typeface="Noto Sans SC"/>
                <a:ea typeface="Noto Sans SC"/>
              </a:rPr>
              <a:t>4.0</a:t>
            </a:r>
            <a:endParaRPr lang="zh-CN"/>
          </a:p>
        </p:txBody>
      </p:sp>
      <p:sp>
        <p:nvSpPr>
          <p:cNvPr id="78992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1524000"/>
            <a:ext cx="4876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2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100" y="22098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4899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2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febec346f3d473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95100" y="24638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39362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509500" y="2193925"/>
            <a:ext cx="17145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下载行为权重</a:t>
            </a:r>
            <a:endParaRPr lang="zh-CN"/>
          </a:p>
        </p:txBody>
      </p:sp>
      <p:sp>
        <p:nvSpPr>
          <p:cNvPr id="39362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509500" y="2530475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4800" b="1">
                <a:solidFill>
                  <a:srgbClr val="EC4899"/>
                </a:solidFill>
                <a:latin typeface="Noto Sans SC"/>
                <a:ea typeface="Noto Sans SC"/>
              </a:rPr>
              <a:t>3.0</a:t>
            </a:r>
            <a:endParaRPr lang="zh-CN"/>
          </a:p>
        </p:txBody>
      </p:sp>
      <p:sp>
        <p:nvSpPr>
          <p:cNvPr id="78992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14800"/>
            <a:ext cx="7467600" cy="45212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2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a95eac401234e0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25500" y="44831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39362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81100" y="4419600"/>
            <a:ext cx="241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行为权重对比分析</a:t>
            </a:r>
            <a:endParaRPr lang="zh-CN"/>
          </a:p>
        </p:txBody>
      </p:sp>
      <p:graphicFrame>
        <p:nvGraphicFramePr>
          <p:cNvPr id="462" name="Chart "/>
          <p:cNvGraphicFramePr/>
        </p:nvGraphicFramePr>
        <p:xfrm>
          <a:off xmlns:a="http://schemas.openxmlformats.org/drawingml/2006/main" x="825500" y="4991100"/>
          <a:ext xmlns:a="http://schemas.openxmlformats.org/drawingml/2006/main" cx="6832600" cy="330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415d86b92f49cd"/>
          </a:graphicData>
        </a:graphic>
      </p:graphicFrame>
      <p:sp>
        <p:nvSpPr>
          <p:cNvPr id="78992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114800"/>
            <a:ext cx="7467600" cy="45212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2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83fe7bedbac448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97900" y="4483100"/>
            <a:ext cx="292100" cy="254000"/>
          </a:xfrm>
          <a:prstGeom xmlns:a="http://schemas.openxmlformats.org/drawingml/2006/main" prst="rect">
            <a:avLst/>
          </a:prstGeom>
        </p:spPr>
      </p:pic>
      <p:sp>
        <p:nvSpPr>
          <p:cNvPr id="39362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985250" y="4419600"/>
            <a:ext cx="241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算法四步推荐流程</a:t>
            </a:r>
            <a:endParaRPr lang="zh-CN"/>
          </a:p>
        </p:txBody>
      </p:sp>
      <p:sp>
        <p:nvSpPr>
          <p:cNvPr id="78992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4991100"/>
            <a:ext cx="68326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2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5168900"/>
            <a:ext cx="355600" cy="35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FFFFFF"/>
                </a:solidFill>
                <a:latin typeface="Noto Sans SC"/>
                <a:ea typeface="Noto Sans SC"/>
              </a:rPr>
              <a:t>1</a:t>
            </a:r>
            <a:endParaRPr lang="zh-CN"/>
          </a:p>
        </p:txBody>
      </p:sp>
      <p:sp>
        <p:nvSpPr>
          <p:cNvPr id="39362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5095875"/>
            <a:ext cx="4038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构建加权用户画像</a:t>
            </a:r>
            <a:endParaRPr lang="zh-CN"/>
          </a:p>
        </p:txBody>
      </p:sp>
      <p:sp>
        <p:nvSpPr>
          <p:cNvPr id="39363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5375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基于行为权重与时间衰减函数确保近期行为主导</a:t>
            </a:r>
            <a:endParaRPr lang="zh-CN"/>
          </a:p>
        </p:txBody>
      </p:sp>
      <p:sp>
        <p:nvSpPr>
          <p:cNvPr id="78993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5854700"/>
            <a:ext cx="68326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3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6032500"/>
            <a:ext cx="355600" cy="35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2</a:t>
            </a:r>
            <a:endParaRPr lang="zh-CN"/>
          </a:p>
        </p:txBody>
      </p:sp>
      <p:sp>
        <p:nvSpPr>
          <p:cNvPr id="39363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5959475"/>
            <a:ext cx="279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协同过滤交叉推荐</a:t>
            </a:r>
            <a:endParaRPr lang="zh-CN"/>
          </a:p>
        </p:txBody>
      </p:sp>
      <p:sp>
        <p:nvSpPr>
          <p:cNvPr id="39363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6238875"/>
            <a:ext cx="275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寻找相似用户收藏进行交叉推荐</a:t>
            </a:r>
            <a:endParaRPr lang="zh-CN"/>
          </a:p>
        </p:txBody>
      </p:sp>
      <p:sp>
        <p:nvSpPr>
          <p:cNvPr id="7899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6718300"/>
            <a:ext cx="68326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3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6896100"/>
            <a:ext cx="355600" cy="35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  <a:endParaRPr lang="zh-CN"/>
          </a:p>
        </p:txBody>
      </p:sp>
      <p:sp>
        <p:nvSpPr>
          <p:cNvPr id="39363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6823075"/>
            <a:ext cx="33274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标签LIKE匹配</a:t>
            </a:r>
            <a:endParaRPr lang="zh-CN"/>
          </a:p>
        </p:txBody>
      </p:sp>
      <p:sp>
        <p:nvSpPr>
          <p:cNvPr id="39363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7102475"/>
            <a:ext cx="328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通过标签匹配书名、课程名或讲座标题</a:t>
            </a:r>
            <a:endParaRPr lang="zh-CN"/>
          </a:p>
        </p:txBody>
      </p:sp>
      <p:sp>
        <p:nvSpPr>
          <p:cNvPr id="7899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7581900"/>
            <a:ext cx="68326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3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7759700"/>
            <a:ext cx="355600" cy="35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5563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FFFFFF"/>
                </a:solidFill>
                <a:latin typeface="Noto Sans SC"/>
                <a:ea typeface="Noto Sans SC"/>
              </a:rPr>
              <a:t>4</a:t>
            </a:r>
            <a:endParaRPr lang="zh-CN"/>
          </a:p>
        </p:txBody>
      </p:sp>
      <p:sp>
        <p:nvSpPr>
          <p:cNvPr id="39363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7686675"/>
            <a:ext cx="2971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热门后备策略</a:t>
            </a:r>
            <a:endParaRPr lang="zh-CN"/>
          </a:p>
        </p:txBody>
      </p:sp>
      <p:sp>
        <p:nvSpPr>
          <p:cNvPr id="39363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796607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在无匹配时降级使用热门内容推荐</a:t>
            </a:r>
            <a:endParaRPr lang="zh-CN"/>
          </a:p>
        </p:txBody>
      </p:sp>
      <p:sp>
        <p:nvSpPr>
          <p:cNvPr id="69634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4991100"/>
            <a:ext cx="38100" cy="711200"/>
          </a:xfrm>
          <a:custGeom xmlns:a="http://schemas.openxmlformats.org/drawingml/2006/main">
            <a:avLst/>
            <a:pathLst>
              <a:path w="38100" h="711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654050"/>
                </a:lnTo>
                <a:lnTo>
                  <a:pt x="1433" y="666767"/>
                </a:lnTo>
                <a:lnTo>
                  <a:pt x="5660" y="678846"/>
                </a:lnTo>
                <a:lnTo>
                  <a:pt x="12469" y="689682"/>
                </a:lnTo>
                <a:lnTo>
                  <a:pt x="21518" y="698731"/>
                </a:lnTo>
                <a:lnTo>
                  <a:pt x="32354" y="705540"/>
                </a:lnTo>
                <a:lnTo>
                  <a:pt x="44433" y="709767"/>
                </a:lnTo>
                <a:lnTo>
                  <a:pt x="57150" y="711200"/>
                </a:lnTo>
                <a:lnTo>
                  <a:pt x="50792" y="709767"/>
                </a:lnTo>
                <a:lnTo>
                  <a:pt x="44752" y="705540"/>
                </a:lnTo>
                <a:lnTo>
                  <a:pt x="39334" y="698731"/>
                </a:lnTo>
                <a:lnTo>
                  <a:pt x="34810" y="689682"/>
                </a:lnTo>
                <a:lnTo>
                  <a:pt x="31405" y="678846"/>
                </a:lnTo>
                <a:lnTo>
                  <a:pt x="29292" y="666767"/>
                </a:lnTo>
                <a:lnTo>
                  <a:pt x="28575" y="654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35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5854700"/>
            <a:ext cx="38100" cy="711200"/>
          </a:xfrm>
          <a:custGeom xmlns:a="http://schemas.openxmlformats.org/drawingml/2006/main">
            <a:avLst/>
            <a:pathLst>
              <a:path w="38100" h="711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654050"/>
                </a:lnTo>
                <a:lnTo>
                  <a:pt x="1433" y="666767"/>
                </a:lnTo>
                <a:lnTo>
                  <a:pt x="5660" y="678846"/>
                </a:lnTo>
                <a:lnTo>
                  <a:pt x="12469" y="689682"/>
                </a:lnTo>
                <a:lnTo>
                  <a:pt x="21518" y="698731"/>
                </a:lnTo>
                <a:lnTo>
                  <a:pt x="32354" y="705540"/>
                </a:lnTo>
                <a:lnTo>
                  <a:pt x="44433" y="709767"/>
                </a:lnTo>
                <a:lnTo>
                  <a:pt x="57150" y="711200"/>
                </a:lnTo>
                <a:lnTo>
                  <a:pt x="50792" y="709767"/>
                </a:lnTo>
                <a:lnTo>
                  <a:pt x="44752" y="705540"/>
                </a:lnTo>
                <a:lnTo>
                  <a:pt x="39334" y="698731"/>
                </a:lnTo>
                <a:lnTo>
                  <a:pt x="34810" y="689682"/>
                </a:lnTo>
                <a:lnTo>
                  <a:pt x="31405" y="678846"/>
                </a:lnTo>
                <a:lnTo>
                  <a:pt x="29292" y="666767"/>
                </a:lnTo>
                <a:lnTo>
                  <a:pt x="28575" y="654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36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6718300"/>
            <a:ext cx="38100" cy="711200"/>
          </a:xfrm>
          <a:custGeom xmlns:a="http://schemas.openxmlformats.org/drawingml/2006/main">
            <a:avLst/>
            <a:pathLst>
              <a:path w="38100" h="711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654050"/>
                </a:lnTo>
                <a:lnTo>
                  <a:pt x="1433" y="666767"/>
                </a:lnTo>
                <a:lnTo>
                  <a:pt x="5660" y="678846"/>
                </a:lnTo>
                <a:lnTo>
                  <a:pt x="12469" y="689682"/>
                </a:lnTo>
                <a:lnTo>
                  <a:pt x="21518" y="698731"/>
                </a:lnTo>
                <a:lnTo>
                  <a:pt x="32354" y="705540"/>
                </a:lnTo>
                <a:lnTo>
                  <a:pt x="44433" y="709767"/>
                </a:lnTo>
                <a:lnTo>
                  <a:pt x="57150" y="711200"/>
                </a:lnTo>
                <a:lnTo>
                  <a:pt x="50792" y="709767"/>
                </a:lnTo>
                <a:lnTo>
                  <a:pt x="44752" y="705540"/>
                </a:lnTo>
                <a:lnTo>
                  <a:pt x="39334" y="698731"/>
                </a:lnTo>
                <a:lnTo>
                  <a:pt x="34810" y="689682"/>
                </a:lnTo>
                <a:lnTo>
                  <a:pt x="31405" y="678846"/>
                </a:lnTo>
                <a:lnTo>
                  <a:pt x="29292" y="666767"/>
                </a:lnTo>
                <a:lnTo>
                  <a:pt x="28575" y="654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EC489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37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7581900"/>
            <a:ext cx="38100" cy="711200"/>
          </a:xfrm>
          <a:custGeom xmlns:a="http://schemas.openxmlformats.org/drawingml/2006/main">
            <a:avLst/>
            <a:pathLst>
              <a:path w="38100" h="711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654050"/>
                </a:lnTo>
                <a:lnTo>
                  <a:pt x="1433" y="666767"/>
                </a:lnTo>
                <a:lnTo>
                  <a:pt x="5660" y="678846"/>
                </a:lnTo>
                <a:lnTo>
                  <a:pt x="12469" y="689682"/>
                </a:lnTo>
                <a:lnTo>
                  <a:pt x="21518" y="698731"/>
                </a:lnTo>
                <a:lnTo>
                  <a:pt x="32354" y="705540"/>
                </a:lnTo>
                <a:lnTo>
                  <a:pt x="44433" y="709767"/>
                </a:lnTo>
                <a:lnTo>
                  <a:pt x="57150" y="711200"/>
                </a:lnTo>
                <a:lnTo>
                  <a:pt x="50792" y="709767"/>
                </a:lnTo>
                <a:lnTo>
                  <a:pt x="44752" y="705540"/>
                </a:lnTo>
                <a:lnTo>
                  <a:pt x="39334" y="698731"/>
                </a:lnTo>
                <a:lnTo>
                  <a:pt x="34810" y="689682"/>
                </a:lnTo>
                <a:lnTo>
                  <a:pt x="31405" y="678846"/>
                </a:lnTo>
                <a:lnTo>
                  <a:pt x="29292" y="666767"/>
                </a:lnTo>
                <a:lnTo>
                  <a:pt x="28575" y="654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4B55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3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3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538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智能推荐引擎算法详解</a:t>
            </a:r>
            <a:endParaRPr lang="zh-CN"/>
          </a:p>
        </p:txBody>
      </p:sp>
      <p:sp>
        <p:nvSpPr>
          <p:cNvPr id="78993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3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3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94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4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58b76bcfb8a4ad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94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4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3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94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4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4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4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4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7467600" cy="3556000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4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1879600"/>
            <a:ext cx="127000" cy="12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3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03300" y="1790700"/>
            <a:ext cx="153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0F766E"/>
                </a:solidFill>
                <a:latin typeface="Noto Sans SC"/>
                <a:ea typeface="Noto Sans SC"/>
              </a:rPr>
              <a:t>对话界面预览</a:t>
            </a:r>
            <a:endParaRPr lang="zh-CN"/>
          </a:p>
        </p:txBody>
      </p:sp>
      <p:sp>
        <p:nvSpPr>
          <p:cNvPr id="78995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381" y="2298700"/>
            <a:ext cx="3111500" cy="558800"/>
          </a:xfrm>
          <a:prstGeom xmlns:a="http://schemas.openxmlformats.org/drawingml/2006/main" prst="roundRect">
            <a:avLst>
              <a:gd name="adj" fmla="val 3068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4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853381" y="2451100"/>
            <a:ext cx="29083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帮我写一段 Python 快速排序</a:t>
            </a:r>
            <a:endParaRPr lang="zh-CN"/>
          </a:p>
        </p:txBody>
      </p:sp>
      <p:sp>
        <p:nvSpPr>
          <p:cNvPr id="78995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" y="3060700"/>
            <a:ext cx="3416300" cy="1498600"/>
          </a:xfrm>
          <a:prstGeom xmlns:a="http://schemas.openxmlformats.org/drawingml/2006/main" prst="roundRect">
            <a:avLst>
              <a:gd name="adj" fmla="val 114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F766E">
                <a:alpha val="40000"/>
              </a:srgbClr>
            </a:solidFill>
            <a:prstDash val="solid"/>
            <a:round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4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54100" y="3289300"/>
            <a:ext cx="31623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111827"/>
                </a:solidFill>
                <a:latin typeface="Noto Sans SC"/>
                <a:ea typeface="Noto Sans SC"/>
              </a:rPr>
              <a:t>好的，以下是快速排序的实现：</a:t>
            </a:r>
            <a:endParaRPr lang="zh-CN"/>
          </a:p>
        </p:txBody>
      </p:sp>
      <p:sp>
        <p:nvSpPr>
          <p:cNvPr id="78995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3695700"/>
            <a:ext cx="2857500" cy="635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114300" rIns="80962" bIns="1143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>
                <a:solidFill>
                  <a:srgbClr val="5EEAD4"/>
                </a:solidFill>
                <a:latin typeface="Noto Sans SC"/>
                <a:ea typeface="Noto Sans SC"/>
              </a:rPr>
              <a:t>def quicksort(arr): ...</a:t>
            </a:r>
            <a:endParaRPr lang="zh-CN"/>
          </a:p>
        </p:txBody>
      </p:sp>
      <p:sp>
        <p:nvSpPr>
          <p:cNvPr id="78995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334000"/>
            <a:ext cx="746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5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53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5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cb39ee4df5f487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49312" y="5715000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39364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35100" y="5545531"/>
            <a:ext cx="443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打字机效果</a:t>
            </a:r>
            <a:endParaRPr lang="zh-CN"/>
          </a:p>
        </p:txBody>
      </p:sp>
      <p:sp>
        <p:nvSpPr>
          <p:cNvPr id="39364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35100" y="5882081"/>
            <a:ext cx="43561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逐字渲染输出，模拟真实对话节奏，增强交互沉浸感</a:t>
            </a:r>
            <a:endParaRPr lang="zh-CN"/>
          </a:p>
        </p:txBody>
      </p:sp>
      <p:sp>
        <p:nvSpPr>
          <p:cNvPr id="78995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477000"/>
            <a:ext cx="746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5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183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5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5653dc302664d0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92175" y="6858000"/>
            <a:ext cx="177800" cy="228600"/>
          </a:xfrm>
          <a:prstGeom xmlns:a="http://schemas.openxmlformats.org/drawingml/2006/main" prst="rect">
            <a:avLst/>
          </a:prstGeom>
        </p:spPr>
      </p:pic>
      <p:sp>
        <p:nvSpPr>
          <p:cNvPr id="39364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35100" y="6688531"/>
            <a:ext cx="38481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语音输入</a:t>
            </a:r>
            <a:endParaRPr lang="zh-CN"/>
          </a:p>
        </p:txBody>
      </p:sp>
      <p:sp>
        <p:nvSpPr>
          <p:cNvPr id="39364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35100" y="7025081"/>
            <a:ext cx="37719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集成 Web Speech API，支持语音转文字输入</a:t>
            </a:r>
            <a:endParaRPr lang="zh-CN"/>
          </a:p>
        </p:txBody>
      </p:sp>
      <p:sp>
        <p:nvSpPr>
          <p:cNvPr id="78995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7620000"/>
            <a:ext cx="7467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6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1300"/>
            <a:ext cx="508000" cy="508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6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c0292c561f044e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49312" y="8001000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39364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35100" y="7831531"/>
            <a:ext cx="3416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对话导出</a:t>
            </a:r>
            <a:endParaRPr lang="zh-CN"/>
          </a:p>
        </p:txBody>
      </p:sp>
      <p:sp>
        <p:nvSpPr>
          <p:cNvPr id="39364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35100" y="8168081"/>
            <a:ext cx="33401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一键导出为 .md 文件，方便存档与分享</a:t>
            </a:r>
            <a:endParaRPr lang="zh-CN"/>
          </a:p>
        </p:txBody>
      </p:sp>
      <p:sp>
        <p:nvSpPr>
          <p:cNvPr id="78996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524000"/>
            <a:ext cx="74676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6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0b9e7aa6afe47b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47100" y="1854200"/>
            <a:ext cx="292100" cy="254000"/>
          </a:xfrm>
          <a:prstGeom xmlns:a="http://schemas.openxmlformats.org/drawingml/2006/main" prst="rect">
            <a:avLst/>
          </a:prstGeom>
        </p:spPr>
      </p:pic>
      <p:sp>
        <p:nvSpPr>
          <p:cNvPr id="39364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934450" y="1790700"/>
            <a:ext cx="215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0F766E"/>
                </a:solidFill>
                <a:latin typeface="Noto Sans SC"/>
                <a:ea typeface="Noto Sans SC"/>
              </a:rPr>
              <a:t>三模型自由切换</a:t>
            </a:r>
            <a:endParaRPr lang="zh-CN"/>
          </a:p>
        </p:txBody>
      </p:sp>
      <p:sp>
        <p:nvSpPr>
          <p:cNvPr id="78996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2374900"/>
            <a:ext cx="2197100" cy="1206500"/>
          </a:xfrm>
          <a:prstGeom xmlns:a="http://schemas.openxmlformats.org/drawingml/2006/main" prst="roundRect">
            <a:avLst>
              <a:gd name="adj" fmla="val 6315"/>
            </a:avLst>
          </a:prstGeom>
          <a:solidFill xmlns:a="http://schemas.openxmlformats.org/drawingml/2006/main">
            <a:srgbClr val="5EEAD4">
              <a:alpha val="10000"/>
            </a:srgbClr>
          </a:solidFill>
          <a:ln xmlns:a="http://schemas.openxmlformats.org/drawingml/2006/main" w="25400">
            <a:solidFill>
              <a:srgbClr val="0F766E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4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019971" y="26035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DeepSeek</a:t>
            </a:r>
            <a:endParaRPr lang="zh-CN"/>
          </a:p>
        </p:txBody>
      </p:sp>
      <p:sp>
        <p:nvSpPr>
          <p:cNvPr id="39365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287865" y="30861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代码推理</a:t>
            </a:r>
            <a:endParaRPr lang="zh-CN"/>
          </a:p>
        </p:txBody>
      </p:sp>
      <p:sp>
        <p:nvSpPr>
          <p:cNvPr id="78996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34" y="2374900"/>
            <a:ext cx="2171700" cy="1206500"/>
          </a:xfrm>
          <a:prstGeom xmlns:a="http://schemas.openxmlformats.org/drawingml/2006/main" prst="roundRect">
            <a:avLst>
              <a:gd name="adj" fmla="val 631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5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666143" y="26035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Qwen</a:t>
            </a:r>
            <a:endParaRPr lang="zh-CN"/>
          </a:p>
        </p:txBody>
      </p:sp>
      <p:sp>
        <p:nvSpPr>
          <p:cNvPr id="39365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671300" y="30861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通用对话</a:t>
            </a:r>
            <a:endParaRPr lang="zh-CN"/>
          </a:p>
        </p:txBody>
      </p:sp>
      <p:sp>
        <p:nvSpPr>
          <p:cNvPr id="78996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3917" y="2374900"/>
            <a:ext cx="2171700" cy="1206500"/>
          </a:xfrm>
          <a:prstGeom xmlns:a="http://schemas.openxmlformats.org/drawingml/2006/main" prst="roundRect">
            <a:avLst>
              <a:gd name="adj" fmla="val 631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5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110842" y="2603500"/>
            <a:ext cx="96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Kimi</a:t>
            </a:r>
            <a:endParaRPr lang="zh-CN"/>
          </a:p>
        </p:txBody>
      </p:sp>
      <p:sp>
        <p:nvSpPr>
          <p:cNvPr id="39365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042009" y="308610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长文处理</a:t>
            </a:r>
            <a:endParaRPr lang="zh-CN"/>
          </a:p>
        </p:txBody>
      </p:sp>
      <p:sp>
        <p:nvSpPr>
          <p:cNvPr id="7899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064000"/>
            <a:ext cx="7467600" cy="1701800"/>
          </a:xfrm>
          <a:prstGeom xmlns:a="http://schemas.openxmlformats.org/drawingml/2006/main" prst="roundRect">
            <a:avLst>
              <a:gd name="adj" fmla="val 4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43815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6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bd811c897114d9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718550" y="4533900"/>
            <a:ext cx="266700" cy="304800"/>
          </a:xfrm>
          <a:prstGeom xmlns:a="http://schemas.openxmlformats.org/drawingml/2006/main" prst="rect">
            <a:avLst/>
          </a:prstGeom>
        </p:spPr>
      </p:pic>
      <p:sp>
        <p:nvSpPr>
          <p:cNvPr id="39365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4330700"/>
            <a:ext cx="64516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Function Calling</a:t>
            </a:r>
            <a:endParaRPr lang="zh-CN"/>
          </a:p>
        </p:txBody>
      </p:sp>
      <p:sp>
        <p:nvSpPr>
          <p:cNvPr id="39365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4749800"/>
            <a:ext cx="607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支持代码执行与知识搜索，扩展 AI 能力边界，确保在复杂查询场景下的高效响应与内容准确性。</a:t>
            </a:r>
            <a:endParaRPr lang="zh-CN"/>
          </a:p>
        </p:txBody>
      </p:sp>
      <p:sp>
        <p:nvSpPr>
          <p:cNvPr id="7899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5918200"/>
            <a:ext cx="7467600" cy="1701800"/>
          </a:xfrm>
          <a:prstGeom xmlns:a="http://schemas.openxmlformats.org/drawingml/2006/main" prst="roundRect">
            <a:avLst>
              <a:gd name="adj" fmla="val 4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62357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7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00d72ee95e4445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718550" y="6388100"/>
            <a:ext cx="266700" cy="304800"/>
          </a:xfrm>
          <a:prstGeom xmlns:a="http://schemas.openxmlformats.org/drawingml/2006/main" prst="rect">
            <a:avLst/>
          </a:prstGeom>
        </p:spPr>
      </p:pic>
      <p:sp>
        <p:nvSpPr>
          <p:cNvPr id="39365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6184900"/>
            <a:ext cx="64516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响应缓存机制</a:t>
            </a:r>
            <a:endParaRPr lang="zh-CN"/>
          </a:p>
        </p:txBody>
      </p:sp>
      <p:sp>
        <p:nvSpPr>
          <p:cNvPr id="39365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10700" y="6604000"/>
            <a:ext cx="607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设定 5 分钟 TTL 缓存，重复查询秒级响应，通过底层缓存机制大幅提升系统整体运行效率。</a:t>
            </a:r>
            <a:endParaRPr lang="zh-CN"/>
          </a:p>
        </p:txBody>
      </p:sp>
      <p:sp>
        <p:nvSpPr>
          <p:cNvPr id="7899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7874000"/>
            <a:ext cx="74676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731" y="8001000"/>
            <a:ext cx="1663700" cy="5080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EC489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7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6cef343cff64b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534131" y="81661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9365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813531" y="8102600"/>
            <a:ext cx="113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EC4899"/>
                </a:solidFill>
                <a:latin typeface="Noto Sans SC"/>
                <a:ea typeface="Noto Sans SC"/>
              </a:rPr>
              <a:t>切换模型</a:t>
            </a:r>
            <a:endParaRPr lang="zh-CN"/>
          </a:p>
        </p:txBody>
      </p:sp>
      <p:sp>
        <p:nvSpPr>
          <p:cNvPr id="78997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721" y="8001000"/>
            <a:ext cx="1612900" cy="5080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EC489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7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050283395c9465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490121" y="8166100"/>
            <a:ext cx="139700" cy="177800"/>
          </a:xfrm>
          <a:prstGeom xmlns:a="http://schemas.openxmlformats.org/drawingml/2006/main" prst="rect">
            <a:avLst/>
          </a:prstGeom>
        </p:spPr>
      </p:pic>
      <p:sp>
        <p:nvSpPr>
          <p:cNvPr id="39366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725071" y="8102600"/>
            <a:ext cx="113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EC4899"/>
                </a:solidFill>
                <a:latin typeface="Noto Sans SC"/>
                <a:ea typeface="Noto Sans SC"/>
              </a:rPr>
              <a:t>语音输入</a:t>
            </a:r>
            <a:endParaRPr lang="zh-CN"/>
          </a:p>
        </p:txBody>
      </p:sp>
      <p:sp>
        <p:nvSpPr>
          <p:cNvPr id="78997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2275" y="8001000"/>
            <a:ext cx="1663700" cy="5080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EC489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7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838a75b3ea741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3401675" y="81661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9366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681075" y="8102600"/>
            <a:ext cx="113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EC4899"/>
                </a:solidFill>
                <a:latin typeface="Noto Sans SC"/>
                <a:ea typeface="Noto Sans SC"/>
              </a:rPr>
              <a:t>导出对话</a:t>
            </a:r>
            <a:endParaRPr lang="zh-CN"/>
          </a:p>
        </p:txBody>
      </p:sp>
      <p:sp>
        <p:nvSpPr>
          <p:cNvPr id="78998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6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AI 智能助手交互设计</a:t>
            </a:r>
            <a:endParaRPr lang="zh-CN"/>
          </a:p>
        </p:txBody>
      </p:sp>
      <p:sp>
        <p:nvSpPr>
          <p:cNvPr id="78998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8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9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8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91b6af0268e4ec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9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8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6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9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9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697162"/>
            <a:ext cx="1524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6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3128962"/>
            <a:ext cx="245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7200" b="1">
                <a:solidFill>
                  <a:srgbClr val="0F766E"/>
                </a:solidFill>
                <a:latin typeface="Noto Sans SC"/>
                <a:ea typeface="Noto Sans SC"/>
              </a:rPr>
              <a:t>03</a:t>
            </a:r>
            <a:endParaRPr lang="zh-CN"/>
          </a:p>
        </p:txBody>
      </p:sp>
      <p:sp>
        <p:nvSpPr>
          <p:cNvPr id="39366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4449762"/>
            <a:ext cx="58674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4400" b="1">
                <a:solidFill>
                  <a:srgbClr val="111827"/>
                </a:solidFill>
                <a:latin typeface="Noto Sans SC"/>
                <a:ea typeface="Noto Sans SC"/>
              </a:rPr>
              <a:t>前端创新与安全体系</a:t>
            </a:r>
            <a:endParaRPr lang="zh-CN"/>
          </a:p>
        </p:txBody>
      </p:sp>
      <p:sp>
        <p:nvSpPr>
          <p:cNvPr id="39366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5453062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主题系统与安全防护机制</a:t>
            </a:r>
            <a:endParaRPr lang="zh-CN"/>
          </a:p>
        </p:txBody>
      </p:sp>
      <p:sp>
        <p:nvSpPr>
          <p:cNvPr id="7899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434137"/>
            <a:ext cx="254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3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999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8999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bab02fd0064415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899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6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899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8999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0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0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0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dce4e6e9e2940c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8000" y="1671434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9366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1595234"/>
            <a:ext cx="223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400" b="1">
                <a:solidFill>
                  <a:srgbClr val="0F766E"/>
                </a:solidFill>
                <a:latin typeface="Noto Sans SC"/>
                <a:ea typeface="Noto Sans SC"/>
              </a:rPr>
              <a:t>8 套主题系统</a:t>
            </a:r>
            <a:endParaRPr lang="zh-CN"/>
          </a:p>
        </p:txBody>
      </p:sp>
      <p:sp>
        <p:nvSpPr>
          <p:cNvPr id="39366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08000" y="2154034"/>
            <a:ext cx="746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量子矩阵、赛博霓虹、数据流光、星云幻影、Apple 极简、Notion、微信读书及智慧校园，通过 CSS 变量动态切换。</a:t>
            </a:r>
            <a:endParaRPr lang="zh-CN"/>
          </a:p>
        </p:txBody>
      </p:sp>
      <p:sp>
        <p:nvSpPr>
          <p:cNvPr id="79000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997200"/>
            <a:ext cx="7467600" cy="1752600"/>
          </a:xfrm>
          <a:prstGeom xmlns:a="http://schemas.openxmlformats.org/drawingml/2006/main" prst="roundRect">
            <a:avLst>
              <a:gd name="adj" fmla="val 4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0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128975cfc734f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3130550"/>
            <a:ext cx="292100" cy="228600"/>
          </a:xfrm>
          <a:prstGeom xmlns:a="http://schemas.openxmlformats.org/drawingml/2006/main" prst="rect">
            <a:avLst/>
          </a:prstGeom>
        </p:spPr>
      </p:pic>
      <p:sp>
        <p:nvSpPr>
          <p:cNvPr id="39367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49350" y="30734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量子矩阵（默认暗色）</a:t>
            </a:r>
            <a:endParaRPr lang="zh-CN"/>
          </a:p>
        </p:txBody>
      </p:sp>
      <p:sp>
        <p:nvSpPr>
          <p:cNvPr id="79000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8700"/>
            <a:ext cx="2235200" cy="317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7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63600" y="35941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微软雅黑"/>
                <a:ea typeface="微软雅黑"/>
              </a:rPr>
              <a:t>--bg-space:</a:t>
            </a:r>
            <a:endParaRPr lang="zh-CN"/>
          </a:p>
        </p:txBody>
      </p:sp>
      <p:sp>
        <p:nvSpPr>
          <p:cNvPr id="39367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138756" y="3594100"/>
            <a:ext cx="10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微软雅黑"/>
                <a:ea typeface="微软雅黑"/>
              </a:rPr>
              <a:t>#0a0b1a</a:t>
            </a:r>
            <a:endParaRPr lang="zh-CN"/>
          </a:p>
        </p:txBody>
      </p:sp>
      <p:sp>
        <p:nvSpPr>
          <p:cNvPr id="7900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654300" cy="317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7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63600" y="39878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微软雅黑"/>
                <a:ea typeface="微软雅黑"/>
              </a:rPr>
              <a:t>--primary-holo:</a:t>
            </a:r>
            <a:endParaRPr lang="zh-CN"/>
          </a:p>
        </p:txBody>
      </p:sp>
      <p:sp>
        <p:nvSpPr>
          <p:cNvPr id="39367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565400" y="3987800"/>
            <a:ext cx="10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微软雅黑"/>
                <a:ea typeface="微软雅黑"/>
              </a:rPr>
              <a:t>#e6a817</a:t>
            </a:r>
            <a:endParaRPr lang="zh-CN"/>
          </a:p>
        </p:txBody>
      </p:sp>
      <p:sp>
        <p:nvSpPr>
          <p:cNvPr id="79000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6100"/>
            <a:ext cx="3517900" cy="317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7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63600" y="43815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微软雅黑"/>
                <a:ea typeface="微软雅黑"/>
              </a:rPr>
              <a:t>--ui-glass:</a:t>
            </a:r>
            <a:endParaRPr lang="zh-CN"/>
          </a:p>
        </p:txBody>
      </p:sp>
      <p:sp>
        <p:nvSpPr>
          <p:cNvPr id="39367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138756" y="4381500"/>
            <a:ext cx="229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微软雅黑"/>
                <a:ea typeface="微软雅黑"/>
              </a:rPr>
              <a:t>rgba(30,30,30,0.85)</a:t>
            </a:r>
            <a:endParaRPr lang="zh-CN"/>
          </a:p>
        </p:txBody>
      </p:sp>
      <p:sp>
        <p:nvSpPr>
          <p:cNvPr id="79000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02200"/>
            <a:ext cx="7467600" cy="1752600"/>
          </a:xfrm>
          <a:prstGeom xmlns:a="http://schemas.openxmlformats.org/drawingml/2006/main" prst="roundRect">
            <a:avLst>
              <a:gd name="adj" fmla="val 4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0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8d08d10e68c44f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532903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67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2200" y="5271884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视觉特效</a:t>
            </a:r>
            <a:endParaRPr lang="zh-CN"/>
          </a:p>
        </p:txBody>
      </p:sp>
      <p:sp>
        <p:nvSpPr>
          <p:cNvPr id="39367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62000" y="5716384"/>
            <a:ext cx="701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融合玻璃拟态、金色霓虹扫光及暖色粒子背景，登录页纯 CSS 构建含 20+ 装饰元素的场景。</a:t>
            </a:r>
            <a:endParaRPr lang="zh-CN"/>
          </a:p>
        </p:txBody>
      </p:sp>
      <p:sp>
        <p:nvSpPr>
          <p:cNvPr id="79001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807200"/>
            <a:ext cx="7467600" cy="1752600"/>
          </a:xfrm>
          <a:prstGeom xmlns:a="http://schemas.openxmlformats.org/drawingml/2006/main" prst="roundRect">
            <a:avLst>
              <a:gd name="adj" fmla="val 4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1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9d259db83d245e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0" y="737612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67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2200" y="7318971"/>
            <a:ext cx="138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3D 代码窗</a:t>
            </a:r>
            <a:endParaRPr lang="zh-CN"/>
          </a:p>
        </p:txBody>
      </p:sp>
      <p:sp>
        <p:nvSpPr>
          <p:cNvPr id="39368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62000" y="7763471"/>
            <a:ext cx="73152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以折纸效果展示 CSS 变量定义，增强技术展示的视觉冲击力。</a:t>
            </a:r>
            <a:endParaRPr lang="zh-CN"/>
          </a:p>
        </p:txBody>
      </p:sp>
      <p:pic>
        <p:nvPicPr>
          <p:cNvPr id="79001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81281afde144d5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280400" y="1671434"/>
            <a:ext cx="381000" cy="304800"/>
          </a:xfrm>
          <a:prstGeom xmlns:a="http://schemas.openxmlformats.org/drawingml/2006/main" prst="rect">
            <a:avLst/>
          </a:prstGeom>
        </p:spPr>
      </p:pic>
      <p:sp>
        <p:nvSpPr>
          <p:cNvPr id="39368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63000" y="1595234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400" b="1">
                <a:solidFill>
                  <a:srgbClr val="0F766E"/>
                </a:solidFill>
                <a:latin typeface="Noto Sans SC"/>
                <a:ea typeface="Noto Sans SC"/>
              </a:rPr>
              <a:t>单页架构设计</a:t>
            </a:r>
            <a:endParaRPr lang="zh-CN"/>
          </a:p>
        </p:txBody>
      </p:sp>
      <p:sp>
        <p:nvSpPr>
          <p:cNvPr id="39368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280400" y="2154034"/>
            <a:ext cx="746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采用 iframe + postMessage 通信机制实现轻量级单页应用，前后端分离思想下的高效方案。</a:t>
            </a:r>
            <a:endParaRPr lang="zh-CN"/>
          </a:p>
        </p:txBody>
      </p:sp>
      <p:sp>
        <p:nvSpPr>
          <p:cNvPr id="79001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997200"/>
            <a:ext cx="7467600" cy="1752600"/>
          </a:xfrm>
          <a:prstGeom xmlns:a="http://schemas.openxmlformats.org/drawingml/2006/main" prst="roundRect">
            <a:avLst>
              <a:gd name="adj" fmla="val 4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1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46d9db97d28493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34400" y="342403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68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864600" y="3366884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通信机制</a:t>
            </a:r>
            <a:endParaRPr lang="zh-CN"/>
          </a:p>
        </p:txBody>
      </p:sp>
      <p:sp>
        <p:nvSpPr>
          <p:cNvPr id="39368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534400" y="3811384"/>
            <a:ext cx="701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父页面监听侧边栏点击动态切换 iframe.src，并通过 postMessage 同步主题状态，确保子页面风格一致。</a:t>
            </a:r>
            <a:endParaRPr lang="zh-CN"/>
          </a:p>
        </p:txBody>
      </p:sp>
      <p:sp>
        <p:nvSpPr>
          <p:cNvPr id="79001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902200"/>
            <a:ext cx="7467600" cy="1752600"/>
          </a:xfrm>
          <a:prstGeom xmlns:a="http://schemas.openxmlformats.org/drawingml/2006/main" prst="roundRect">
            <a:avLst>
              <a:gd name="adj" fmla="val 4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1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5db39b9d774400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34400" y="5329034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39368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893175" y="5271884"/>
            <a:ext cx="184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3D 通信示意图</a:t>
            </a:r>
            <a:endParaRPr lang="zh-CN"/>
          </a:p>
        </p:txBody>
      </p:sp>
      <p:sp>
        <p:nvSpPr>
          <p:cNvPr id="39368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534400" y="5716384"/>
            <a:ext cx="701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以 3D 波浪线连接父页面与 iframe，金色数据点在线上流动，直观呈现数据交互过程。</a:t>
            </a:r>
            <a:endParaRPr lang="zh-CN"/>
          </a:p>
        </p:txBody>
      </p:sp>
      <p:sp>
        <p:nvSpPr>
          <p:cNvPr id="79001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6807200"/>
            <a:ext cx="7467600" cy="1752600"/>
          </a:xfrm>
          <a:prstGeom xmlns:a="http://schemas.openxmlformats.org/drawingml/2006/main" prst="roundRect">
            <a:avLst>
              <a:gd name="adj" fmla="val 4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1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4dd798dcd7d446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34400" y="7234034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39368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893175" y="7176884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架构优势</a:t>
            </a:r>
            <a:endParaRPr lang="zh-CN"/>
          </a:p>
        </p:txBody>
      </p:sp>
      <p:sp>
        <p:nvSpPr>
          <p:cNvPr id="39368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534400" y="7621384"/>
            <a:ext cx="701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6666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模块化加载、主题状态全局同步、视觉体验统一，完美实现轻量级单页应用方案。</a:t>
            </a:r>
            <a:endParaRPr lang="zh-CN"/>
          </a:p>
        </p:txBody>
      </p:sp>
      <p:sp>
        <p:nvSpPr>
          <p:cNvPr id="69638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997200"/>
            <a:ext cx="38100" cy="1752600"/>
          </a:xfrm>
          <a:custGeom xmlns:a="http://schemas.openxmlformats.org/drawingml/2006/main">
            <a:avLst/>
            <a:pathLst>
              <a:path w="38100" h="17526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1695450"/>
                </a:lnTo>
                <a:lnTo>
                  <a:pt x="1433" y="1708167"/>
                </a:lnTo>
                <a:lnTo>
                  <a:pt x="5660" y="1720246"/>
                </a:lnTo>
                <a:lnTo>
                  <a:pt x="12469" y="1731082"/>
                </a:lnTo>
                <a:lnTo>
                  <a:pt x="21518" y="1740131"/>
                </a:lnTo>
                <a:lnTo>
                  <a:pt x="32354" y="1746940"/>
                </a:lnTo>
                <a:lnTo>
                  <a:pt x="44433" y="1751167"/>
                </a:lnTo>
                <a:lnTo>
                  <a:pt x="57150" y="1752600"/>
                </a:lnTo>
                <a:lnTo>
                  <a:pt x="50792" y="1751167"/>
                </a:lnTo>
                <a:lnTo>
                  <a:pt x="44752" y="1746940"/>
                </a:lnTo>
                <a:lnTo>
                  <a:pt x="39334" y="1740131"/>
                </a:lnTo>
                <a:lnTo>
                  <a:pt x="34810" y="1731082"/>
                </a:lnTo>
                <a:lnTo>
                  <a:pt x="31405" y="1720246"/>
                </a:lnTo>
                <a:lnTo>
                  <a:pt x="29292" y="1708167"/>
                </a:lnTo>
                <a:lnTo>
                  <a:pt x="28575" y="16954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39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02200"/>
            <a:ext cx="38100" cy="1752600"/>
          </a:xfrm>
          <a:custGeom xmlns:a="http://schemas.openxmlformats.org/drawingml/2006/main">
            <a:avLst/>
            <a:pathLst>
              <a:path w="38100" h="17526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1695450"/>
                </a:lnTo>
                <a:lnTo>
                  <a:pt x="1433" y="1708167"/>
                </a:lnTo>
                <a:lnTo>
                  <a:pt x="5660" y="1720246"/>
                </a:lnTo>
                <a:lnTo>
                  <a:pt x="12469" y="1731082"/>
                </a:lnTo>
                <a:lnTo>
                  <a:pt x="21518" y="1740131"/>
                </a:lnTo>
                <a:lnTo>
                  <a:pt x="32354" y="1746940"/>
                </a:lnTo>
                <a:lnTo>
                  <a:pt x="44433" y="1751167"/>
                </a:lnTo>
                <a:lnTo>
                  <a:pt x="57150" y="1752600"/>
                </a:lnTo>
                <a:lnTo>
                  <a:pt x="50792" y="1751167"/>
                </a:lnTo>
                <a:lnTo>
                  <a:pt x="44752" y="1746940"/>
                </a:lnTo>
                <a:lnTo>
                  <a:pt x="39334" y="1740131"/>
                </a:lnTo>
                <a:lnTo>
                  <a:pt x="34810" y="1731082"/>
                </a:lnTo>
                <a:lnTo>
                  <a:pt x="31405" y="1720246"/>
                </a:lnTo>
                <a:lnTo>
                  <a:pt x="29292" y="1708167"/>
                </a:lnTo>
                <a:lnTo>
                  <a:pt x="28575" y="16954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40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807200"/>
            <a:ext cx="38100" cy="1752600"/>
          </a:xfrm>
          <a:custGeom xmlns:a="http://schemas.openxmlformats.org/drawingml/2006/main">
            <a:avLst/>
            <a:pathLst>
              <a:path w="38100" h="17526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1695450"/>
                </a:lnTo>
                <a:lnTo>
                  <a:pt x="1433" y="1708167"/>
                </a:lnTo>
                <a:lnTo>
                  <a:pt x="5660" y="1720246"/>
                </a:lnTo>
                <a:lnTo>
                  <a:pt x="12469" y="1731082"/>
                </a:lnTo>
                <a:lnTo>
                  <a:pt x="21518" y="1740131"/>
                </a:lnTo>
                <a:lnTo>
                  <a:pt x="32354" y="1746940"/>
                </a:lnTo>
                <a:lnTo>
                  <a:pt x="44433" y="1751167"/>
                </a:lnTo>
                <a:lnTo>
                  <a:pt x="57150" y="1752600"/>
                </a:lnTo>
                <a:lnTo>
                  <a:pt x="50792" y="1751167"/>
                </a:lnTo>
                <a:lnTo>
                  <a:pt x="44752" y="1746940"/>
                </a:lnTo>
                <a:lnTo>
                  <a:pt x="39334" y="1740131"/>
                </a:lnTo>
                <a:lnTo>
                  <a:pt x="34810" y="1731082"/>
                </a:lnTo>
                <a:lnTo>
                  <a:pt x="31405" y="1720246"/>
                </a:lnTo>
                <a:lnTo>
                  <a:pt x="29292" y="1708167"/>
                </a:lnTo>
                <a:lnTo>
                  <a:pt x="28575" y="16954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EC489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41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997200"/>
            <a:ext cx="38100" cy="1752600"/>
          </a:xfrm>
          <a:custGeom xmlns:a="http://schemas.openxmlformats.org/drawingml/2006/main">
            <a:avLst/>
            <a:pathLst>
              <a:path w="38100" h="17526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1695450"/>
                </a:lnTo>
                <a:lnTo>
                  <a:pt x="1433" y="1708167"/>
                </a:lnTo>
                <a:lnTo>
                  <a:pt x="5660" y="1720246"/>
                </a:lnTo>
                <a:lnTo>
                  <a:pt x="12469" y="1731082"/>
                </a:lnTo>
                <a:lnTo>
                  <a:pt x="21518" y="1740131"/>
                </a:lnTo>
                <a:lnTo>
                  <a:pt x="32354" y="1746940"/>
                </a:lnTo>
                <a:lnTo>
                  <a:pt x="44433" y="1751167"/>
                </a:lnTo>
                <a:lnTo>
                  <a:pt x="57150" y="1752600"/>
                </a:lnTo>
                <a:lnTo>
                  <a:pt x="50792" y="1751167"/>
                </a:lnTo>
                <a:lnTo>
                  <a:pt x="44752" y="1746940"/>
                </a:lnTo>
                <a:lnTo>
                  <a:pt x="39334" y="1740131"/>
                </a:lnTo>
                <a:lnTo>
                  <a:pt x="34810" y="1731082"/>
                </a:lnTo>
                <a:lnTo>
                  <a:pt x="31405" y="1720246"/>
                </a:lnTo>
                <a:lnTo>
                  <a:pt x="29292" y="1708167"/>
                </a:lnTo>
                <a:lnTo>
                  <a:pt x="28575" y="16954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42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902200"/>
            <a:ext cx="38100" cy="1752600"/>
          </a:xfrm>
          <a:custGeom xmlns:a="http://schemas.openxmlformats.org/drawingml/2006/main">
            <a:avLst/>
            <a:pathLst>
              <a:path w="38100" h="17526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1695450"/>
                </a:lnTo>
                <a:lnTo>
                  <a:pt x="1433" y="1708167"/>
                </a:lnTo>
                <a:lnTo>
                  <a:pt x="5660" y="1720246"/>
                </a:lnTo>
                <a:lnTo>
                  <a:pt x="12469" y="1731082"/>
                </a:lnTo>
                <a:lnTo>
                  <a:pt x="21518" y="1740131"/>
                </a:lnTo>
                <a:lnTo>
                  <a:pt x="32354" y="1746940"/>
                </a:lnTo>
                <a:lnTo>
                  <a:pt x="44433" y="1751167"/>
                </a:lnTo>
                <a:lnTo>
                  <a:pt x="57150" y="1752600"/>
                </a:lnTo>
                <a:lnTo>
                  <a:pt x="50792" y="1751167"/>
                </a:lnTo>
                <a:lnTo>
                  <a:pt x="44752" y="1746940"/>
                </a:lnTo>
                <a:lnTo>
                  <a:pt x="39334" y="1740131"/>
                </a:lnTo>
                <a:lnTo>
                  <a:pt x="34810" y="1731082"/>
                </a:lnTo>
                <a:lnTo>
                  <a:pt x="31405" y="1720246"/>
                </a:lnTo>
                <a:lnTo>
                  <a:pt x="29292" y="1708167"/>
                </a:lnTo>
                <a:lnTo>
                  <a:pt x="28575" y="16954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43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6807200"/>
            <a:ext cx="38100" cy="1752600"/>
          </a:xfrm>
          <a:custGeom xmlns:a="http://schemas.openxmlformats.org/drawingml/2006/main">
            <a:avLst/>
            <a:pathLst>
              <a:path w="38100" h="17526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1695450"/>
                </a:lnTo>
                <a:lnTo>
                  <a:pt x="1433" y="1708167"/>
                </a:lnTo>
                <a:lnTo>
                  <a:pt x="5660" y="1720246"/>
                </a:lnTo>
                <a:lnTo>
                  <a:pt x="12469" y="1731082"/>
                </a:lnTo>
                <a:lnTo>
                  <a:pt x="21518" y="1740131"/>
                </a:lnTo>
                <a:lnTo>
                  <a:pt x="32354" y="1746940"/>
                </a:lnTo>
                <a:lnTo>
                  <a:pt x="44433" y="1751167"/>
                </a:lnTo>
                <a:lnTo>
                  <a:pt x="57150" y="1752600"/>
                </a:lnTo>
                <a:lnTo>
                  <a:pt x="50792" y="1751167"/>
                </a:lnTo>
                <a:lnTo>
                  <a:pt x="44752" y="1746940"/>
                </a:lnTo>
                <a:lnTo>
                  <a:pt x="39334" y="1740131"/>
                </a:lnTo>
                <a:lnTo>
                  <a:pt x="34810" y="1731082"/>
                </a:lnTo>
                <a:lnTo>
                  <a:pt x="31405" y="1720246"/>
                </a:lnTo>
                <a:lnTo>
                  <a:pt x="29292" y="1708167"/>
                </a:lnTo>
                <a:lnTo>
                  <a:pt x="28575" y="16954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EC489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1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8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4914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前端主题与单页架构</a:t>
            </a:r>
            <a:endParaRPr lang="zh-CN"/>
          </a:p>
        </p:txBody>
      </p:sp>
      <p:sp>
        <p:nvSpPr>
          <p:cNvPr id="79002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2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2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002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2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4454e43359b41a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9002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2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69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9002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2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2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3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3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74676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3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891d663764a476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74700" y="182245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39369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30300" y="1790700"/>
            <a:ext cx="1905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F766E"/>
                </a:solidFill>
                <a:latin typeface="Noto Sans SC"/>
                <a:ea typeface="Noto Sans SC"/>
              </a:rPr>
              <a:t>核心安全措施</a:t>
            </a:r>
            <a:endParaRPr lang="zh-CN"/>
          </a:p>
        </p:txBody>
      </p:sp>
      <p:sp>
        <p:nvSpPr>
          <p:cNvPr id="39369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74700" y="22796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EC4899"/>
                </a:solidFill>
                <a:latin typeface="Noto Sans SC"/>
                <a:ea typeface="Noto Sans SC"/>
              </a:rPr>
              <a:t>01</a:t>
            </a:r>
            <a:endParaRPr lang="zh-CN"/>
          </a:p>
        </p:txBody>
      </p:sp>
      <p:sp>
        <p:nvSpPr>
          <p:cNvPr id="39369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1900" y="2279650"/>
            <a:ext cx="497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111827"/>
                </a:solidFill>
                <a:latin typeface="Noto Sans SC"/>
                <a:ea typeface="Noto Sans SC"/>
              </a:rPr>
              <a:t>采用 BCrypt 加盐哈希（12 rounds）存储密码</a:t>
            </a:r>
            <a:endParaRPr lang="zh-CN"/>
          </a:p>
        </p:txBody>
      </p:sp>
      <p:sp>
        <p:nvSpPr>
          <p:cNvPr id="39369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74700" y="27622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EC4899"/>
                </a:solidFill>
                <a:latin typeface="Noto Sans SC"/>
                <a:ea typeface="Noto Sans SC"/>
              </a:rPr>
              <a:t>02</a:t>
            </a:r>
            <a:endParaRPr lang="zh-CN"/>
          </a:p>
        </p:txBody>
      </p:sp>
      <p:sp>
        <p:nvSpPr>
          <p:cNvPr id="39369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1900" y="2762250"/>
            <a:ext cx="444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111827"/>
                </a:solidFill>
                <a:latin typeface="Noto Sans SC"/>
                <a:ea typeface="Noto Sans SC"/>
              </a:rPr>
              <a:t>使用 PreparedStatement 防止 SQL 注入</a:t>
            </a:r>
            <a:endParaRPr lang="zh-CN"/>
          </a:p>
        </p:txBody>
      </p:sp>
      <p:sp>
        <p:nvSpPr>
          <p:cNvPr id="39369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74700" y="32448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EC4899"/>
                </a:solidFill>
                <a:latin typeface="Noto Sans SC"/>
                <a:ea typeface="Noto Sans SC"/>
              </a:rPr>
              <a:t>03</a:t>
            </a:r>
            <a:endParaRPr lang="zh-CN"/>
          </a:p>
        </p:txBody>
      </p:sp>
      <p:sp>
        <p:nvSpPr>
          <p:cNvPr id="39369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1900" y="324485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111827"/>
                </a:solidFill>
                <a:latin typeface="Noto Sans SC"/>
                <a:ea typeface="Noto Sans SC"/>
              </a:rPr>
              <a:t>实施 JSP 与 JS 双重转义防御 XSS 攻击</a:t>
            </a:r>
            <a:endParaRPr lang="zh-CN"/>
          </a:p>
        </p:txBody>
      </p:sp>
      <p:sp>
        <p:nvSpPr>
          <p:cNvPr id="39369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74700" y="37274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EC4899"/>
                </a:solidFill>
                <a:latin typeface="Noto Sans SC"/>
                <a:ea typeface="Noto Sans SC"/>
              </a:rPr>
              <a:t>04</a:t>
            </a:r>
            <a:endParaRPr lang="zh-CN"/>
          </a:p>
        </p:txBody>
      </p:sp>
      <p:sp>
        <p:nvSpPr>
          <p:cNvPr id="39369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1900" y="3727450"/>
            <a:ext cx="466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111827"/>
                </a:solidFill>
                <a:latin typeface="Noto Sans SC"/>
                <a:ea typeface="Noto Sans SC"/>
              </a:rPr>
              <a:t>每会话生成 CSRF Token 防止跨站请求伪造</a:t>
            </a:r>
            <a:endParaRPr lang="zh-CN"/>
          </a:p>
        </p:txBody>
      </p:sp>
      <p:sp>
        <p:nvSpPr>
          <p:cNvPr id="39370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74700" y="42100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EC4899"/>
                </a:solidFill>
                <a:latin typeface="Noto Sans SC"/>
                <a:ea typeface="Noto Sans SC"/>
              </a:rPr>
              <a:t>05</a:t>
            </a:r>
            <a:endParaRPr lang="zh-CN"/>
          </a:p>
        </p:txBody>
      </p:sp>
      <p:sp>
        <p:nvSpPr>
          <p:cNvPr id="39370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1900" y="421005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111827"/>
                </a:solidFill>
                <a:latin typeface="Noto Sans SC"/>
                <a:ea typeface="Noto Sans SC"/>
              </a:rPr>
              <a:t>部署全局异常过滤器隐藏敏感信息</a:t>
            </a:r>
            <a:endParaRPr lang="zh-CN"/>
          </a:p>
        </p:txBody>
      </p:sp>
      <p:sp>
        <p:nvSpPr>
          <p:cNvPr id="39370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74700" y="46926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EC4899"/>
                </a:solidFill>
                <a:latin typeface="Noto Sans SC"/>
                <a:ea typeface="Noto Sans SC"/>
              </a:rPr>
              <a:t>06</a:t>
            </a:r>
            <a:endParaRPr lang="zh-CN"/>
          </a:p>
        </p:txBody>
      </p:sp>
      <p:sp>
        <p:nvSpPr>
          <p:cNvPr id="39370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1900" y="4692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>
                <a:solidFill>
                  <a:srgbClr val="111827"/>
                </a:solidFill>
                <a:latin typeface="Noto Sans SC"/>
                <a:ea typeface="Noto Sans SC"/>
              </a:rPr>
              <a:t>设计软删除机制确保核心数据可恢复</a:t>
            </a:r>
            <a:endParaRPr lang="zh-CN"/>
          </a:p>
        </p:txBody>
      </p:sp>
      <p:sp>
        <p:nvSpPr>
          <p:cNvPr id="79003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537200"/>
            <a:ext cx="7467600" cy="30988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4B5563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3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caf15b0e02248b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23900" y="5778500"/>
            <a:ext cx="254000" cy="203200"/>
          </a:xfrm>
          <a:prstGeom xmlns:a="http://schemas.openxmlformats.org/drawingml/2006/main" prst="rect">
            <a:avLst/>
          </a:prstGeom>
        </p:spPr>
      </p:pic>
      <p:sp>
        <p:nvSpPr>
          <p:cNvPr id="39370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79500" y="5753100"/>
            <a:ext cx="18542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 b="1">
                <a:solidFill>
                  <a:srgbClr val="5EEAD4"/>
                </a:solidFill>
                <a:latin typeface="Noto Sans SC"/>
                <a:ea typeface="Noto Sans SC"/>
              </a:rPr>
              <a:t>BCrypt 示例代码</a:t>
            </a:r>
            <a:endParaRPr lang="zh-CN"/>
          </a:p>
        </p:txBody>
      </p:sp>
      <p:sp>
        <p:nvSpPr>
          <p:cNvPr id="39370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23900" y="6159500"/>
            <a:ext cx="70358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微软雅黑"/>
                <a:ea typeface="微软雅黑"/>
              </a:rPr>
              <a:t>// 密码加密存储</a:t>
            </a:r>
            <a:r>
              <a:rPr lang="zh-CN" sz="1400">
                <a:solidFill>
                  <a:srgbClr val="F3F4F6"/>
                </a:solidFill>
                <a:latin typeface="微软雅黑"/>
                <a:ea typeface="微软雅黑"/>
              </a:rPr>
              <a:t> String hashed = BCrypt.hashpw(password, BCrypt.gensalt(</a:t>
            </a:r>
            <a:r>
              <a:rPr lang="zh-CN" sz="1400" b="1">
                <a:solidFill>
                  <a:srgbClr val="EC4899"/>
                </a:solidFill>
                <a:latin typeface="微软雅黑"/>
                <a:ea typeface="微软雅黑"/>
              </a:rPr>
              <a:t>12</a:t>
            </a:r>
            <a:r>
              <a:rPr lang="zh-CN" sz="1400">
                <a:solidFill>
                  <a:srgbClr val="F3F4F6"/>
                </a:solidFill>
                <a:latin typeface="微软雅黑"/>
                <a:ea typeface="微软雅黑"/>
              </a:rPr>
              <a:t>)); </a:t>
            </a:r>
            <a:r>
              <a:rPr lang="zh-CN" sz="1400">
                <a:solidFill>
                  <a:srgbClr val="4B5563"/>
                </a:solidFill>
                <a:latin typeface="微软雅黑"/>
                <a:ea typeface="微软雅黑"/>
              </a:rPr>
              <a:t>// 密码校验</a:t>
            </a:r>
            <a:r>
              <a:rPr lang="zh-CN" sz="1400">
                <a:solidFill>
                  <a:srgbClr val="F3F4F6"/>
                </a:solidFill>
                <a:latin typeface="微软雅黑"/>
                <a:ea typeface="微软雅黑"/>
              </a:rPr>
              <a:t> boolean match = BCrypt.checkpw(password, hashed);</a:t>
            </a:r>
            <a:endParaRPr lang="zh-CN"/>
          </a:p>
        </p:txBody>
      </p:sp>
      <p:sp>
        <p:nvSpPr>
          <p:cNvPr id="79003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524000"/>
            <a:ext cx="7467600" cy="4318000"/>
          </a:xfrm>
          <a:prstGeom xmlns:a="http://schemas.openxmlformats.org/drawingml/2006/main" prst="roundRect">
            <a:avLst>
              <a:gd name="adj" fmla="val 17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3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d1264da608f4e6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47100" y="182245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39370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902700" y="1790700"/>
            <a:ext cx="24638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F766E"/>
                </a:solidFill>
                <a:latin typeface="Noto Sans SC"/>
                <a:ea typeface="Noto Sans SC"/>
              </a:rPr>
              <a:t>SQL 注入防护对比</a:t>
            </a:r>
            <a:endParaRPr lang="zh-CN"/>
          </a:p>
        </p:txBody>
      </p:sp>
      <p:sp>
        <p:nvSpPr>
          <p:cNvPr id="79003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2311400"/>
            <a:ext cx="3365500" cy="3289300"/>
          </a:xfrm>
          <a:prstGeom xmlns:a="http://schemas.openxmlformats.org/drawingml/2006/main" prst="roundRect">
            <a:avLst>
              <a:gd name="adj" fmla="val 231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3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a5153f34efc413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775700" y="2590800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9370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080500" y="2540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DC2626"/>
                </a:solidFill>
                <a:latin typeface="Noto Sans SC"/>
                <a:ea typeface="Noto Sans SC"/>
              </a:rPr>
              <a:t>不安全：SQL 拼接</a:t>
            </a:r>
            <a:endParaRPr lang="zh-CN"/>
          </a:p>
        </p:txBody>
      </p:sp>
      <p:sp>
        <p:nvSpPr>
          <p:cNvPr id="39370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75700" y="2997200"/>
            <a:ext cx="29083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300">
                <a:solidFill>
                  <a:srgbClr val="111827"/>
                </a:solidFill>
                <a:latin typeface="微软雅黑"/>
                <a:ea typeface="微软雅黑"/>
              </a:rPr>
              <a:t>String sql = "SELECT * FROM users WHERE username='" + </a:t>
            </a:r>
            <a:r>
              <a:rPr lang="zh-CN" sz="1300" b="1">
                <a:solidFill>
                  <a:srgbClr val="111827"/>
                </a:solidFill>
                <a:latin typeface="微软雅黑"/>
                <a:ea typeface="微软雅黑"/>
              </a:rPr>
              <a:t>user</a:t>
            </a:r>
            <a:r>
              <a:rPr lang="zh-CN" sz="1300">
                <a:solidFill>
                  <a:srgbClr val="111827"/>
                </a:solidFill>
                <a:latin typeface="微软雅黑"/>
                <a:ea typeface="微软雅黑"/>
              </a:rPr>
              <a:t> + "' AND pass='" + </a:t>
            </a:r>
            <a:r>
              <a:rPr lang="zh-CN" sz="1300" b="1">
                <a:solidFill>
                  <a:srgbClr val="111827"/>
                </a:solidFill>
                <a:latin typeface="微软雅黑"/>
                <a:ea typeface="微软雅黑"/>
              </a:rPr>
              <a:t>pass</a:t>
            </a:r>
            <a:r>
              <a:rPr lang="zh-CN" sz="1300">
                <a:solidFill>
                  <a:srgbClr val="111827"/>
                </a:solidFill>
                <a:latin typeface="微软雅黑"/>
                <a:ea typeface="微软雅黑"/>
              </a:rPr>
              <a:t> + "'"; Statement stmt = conn.createStatement(); ResultSet rs = stmt.executeQuery(sql);</a:t>
            </a:r>
            <a:endParaRPr lang="zh-CN"/>
          </a:p>
        </p:txBody>
      </p:sp>
      <p:sp>
        <p:nvSpPr>
          <p:cNvPr id="79003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311400"/>
            <a:ext cx="3365500" cy="3289300"/>
          </a:xfrm>
          <a:prstGeom xmlns:a="http://schemas.openxmlformats.org/drawingml/2006/main" prst="roundRect">
            <a:avLst>
              <a:gd name="adj" fmla="val 231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4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b43642a9fe24a8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344400" y="2590800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9370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649200" y="25400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16A34A"/>
                </a:solidFill>
                <a:latin typeface="Noto Sans SC"/>
                <a:ea typeface="Noto Sans SC"/>
              </a:rPr>
              <a:t>安全：参数化查询</a:t>
            </a:r>
            <a:endParaRPr lang="zh-CN"/>
          </a:p>
        </p:txBody>
      </p:sp>
      <p:sp>
        <p:nvSpPr>
          <p:cNvPr id="39371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44400" y="2997200"/>
            <a:ext cx="29083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300">
                <a:solidFill>
                  <a:srgbClr val="111827"/>
                </a:solidFill>
                <a:latin typeface="微软雅黑"/>
                <a:ea typeface="微软雅黑"/>
              </a:rPr>
              <a:t>String sql = "SELECT * FROM users WHERE username=</a:t>
            </a:r>
            <a:r>
              <a:rPr lang="zh-CN" sz="1300" b="1">
                <a:solidFill>
                  <a:srgbClr val="111827"/>
                </a:solidFill>
                <a:latin typeface="微软雅黑"/>
                <a:ea typeface="微软雅黑"/>
              </a:rPr>
              <a:t>?</a:t>
            </a:r>
            <a:r>
              <a:rPr lang="zh-CN" sz="1300">
                <a:solidFill>
                  <a:srgbClr val="111827"/>
                </a:solidFill>
                <a:latin typeface="微软雅黑"/>
                <a:ea typeface="微软雅黑"/>
              </a:rPr>
              <a:t> AND pass=</a:t>
            </a:r>
            <a:r>
              <a:rPr lang="zh-CN" sz="1300" b="1">
                <a:solidFill>
                  <a:srgbClr val="111827"/>
                </a:solidFill>
                <a:latin typeface="微软雅黑"/>
                <a:ea typeface="微软雅黑"/>
              </a:rPr>
              <a:t>?</a:t>
            </a:r>
            <a:r>
              <a:rPr lang="zh-CN" sz="1300">
                <a:solidFill>
                  <a:srgbClr val="111827"/>
                </a:solidFill>
                <a:latin typeface="微软雅黑"/>
                <a:ea typeface="微软雅黑"/>
              </a:rPr>
              <a:t>"; PreparedStatement ps = conn.prepareStatement(sql); ps.setString(1, user); ps.setString(2, pass); ResultSet rs = ps.executeQuery();</a:t>
            </a:r>
            <a:endParaRPr lang="zh-CN"/>
          </a:p>
        </p:txBody>
      </p:sp>
      <p:sp>
        <p:nvSpPr>
          <p:cNvPr id="79004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6045200"/>
            <a:ext cx="74676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4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17e9670b57b419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547100" y="6343650"/>
            <a:ext cx="292100" cy="254000"/>
          </a:xfrm>
          <a:prstGeom xmlns:a="http://schemas.openxmlformats.org/drawingml/2006/main" prst="rect">
            <a:avLst/>
          </a:prstGeom>
        </p:spPr>
      </p:pic>
      <p:sp>
        <p:nvSpPr>
          <p:cNvPr id="39371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934450" y="6311900"/>
            <a:ext cx="1905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000" b="1">
                <a:solidFill>
                  <a:srgbClr val="0F766E"/>
                </a:solidFill>
                <a:latin typeface="Noto Sans SC"/>
                <a:ea typeface="Noto Sans SC"/>
              </a:rPr>
              <a:t>其他防御机制</a:t>
            </a:r>
            <a:endParaRPr lang="zh-CN"/>
          </a:p>
        </p:txBody>
      </p:sp>
      <p:sp>
        <p:nvSpPr>
          <p:cNvPr id="79004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6781800"/>
            <a:ext cx="33909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1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50300" y="6873875"/>
            <a:ext cx="3340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XSS 防御</a:t>
            </a:r>
            <a:endParaRPr lang="zh-CN"/>
          </a:p>
        </p:txBody>
      </p:sp>
      <p:sp>
        <p:nvSpPr>
          <p:cNvPr id="39371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50300" y="7178675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JSP 与 JS 双重转义输出</a:t>
            </a:r>
            <a:endParaRPr lang="zh-CN"/>
          </a:p>
        </p:txBody>
      </p:sp>
      <p:sp>
        <p:nvSpPr>
          <p:cNvPr id="79004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6781800"/>
            <a:ext cx="33909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1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293600" y="6873875"/>
            <a:ext cx="3340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CSRF 防御</a:t>
            </a:r>
            <a:endParaRPr lang="zh-CN"/>
          </a:p>
        </p:txBody>
      </p:sp>
      <p:sp>
        <p:nvSpPr>
          <p:cNvPr id="39371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293600" y="7178675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每会话生成 CSRF Token</a:t>
            </a:r>
            <a:endParaRPr lang="zh-CN"/>
          </a:p>
        </p:txBody>
      </p:sp>
      <p:sp>
        <p:nvSpPr>
          <p:cNvPr id="79004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7645400"/>
            <a:ext cx="33909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1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50300" y="7737475"/>
            <a:ext cx="3340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异常处理</a:t>
            </a:r>
            <a:endParaRPr lang="zh-CN"/>
          </a:p>
        </p:txBody>
      </p:sp>
      <p:sp>
        <p:nvSpPr>
          <p:cNvPr id="39371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50300" y="8042275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全局过滤器隐藏敏感信息</a:t>
            </a:r>
            <a:endParaRPr lang="zh-CN"/>
          </a:p>
        </p:txBody>
      </p:sp>
      <p:sp>
        <p:nvSpPr>
          <p:cNvPr id="79004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7645400"/>
            <a:ext cx="3390900" cy="711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1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293600" y="7737475"/>
            <a:ext cx="33401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数据恢复</a:t>
            </a:r>
            <a:endParaRPr lang="zh-CN"/>
          </a:p>
        </p:txBody>
      </p:sp>
      <p:sp>
        <p:nvSpPr>
          <p:cNvPr id="39371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293600" y="8042275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软删除机制防误删</a:t>
            </a:r>
            <a:endParaRPr lang="zh-CN"/>
          </a:p>
        </p:txBody>
      </p:sp>
      <p:sp>
        <p:nvSpPr>
          <p:cNvPr id="69644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6781800"/>
            <a:ext cx="38100" cy="711200"/>
          </a:xfrm>
          <a:custGeom xmlns:a="http://schemas.openxmlformats.org/drawingml/2006/main">
            <a:avLst/>
            <a:pathLst>
              <a:path w="38100" h="711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654050"/>
                </a:lnTo>
                <a:lnTo>
                  <a:pt x="1433" y="666767"/>
                </a:lnTo>
                <a:lnTo>
                  <a:pt x="5660" y="678846"/>
                </a:lnTo>
                <a:lnTo>
                  <a:pt x="12469" y="689682"/>
                </a:lnTo>
                <a:lnTo>
                  <a:pt x="21518" y="698731"/>
                </a:lnTo>
                <a:lnTo>
                  <a:pt x="32354" y="705540"/>
                </a:lnTo>
                <a:lnTo>
                  <a:pt x="44433" y="709767"/>
                </a:lnTo>
                <a:lnTo>
                  <a:pt x="57150" y="711200"/>
                </a:lnTo>
                <a:lnTo>
                  <a:pt x="50792" y="709767"/>
                </a:lnTo>
                <a:lnTo>
                  <a:pt x="44752" y="705540"/>
                </a:lnTo>
                <a:lnTo>
                  <a:pt x="39334" y="698731"/>
                </a:lnTo>
                <a:lnTo>
                  <a:pt x="34810" y="689682"/>
                </a:lnTo>
                <a:lnTo>
                  <a:pt x="31405" y="678846"/>
                </a:lnTo>
                <a:lnTo>
                  <a:pt x="29292" y="666767"/>
                </a:lnTo>
                <a:lnTo>
                  <a:pt x="28575" y="654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45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6781800"/>
            <a:ext cx="38100" cy="711200"/>
          </a:xfrm>
          <a:custGeom xmlns:a="http://schemas.openxmlformats.org/drawingml/2006/main">
            <a:avLst/>
            <a:pathLst>
              <a:path w="38100" h="711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654050"/>
                </a:lnTo>
                <a:lnTo>
                  <a:pt x="1433" y="666767"/>
                </a:lnTo>
                <a:lnTo>
                  <a:pt x="5660" y="678846"/>
                </a:lnTo>
                <a:lnTo>
                  <a:pt x="12469" y="689682"/>
                </a:lnTo>
                <a:lnTo>
                  <a:pt x="21518" y="698731"/>
                </a:lnTo>
                <a:lnTo>
                  <a:pt x="32354" y="705540"/>
                </a:lnTo>
                <a:lnTo>
                  <a:pt x="44433" y="709767"/>
                </a:lnTo>
                <a:lnTo>
                  <a:pt x="57150" y="711200"/>
                </a:lnTo>
                <a:lnTo>
                  <a:pt x="50792" y="709767"/>
                </a:lnTo>
                <a:lnTo>
                  <a:pt x="44752" y="705540"/>
                </a:lnTo>
                <a:lnTo>
                  <a:pt x="39334" y="698731"/>
                </a:lnTo>
                <a:lnTo>
                  <a:pt x="34810" y="689682"/>
                </a:lnTo>
                <a:lnTo>
                  <a:pt x="31405" y="678846"/>
                </a:lnTo>
                <a:lnTo>
                  <a:pt x="29292" y="666767"/>
                </a:lnTo>
                <a:lnTo>
                  <a:pt x="28575" y="654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EC489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46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7645400"/>
            <a:ext cx="38100" cy="711200"/>
          </a:xfrm>
          <a:custGeom xmlns:a="http://schemas.openxmlformats.org/drawingml/2006/main">
            <a:avLst/>
            <a:pathLst>
              <a:path w="38100" h="711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654050"/>
                </a:lnTo>
                <a:lnTo>
                  <a:pt x="1433" y="666767"/>
                </a:lnTo>
                <a:lnTo>
                  <a:pt x="5660" y="678846"/>
                </a:lnTo>
                <a:lnTo>
                  <a:pt x="12469" y="689682"/>
                </a:lnTo>
                <a:lnTo>
                  <a:pt x="21518" y="698731"/>
                </a:lnTo>
                <a:lnTo>
                  <a:pt x="32354" y="705540"/>
                </a:lnTo>
                <a:lnTo>
                  <a:pt x="44433" y="709767"/>
                </a:lnTo>
                <a:lnTo>
                  <a:pt x="57150" y="711200"/>
                </a:lnTo>
                <a:lnTo>
                  <a:pt x="50792" y="709767"/>
                </a:lnTo>
                <a:lnTo>
                  <a:pt x="44752" y="705540"/>
                </a:lnTo>
                <a:lnTo>
                  <a:pt x="39334" y="698731"/>
                </a:lnTo>
                <a:lnTo>
                  <a:pt x="34810" y="689682"/>
                </a:lnTo>
                <a:lnTo>
                  <a:pt x="31405" y="678846"/>
                </a:lnTo>
                <a:lnTo>
                  <a:pt x="29292" y="666767"/>
                </a:lnTo>
                <a:lnTo>
                  <a:pt x="28575" y="654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47" name="BorderLine_lef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7645400"/>
            <a:ext cx="38100" cy="711200"/>
          </a:xfrm>
          <a:custGeom xmlns:a="http://schemas.openxmlformats.org/drawingml/2006/main">
            <a:avLst/>
            <a:pathLst>
              <a:path w="38100" h="711200">
                <a:moveTo>
                  <a:pt x="57150" y="0"/>
                </a:moveTo>
                <a:lnTo>
                  <a:pt x="44433" y="1433"/>
                </a:lnTo>
                <a:lnTo>
                  <a:pt x="32354" y="5660"/>
                </a:lnTo>
                <a:lnTo>
                  <a:pt x="21518" y="12469"/>
                </a:lnTo>
                <a:lnTo>
                  <a:pt x="12469" y="21518"/>
                </a:lnTo>
                <a:lnTo>
                  <a:pt x="5660" y="32354"/>
                </a:lnTo>
                <a:lnTo>
                  <a:pt x="1433" y="44433"/>
                </a:lnTo>
                <a:lnTo>
                  <a:pt x="0" y="57150"/>
                </a:lnTo>
                <a:lnTo>
                  <a:pt x="0" y="654050"/>
                </a:lnTo>
                <a:lnTo>
                  <a:pt x="1433" y="666767"/>
                </a:lnTo>
                <a:lnTo>
                  <a:pt x="5660" y="678846"/>
                </a:lnTo>
                <a:lnTo>
                  <a:pt x="12469" y="689682"/>
                </a:lnTo>
                <a:lnTo>
                  <a:pt x="21518" y="698731"/>
                </a:lnTo>
                <a:lnTo>
                  <a:pt x="32354" y="705540"/>
                </a:lnTo>
                <a:lnTo>
                  <a:pt x="44433" y="709767"/>
                </a:lnTo>
                <a:lnTo>
                  <a:pt x="57150" y="711200"/>
                </a:lnTo>
                <a:lnTo>
                  <a:pt x="50792" y="709767"/>
                </a:lnTo>
                <a:lnTo>
                  <a:pt x="44752" y="705540"/>
                </a:lnTo>
                <a:lnTo>
                  <a:pt x="39334" y="698731"/>
                </a:lnTo>
                <a:lnTo>
                  <a:pt x="34810" y="689682"/>
                </a:lnTo>
                <a:lnTo>
                  <a:pt x="31405" y="678846"/>
                </a:lnTo>
                <a:lnTo>
                  <a:pt x="29292" y="666767"/>
                </a:lnTo>
                <a:lnTo>
                  <a:pt x="28575" y="654050"/>
                </a:lnTo>
                <a:lnTo>
                  <a:pt x="28575" y="57150"/>
                </a:lnTo>
                <a:lnTo>
                  <a:pt x="29292" y="44433"/>
                </a:lnTo>
                <a:lnTo>
                  <a:pt x="31405" y="32354"/>
                </a:lnTo>
                <a:lnTo>
                  <a:pt x="34810" y="21518"/>
                </a:lnTo>
                <a:lnTo>
                  <a:pt x="39334" y="12469"/>
                </a:lnTo>
                <a:lnTo>
                  <a:pt x="44752" y="5660"/>
                </a:lnTo>
                <a:lnTo>
                  <a:pt x="50792" y="1433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4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5d87e57a712459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88100" y="3746500"/>
            <a:ext cx="1270000" cy="1270000"/>
          </a:xfrm>
          <a:prstGeom xmlns:a="http://schemas.openxmlformats.org/drawingml/2006/main" prst="rect">
            <a:avLst/>
          </a:prstGeom>
        </p:spPr>
      </p:pic>
      <p:pic>
        <p:nvPicPr>
          <p:cNvPr id="79004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9b17ad4eb124eb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925300" y="3708400"/>
            <a:ext cx="203200" cy="304800"/>
          </a:xfrm>
          <a:prstGeom xmlns:a="http://schemas.openxmlformats.org/drawingml/2006/main" prst="rect">
            <a:avLst/>
          </a:prstGeom>
        </p:spPr>
      </p:pic>
      <p:sp>
        <p:nvSpPr>
          <p:cNvPr id="79004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2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4914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全方位安全防护体系</a:t>
            </a:r>
            <a:endParaRPr lang="zh-CN"/>
          </a:p>
        </p:txBody>
      </p:sp>
      <p:sp>
        <p:nvSpPr>
          <p:cNvPr id="79005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5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5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005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5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621f65092244b5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9005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5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2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9005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5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5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6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697162"/>
            <a:ext cx="1524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2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3128962"/>
            <a:ext cx="245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7200" b="1">
                <a:solidFill>
                  <a:srgbClr val="0F766E"/>
                </a:solidFill>
                <a:latin typeface="Noto Sans SC"/>
                <a:ea typeface="Noto Sans SC"/>
              </a:rPr>
              <a:t>04</a:t>
            </a:r>
            <a:endParaRPr lang="zh-CN"/>
          </a:p>
        </p:txBody>
      </p:sp>
      <p:sp>
        <p:nvSpPr>
          <p:cNvPr id="39372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4449762"/>
            <a:ext cx="58674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4400" b="1">
                <a:solidFill>
                  <a:srgbClr val="111827"/>
                </a:solidFill>
                <a:latin typeface="Noto Sans SC"/>
                <a:ea typeface="Noto Sans SC"/>
              </a:rPr>
              <a:t>创新成果与总结展望</a:t>
            </a:r>
            <a:endParaRPr lang="zh-CN"/>
          </a:p>
        </p:txBody>
      </p:sp>
      <p:sp>
        <p:nvSpPr>
          <p:cNvPr id="39372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11200" y="5453062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33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创新成果总结与未来展望</a:t>
            </a:r>
            <a:endParaRPr lang="zh-CN"/>
          </a:p>
        </p:txBody>
      </p:sp>
      <p:sp>
        <p:nvSpPr>
          <p:cNvPr id="79006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434137"/>
            <a:ext cx="254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3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00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6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0ec29dc3cfe4a0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9006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6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2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900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6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6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3556000" cy="7112000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7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1828800"/>
            <a:ext cx="1016000" cy="101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7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7140adeb1c0436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032000" y="2082800"/>
            <a:ext cx="508000" cy="508000"/>
          </a:xfrm>
          <a:prstGeom xmlns:a="http://schemas.openxmlformats.org/drawingml/2006/main" prst="rect">
            <a:avLst/>
          </a:prstGeom>
        </p:spPr>
      </p:pic>
      <p:sp>
        <p:nvSpPr>
          <p:cNvPr id="39372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676400" y="30861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400" b="1">
                <a:solidFill>
                  <a:srgbClr val="111827"/>
                </a:solidFill>
                <a:latin typeface="Noto Sans SC"/>
                <a:ea typeface="Noto Sans SC"/>
              </a:rPr>
              <a:t>技术创新</a:t>
            </a:r>
            <a:endParaRPr lang="zh-CN"/>
          </a:p>
        </p:txBody>
      </p:sp>
      <p:sp>
        <p:nvSpPr>
          <p:cNvPr id="79007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7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d577f803118405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23925" y="4102100"/>
            <a:ext cx="292100" cy="228600"/>
          </a:xfrm>
          <a:prstGeom xmlns:a="http://schemas.openxmlformats.org/drawingml/2006/main" prst="rect">
            <a:avLst/>
          </a:prstGeom>
        </p:spPr>
      </p:pic>
      <p:sp>
        <p:nvSpPr>
          <p:cNvPr id="39372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71600" y="39193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坚持纯原生架构，无Spring框架</a:t>
            </a:r>
            <a:endParaRPr lang="zh-CN"/>
          </a:p>
        </p:txBody>
      </p:sp>
      <p:sp>
        <p:nvSpPr>
          <p:cNvPr id="79007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52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7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1462a6cbed44d8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23925" y="5067300"/>
            <a:ext cx="292100" cy="228600"/>
          </a:xfrm>
          <a:prstGeom xmlns:a="http://schemas.openxmlformats.org/drawingml/2006/main" prst="rect">
            <a:avLst/>
          </a:prstGeom>
        </p:spPr>
      </p:pic>
      <p:sp>
        <p:nvSpPr>
          <p:cNvPr id="39372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71600" y="48845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自研推荐引擎，深入底层细节</a:t>
            </a:r>
            <a:endParaRPr lang="zh-CN"/>
          </a:p>
        </p:txBody>
      </p:sp>
      <p:sp>
        <p:nvSpPr>
          <p:cNvPr id="79007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04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7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1c7b1217ce24a7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66787" y="6032500"/>
            <a:ext cx="203200" cy="228600"/>
          </a:xfrm>
          <a:prstGeom xmlns:a="http://schemas.openxmlformats.org/drawingml/2006/main" prst="rect">
            <a:avLst/>
          </a:prstGeom>
        </p:spPr>
      </p:pic>
      <p:sp>
        <p:nvSpPr>
          <p:cNvPr id="39372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71600" y="58497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采用HikariCP连接池提升性能</a:t>
            </a:r>
            <a:endParaRPr lang="zh-CN"/>
          </a:p>
        </p:txBody>
      </p:sp>
      <p:sp>
        <p:nvSpPr>
          <p:cNvPr id="79008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8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ef88b317b3a44b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52500" y="6997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73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71600" y="68149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全局异常过滤器保障稳定性</a:t>
            </a:r>
            <a:endParaRPr lang="zh-CN"/>
          </a:p>
        </p:txBody>
      </p:sp>
      <p:sp>
        <p:nvSpPr>
          <p:cNvPr id="7900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" y="7994650"/>
            <a:ext cx="1028700" cy="368300"/>
          </a:xfrm>
          <a:prstGeom xmlns:a="http://schemas.openxmlformats.org/drawingml/2006/main" prst="roundRect">
            <a:avLst>
              <a:gd name="adj" fmla="val 20689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Noto Sans SC"/>
                <a:ea typeface="Noto Sans SC"/>
              </a:rPr>
              <a:t>无Spring</a:t>
            </a:r>
            <a:endParaRPr lang="zh-CN"/>
          </a:p>
        </p:txBody>
      </p:sp>
      <p:sp>
        <p:nvSpPr>
          <p:cNvPr id="79008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562" y="7994650"/>
            <a:ext cx="1016000" cy="368300"/>
          </a:xfrm>
          <a:prstGeom xmlns:a="http://schemas.openxmlformats.org/drawingml/2006/main" prst="roundRect">
            <a:avLst>
              <a:gd name="adj" fmla="val 20689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Noto Sans SC"/>
                <a:ea typeface="Noto Sans SC"/>
              </a:rPr>
              <a:t>自研引擎</a:t>
            </a:r>
            <a:endParaRPr lang="zh-CN"/>
          </a:p>
        </p:txBody>
      </p:sp>
      <p:sp>
        <p:nvSpPr>
          <p:cNvPr id="7900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556000" cy="7112000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8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1828800"/>
            <a:ext cx="1016000" cy="101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8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9f7ad3b23494ef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73750" y="2082800"/>
            <a:ext cx="571500" cy="508000"/>
          </a:xfrm>
          <a:prstGeom xmlns:a="http://schemas.openxmlformats.org/drawingml/2006/main" prst="rect">
            <a:avLst/>
          </a:prstGeom>
        </p:spPr>
      </p:pic>
      <p:sp>
        <p:nvSpPr>
          <p:cNvPr id="39373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549900" y="30861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400" b="1">
                <a:solidFill>
                  <a:srgbClr val="111827"/>
                </a:solidFill>
                <a:latin typeface="Noto Sans SC"/>
                <a:ea typeface="Noto Sans SC"/>
              </a:rPr>
              <a:t>设计创新</a:t>
            </a:r>
            <a:endParaRPr lang="zh-CN"/>
          </a:p>
        </p:txBody>
      </p:sp>
      <p:sp>
        <p:nvSpPr>
          <p:cNvPr id="79008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8100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8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79cfe78dfe447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26000" y="41021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73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245100" y="39193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构建8套主题系统基于CSS变量</a:t>
            </a:r>
            <a:endParaRPr lang="zh-CN"/>
          </a:p>
        </p:txBody>
      </p:sp>
      <p:sp>
        <p:nvSpPr>
          <p:cNvPr id="7900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7752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9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b84cfac7a2d4df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26000" y="5067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73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245100" y="5032971"/>
            <a:ext cx="241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应用玻璃拟态UI风格</a:t>
            </a:r>
            <a:endParaRPr lang="zh-CN"/>
          </a:p>
        </p:txBody>
      </p:sp>
      <p:sp>
        <p:nvSpPr>
          <p:cNvPr id="7900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57404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9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aee9a370b03444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26000" y="6032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73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245100" y="58497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iframe单页架构配合设计</a:t>
            </a:r>
            <a:endParaRPr lang="zh-CN"/>
          </a:p>
        </p:txBody>
      </p:sp>
      <p:sp>
        <p:nvSpPr>
          <p:cNvPr id="7900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67056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9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40e0d75e8e6498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26000" y="6997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73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245100" y="68149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postMessage通信机制实现</a:t>
            </a:r>
            <a:endParaRPr lang="zh-CN"/>
          </a:p>
        </p:txBody>
      </p:sp>
      <p:sp>
        <p:nvSpPr>
          <p:cNvPr id="79009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953" y="7994650"/>
            <a:ext cx="977900" cy="368300"/>
          </a:xfrm>
          <a:prstGeom xmlns:a="http://schemas.openxmlformats.org/drawingml/2006/main" prst="roundRect">
            <a:avLst>
              <a:gd name="adj" fmla="val 20689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Noto Sans SC"/>
                <a:ea typeface="Noto Sans SC"/>
              </a:rPr>
              <a:t>CSS变量</a:t>
            </a:r>
            <a:endParaRPr lang="zh-CN"/>
          </a:p>
        </p:txBody>
      </p:sp>
      <p:sp>
        <p:nvSpPr>
          <p:cNvPr id="7900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046" y="7994650"/>
            <a:ext cx="1016000" cy="368300"/>
          </a:xfrm>
          <a:prstGeom xmlns:a="http://schemas.openxmlformats.org/drawingml/2006/main" prst="roundRect">
            <a:avLst>
              <a:gd name="adj" fmla="val 20689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Noto Sans SC"/>
                <a:ea typeface="Noto Sans SC"/>
              </a:rPr>
              <a:t>玻璃拟态</a:t>
            </a:r>
            <a:endParaRPr lang="zh-CN"/>
          </a:p>
        </p:txBody>
      </p:sp>
      <p:sp>
        <p:nvSpPr>
          <p:cNvPr id="79009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524000"/>
            <a:ext cx="3556000" cy="7112000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0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28800"/>
            <a:ext cx="1016000" cy="101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09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f9de867be19406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842500" y="2082800"/>
            <a:ext cx="381000" cy="508000"/>
          </a:xfrm>
          <a:prstGeom xmlns:a="http://schemas.openxmlformats.org/drawingml/2006/main" prst="rect">
            <a:avLst/>
          </a:prstGeom>
        </p:spPr>
      </p:pic>
      <p:sp>
        <p:nvSpPr>
          <p:cNvPr id="39373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423400" y="30861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400" b="1">
                <a:solidFill>
                  <a:srgbClr val="111827"/>
                </a:solidFill>
                <a:latin typeface="Noto Sans SC"/>
                <a:ea typeface="Noto Sans SC"/>
              </a:rPr>
              <a:t>功能创新</a:t>
            </a:r>
            <a:endParaRPr lang="zh-CN"/>
          </a:p>
        </p:txBody>
      </p:sp>
      <p:sp>
        <p:nvSpPr>
          <p:cNvPr id="79010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8100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0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9260c8978914c7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670925" y="4102100"/>
            <a:ext cx="292100" cy="228600"/>
          </a:xfrm>
          <a:prstGeom xmlns:a="http://schemas.openxmlformats.org/drawingml/2006/main" prst="rect">
            <a:avLst/>
          </a:prstGeom>
        </p:spPr>
      </p:pic>
      <p:sp>
        <p:nvSpPr>
          <p:cNvPr id="39373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18600" y="39193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打造元宇宙校园4大核心场景</a:t>
            </a:r>
            <a:endParaRPr lang="zh-CN"/>
          </a:p>
        </p:txBody>
      </p:sp>
      <p:sp>
        <p:nvSpPr>
          <p:cNvPr id="79010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7752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0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4e7758c655a4fa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699500" y="5067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73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18600" y="48845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沉浸自习室含番茄钟与成就</a:t>
            </a:r>
            <a:endParaRPr lang="zh-CN"/>
          </a:p>
        </p:txBody>
      </p:sp>
      <p:sp>
        <p:nvSpPr>
          <p:cNvPr id="7901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57404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0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e0fee9b7953470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670925" y="6032500"/>
            <a:ext cx="292100" cy="228600"/>
          </a:xfrm>
          <a:prstGeom xmlns:a="http://schemas.openxmlformats.org/drawingml/2006/main" prst="rect">
            <a:avLst/>
          </a:prstGeom>
        </p:spPr>
      </p:pic>
      <p:sp>
        <p:nvSpPr>
          <p:cNvPr id="39373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18600" y="58497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集成AI辅助内容审核功能</a:t>
            </a:r>
            <a:endParaRPr lang="zh-CN"/>
          </a:p>
        </p:txBody>
      </p:sp>
      <p:sp>
        <p:nvSpPr>
          <p:cNvPr id="7901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67056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0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f0719cc14f04d4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670925" y="6997700"/>
            <a:ext cx="292100" cy="228600"/>
          </a:xfrm>
          <a:prstGeom xmlns:a="http://schemas.openxmlformats.org/drawingml/2006/main" prst="rect">
            <a:avLst/>
          </a:prstGeom>
        </p:spPr>
      </p:pic>
      <p:sp>
        <p:nvSpPr>
          <p:cNvPr id="39374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18600" y="68149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实现私信双向软删除机制</a:t>
            </a:r>
            <a:endParaRPr lang="zh-CN"/>
          </a:p>
        </p:txBody>
      </p:sp>
      <p:sp>
        <p:nvSpPr>
          <p:cNvPr id="79010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994650"/>
            <a:ext cx="838200" cy="368300"/>
          </a:xfrm>
          <a:prstGeom xmlns:a="http://schemas.openxmlformats.org/drawingml/2006/main" prst="roundRect">
            <a:avLst>
              <a:gd name="adj" fmla="val 20689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Noto Sans SC"/>
                <a:ea typeface="Noto Sans SC"/>
              </a:rPr>
              <a:t>元宇宙</a:t>
            </a:r>
            <a:endParaRPr lang="zh-CN"/>
          </a:p>
        </p:txBody>
      </p:sp>
      <p:sp>
        <p:nvSpPr>
          <p:cNvPr id="79010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7994650"/>
            <a:ext cx="838200" cy="368300"/>
          </a:xfrm>
          <a:prstGeom xmlns:a="http://schemas.openxmlformats.org/drawingml/2006/main" prst="roundRect">
            <a:avLst>
              <a:gd name="adj" fmla="val 20689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Noto Sans SC"/>
                <a:ea typeface="Noto Sans SC"/>
              </a:rPr>
              <a:t>番茄钟</a:t>
            </a:r>
            <a:endParaRPr lang="zh-CN"/>
          </a:p>
        </p:txBody>
      </p:sp>
      <p:sp>
        <p:nvSpPr>
          <p:cNvPr id="79011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500" y="1524000"/>
            <a:ext cx="3556000" cy="7112000"/>
          </a:xfrm>
          <a:prstGeom xmlns:a="http://schemas.openxmlformats.org/drawingml/2006/main" prst="roundRect">
            <a:avLst>
              <a:gd name="adj" fmla="val 2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1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0" y="1828800"/>
            <a:ext cx="1016000" cy="101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1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2e889bef155472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3684250" y="2082800"/>
            <a:ext cx="444500" cy="508000"/>
          </a:xfrm>
          <a:prstGeom xmlns:a="http://schemas.openxmlformats.org/drawingml/2006/main" prst="rect">
            <a:avLst/>
          </a:prstGeom>
        </p:spPr>
      </p:pic>
      <p:sp>
        <p:nvSpPr>
          <p:cNvPr id="39374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296900" y="30861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2400" b="1">
                <a:solidFill>
                  <a:srgbClr val="111827"/>
                </a:solidFill>
                <a:latin typeface="Noto Sans SC"/>
                <a:ea typeface="Noto Sans SC"/>
              </a:rPr>
              <a:t>工程质量</a:t>
            </a:r>
            <a:endParaRPr lang="zh-CN"/>
          </a:p>
        </p:txBody>
      </p:sp>
      <p:sp>
        <p:nvSpPr>
          <p:cNvPr id="79011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8100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1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911ce2f18e545c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573000" y="41021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74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92100" y="39193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全面采用资源自动关闭机制</a:t>
            </a:r>
            <a:endParaRPr lang="zh-CN"/>
          </a:p>
        </p:txBody>
      </p:sp>
      <p:sp>
        <p:nvSpPr>
          <p:cNvPr id="79011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7752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1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38a11bea6f341f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573000" y="5067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74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92100" y="48845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独立配置外置(jdbc/mail/ai)</a:t>
            </a:r>
            <a:endParaRPr lang="zh-CN"/>
          </a:p>
        </p:txBody>
      </p:sp>
      <p:sp>
        <p:nvSpPr>
          <p:cNvPr id="79011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7404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1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9c4a79d0049420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573000" y="6032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74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92100" y="58497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预置1355行高质量种子数据</a:t>
            </a:r>
            <a:endParaRPr lang="zh-CN"/>
          </a:p>
        </p:txBody>
      </p:sp>
      <p:sp>
        <p:nvSpPr>
          <p:cNvPr id="79011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705600"/>
            <a:ext cx="3048000" cy="812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2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8ee235e45c748b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558712" y="6997700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39374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992100" y="6814934"/>
            <a:ext cx="228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实施严格的模块化分包管理</a:t>
            </a:r>
            <a:endParaRPr lang="zh-CN"/>
          </a:p>
        </p:txBody>
      </p:sp>
      <p:sp>
        <p:nvSpPr>
          <p:cNvPr id="79012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8600" y="7994650"/>
            <a:ext cx="1016000" cy="368300"/>
          </a:xfrm>
          <a:prstGeom xmlns:a="http://schemas.openxmlformats.org/drawingml/2006/main" prst="roundRect">
            <a:avLst>
              <a:gd name="adj" fmla="val 20689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Noto Sans SC"/>
                <a:ea typeface="Noto Sans SC"/>
              </a:rPr>
              <a:t>自动关闭</a:t>
            </a:r>
            <a:endParaRPr lang="zh-CN"/>
          </a:p>
        </p:txBody>
      </p:sp>
      <p:sp>
        <p:nvSpPr>
          <p:cNvPr id="79012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6200" y="7994650"/>
            <a:ext cx="838200" cy="368300"/>
          </a:xfrm>
          <a:prstGeom xmlns:a="http://schemas.openxmlformats.org/drawingml/2006/main" prst="roundRect">
            <a:avLst>
              <a:gd name="adj" fmla="val 20689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80962" tIns="38100" rIns="80962" bIns="381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>
                <a:solidFill>
                  <a:srgbClr val="0F766E"/>
                </a:solidFill>
                <a:latin typeface="Noto Sans SC"/>
                <a:ea typeface="Noto Sans SC"/>
              </a:rPr>
              <a:t>模块化</a:t>
            </a:r>
            <a:endParaRPr lang="zh-CN"/>
          </a:p>
        </p:txBody>
      </p:sp>
      <p:sp>
        <p:nvSpPr>
          <p:cNvPr id="69648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3556000" cy="38100"/>
          </a:xfrm>
          <a:custGeom xmlns:a="http://schemas.openxmlformats.org/drawingml/2006/main">
            <a:avLst/>
            <a:pathLst>
              <a:path w="3556000" h="38100">
                <a:moveTo>
                  <a:pt x="0" y="57150"/>
                </a:moveTo>
                <a:lnTo>
                  <a:pt x="1433" y="44433"/>
                </a:lnTo>
                <a:lnTo>
                  <a:pt x="5660" y="32354"/>
                </a:lnTo>
                <a:lnTo>
                  <a:pt x="12469" y="21518"/>
                </a:lnTo>
                <a:lnTo>
                  <a:pt x="21518" y="12469"/>
                </a:lnTo>
                <a:lnTo>
                  <a:pt x="32354" y="5660"/>
                </a:lnTo>
                <a:lnTo>
                  <a:pt x="44433" y="1433"/>
                </a:lnTo>
                <a:lnTo>
                  <a:pt x="57150" y="0"/>
                </a:lnTo>
                <a:lnTo>
                  <a:pt x="3498850" y="0"/>
                </a:lnTo>
                <a:lnTo>
                  <a:pt x="3511567" y="1433"/>
                </a:lnTo>
                <a:lnTo>
                  <a:pt x="3523646" y="5660"/>
                </a:lnTo>
                <a:lnTo>
                  <a:pt x="3534482" y="12469"/>
                </a:lnTo>
                <a:lnTo>
                  <a:pt x="3543531" y="21518"/>
                </a:lnTo>
                <a:lnTo>
                  <a:pt x="3550340" y="32354"/>
                </a:lnTo>
                <a:lnTo>
                  <a:pt x="3554567" y="44433"/>
                </a:lnTo>
                <a:lnTo>
                  <a:pt x="3556000" y="57150"/>
                </a:lnTo>
                <a:lnTo>
                  <a:pt x="3554567" y="50792"/>
                </a:lnTo>
                <a:lnTo>
                  <a:pt x="3550340" y="44752"/>
                </a:lnTo>
                <a:lnTo>
                  <a:pt x="3543531" y="39334"/>
                </a:lnTo>
                <a:lnTo>
                  <a:pt x="3534482" y="34810"/>
                </a:lnTo>
                <a:lnTo>
                  <a:pt x="3523646" y="31405"/>
                </a:lnTo>
                <a:lnTo>
                  <a:pt x="3511567" y="29292"/>
                </a:lnTo>
                <a:lnTo>
                  <a:pt x="3498850" y="28575"/>
                </a:lnTo>
                <a:lnTo>
                  <a:pt x="57150" y="28575"/>
                </a:lnTo>
                <a:lnTo>
                  <a:pt x="44433" y="29292"/>
                </a:lnTo>
                <a:lnTo>
                  <a:pt x="32354" y="31405"/>
                </a:lnTo>
                <a:lnTo>
                  <a:pt x="21518" y="34810"/>
                </a:lnTo>
                <a:lnTo>
                  <a:pt x="12469" y="39334"/>
                </a:lnTo>
                <a:lnTo>
                  <a:pt x="5660" y="44752"/>
                </a:lnTo>
                <a:lnTo>
                  <a:pt x="1433" y="50792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49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556000" cy="38100"/>
          </a:xfrm>
          <a:custGeom xmlns:a="http://schemas.openxmlformats.org/drawingml/2006/main">
            <a:avLst/>
            <a:pathLst>
              <a:path w="3556000" h="38100">
                <a:moveTo>
                  <a:pt x="0" y="57150"/>
                </a:moveTo>
                <a:lnTo>
                  <a:pt x="1433" y="44433"/>
                </a:lnTo>
                <a:lnTo>
                  <a:pt x="5660" y="32354"/>
                </a:lnTo>
                <a:lnTo>
                  <a:pt x="12469" y="21518"/>
                </a:lnTo>
                <a:lnTo>
                  <a:pt x="21518" y="12469"/>
                </a:lnTo>
                <a:lnTo>
                  <a:pt x="32354" y="5660"/>
                </a:lnTo>
                <a:lnTo>
                  <a:pt x="44433" y="1433"/>
                </a:lnTo>
                <a:lnTo>
                  <a:pt x="57150" y="0"/>
                </a:lnTo>
                <a:lnTo>
                  <a:pt x="3498850" y="0"/>
                </a:lnTo>
                <a:lnTo>
                  <a:pt x="3511567" y="1433"/>
                </a:lnTo>
                <a:lnTo>
                  <a:pt x="3523646" y="5660"/>
                </a:lnTo>
                <a:lnTo>
                  <a:pt x="3534482" y="12469"/>
                </a:lnTo>
                <a:lnTo>
                  <a:pt x="3543531" y="21518"/>
                </a:lnTo>
                <a:lnTo>
                  <a:pt x="3550340" y="32354"/>
                </a:lnTo>
                <a:lnTo>
                  <a:pt x="3554567" y="44433"/>
                </a:lnTo>
                <a:lnTo>
                  <a:pt x="3556000" y="57150"/>
                </a:lnTo>
                <a:lnTo>
                  <a:pt x="3554567" y="50792"/>
                </a:lnTo>
                <a:lnTo>
                  <a:pt x="3550340" y="44752"/>
                </a:lnTo>
                <a:lnTo>
                  <a:pt x="3543531" y="39334"/>
                </a:lnTo>
                <a:lnTo>
                  <a:pt x="3534482" y="34810"/>
                </a:lnTo>
                <a:lnTo>
                  <a:pt x="3523646" y="31405"/>
                </a:lnTo>
                <a:lnTo>
                  <a:pt x="3511567" y="29292"/>
                </a:lnTo>
                <a:lnTo>
                  <a:pt x="3498850" y="28575"/>
                </a:lnTo>
                <a:lnTo>
                  <a:pt x="57150" y="28575"/>
                </a:lnTo>
                <a:lnTo>
                  <a:pt x="44433" y="29292"/>
                </a:lnTo>
                <a:lnTo>
                  <a:pt x="32354" y="31405"/>
                </a:lnTo>
                <a:lnTo>
                  <a:pt x="21518" y="34810"/>
                </a:lnTo>
                <a:lnTo>
                  <a:pt x="12469" y="39334"/>
                </a:lnTo>
                <a:lnTo>
                  <a:pt x="5660" y="44752"/>
                </a:lnTo>
                <a:lnTo>
                  <a:pt x="1433" y="50792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50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524000"/>
            <a:ext cx="3556000" cy="38100"/>
          </a:xfrm>
          <a:custGeom xmlns:a="http://schemas.openxmlformats.org/drawingml/2006/main">
            <a:avLst/>
            <a:pathLst>
              <a:path w="3556000" h="38100">
                <a:moveTo>
                  <a:pt x="0" y="57150"/>
                </a:moveTo>
                <a:lnTo>
                  <a:pt x="1433" y="44433"/>
                </a:lnTo>
                <a:lnTo>
                  <a:pt x="5660" y="32354"/>
                </a:lnTo>
                <a:lnTo>
                  <a:pt x="12469" y="21518"/>
                </a:lnTo>
                <a:lnTo>
                  <a:pt x="21518" y="12469"/>
                </a:lnTo>
                <a:lnTo>
                  <a:pt x="32354" y="5660"/>
                </a:lnTo>
                <a:lnTo>
                  <a:pt x="44433" y="1433"/>
                </a:lnTo>
                <a:lnTo>
                  <a:pt x="57150" y="0"/>
                </a:lnTo>
                <a:lnTo>
                  <a:pt x="3498850" y="0"/>
                </a:lnTo>
                <a:lnTo>
                  <a:pt x="3511567" y="1433"/>
                </a:lnTo>
                <a:lnTo>
                  <a:pt x="3523646" y="5660"/>
                </a:lnTo>
                <a:lnTo>
                  <a:pt x="3534482" y="12469"/>
                </a:lnTo>
                <a:lnTo>
                  <a:pt x="3543531" y="21518"/>
                </a:lnTo>
                <a:lnTo>
                  <a:pt x="3550340" y="32354"/>
                </a:lnTo>
                <a:lnTo>
                  <a:pt x="3554567" y="44433"/>
                </a:lnTo>
                <a:lnTo>
                  <a:pt x="3556000" y="57150"/>
                </a:lnTo>
                <a:lnTo>
                  <a:pt x="3554567" y="50792"/>
                </a:lnTo>
                <a:lnTo>
                  <a:pt x="3550340" y="44752"/>
                </a:lnTo>
                <a:lnTo>
                  <a:pt x="3543531" y="39334"/>
                </a:lnTo>
                <a:lnTo>
                  <a:pt x="3534482" y="34810"/>
                </a:lnTo>
                <a:lnTo>
                  <a:pt x="3523646" y="31405"/>
                </a:lnTo>
                <a:lnTo>
                  <a:pt x="3511567" y="29292"/>
                </a:lnTo>
                <a:lnTo>
                  <a:pt x="3498850" y="28575"/>
                </a:lnTo>
                <a:lnTo>
                  <a:pt x="57150" y="28575"/>
                </a:lnTo>
                <a:lnTo>
                  <a:pt x="44433" y="29292"/>
                </a:lnTo>
                <a:lnTo>
                  <a:pt x="32354" y="31405"/>
                </a:lnTo>
                <a:lnTo>
                  <a:pt x="21518" y="34810"/>
                </a:lnTo>
                <a:lnTo>
                  <a:pt x="12469" y="39334"/>
                </a:lnTo>
                <a:lnTo>
                  <a:pt x="5660" y="44752"/>
                </a:lnTo>
                <a:lnTo>
                  <a:pt x="1433" y="50792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51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500" y="1524000"/>
            <a:ext cx="3556000" cy="38100"/>
          </a:xfrm>
          <a:custGeom xmlns:a="http://schemas.openxmlformats.org/drawingml/2006/main">
            <a:avLst/>
            <a:pathLst>
              <a:path w="3556000" h="38100">
                <a:moveTo>
                  <a:pt x="0" y="57150"/>
                </a:moveTo>
                <a:lnTo>
                  <a:pt x="1433" y="44433"/>
                </a:lnTo>
                <a:lnTo>
                  <a:pt x="5660" y="32354"/>
                </a:lnTo>
                <a:lnTo>
                  <a:pt x="12469" y="21518"/>
                </a:lnTo>
                <a:lnTo>
                  <a:pt x="21518" y="12469"/>
                </a:lnTo>
                <a:lnTo>
                  <a:pt x="32354" y="5660"/>
                </a:lnTo>
                <a:lnTo>
                  <a:pt x="44433" y="1433"/>
                </a:lnTo>
                <a:lnTo>
                  <a:pt x="57150" y="0"/>
                </a:lnTo>
                <a:lnTo>
                  <a:pt x="3498850" y="0"/>
                </a:lnTo>
                <a:lnTo>
                  <a:pt x="3511567" y="1433"/>
                </a:lnTo>
                <a:lnTo>
                  <a:pt x="3523646" y="5660"/>
                </a:lnTo>
                <a:lnTo>
                  <a:pt x="3534482" y="12469"/>
                </a:lnTo>
                <a:lnTo>
                  <a:pt x="3543531" y="21518"/>
                </a:lnTo>
                <a:lnTo>
                  <a:pt x="3550340" y="32354"/>
                </a:lnTo>
                <a:lnTo>
                  <a:pt x="3554567" y="44433"/>
                </a:lnTo>
                <a:lnTo>
                  <a:pt x="3556000" y="57150"/>
                </a:lnTo>
                <a:lnTo>
                  <a:pt x="3554567" y="50792"/>
                </a:lnTo>
                <a:lnTo>
                  <a:pt x="3550340" y="44752"/>
                </a:lnTo>
                <a:lnTo>
                  <a:pt x="3543531" y="39334"/>
                </a:lnTo>
                <a:lnTo>
                  <a:pt x="3534482" y="34810"/>
                </a:lnTo>
                <a:lnTo>
                  <a:pt x="3523646" y="31405"/>
                </a:lnTo>
                <a:lnTo>
                  <a:pt x="3511567" y="29292"/>
                </a:lnTo>
                <a:lnTo>
                  <a:pt x="3498850" y="28575"/>
                </a:lnTo>
                <a:lnTo>
                  <a:pt x="57150" y="28575"/>
                </a:lnTo>
                <a:lnTo>
                  <a:pt x="44433" y="29292"/>
                </a:lnTo>
                <a:lnTo>
                  <a:pt x="32354" y="31405"/>
                </a:lnTo>
                <a:lnTo>
                  <a:pt x="21518" y="34810"/>
                </a:lnTo>
                <a:lnTo>
                  <a:pt x="12469" y="39334"/>
                </a:lnTo>
                <a:lnTo>
                  <a:pt x="5660" y="44752"/>
                </a:lnTo>
                <a:lnTo>
                  <a:pt x="1433" y="50792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2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4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538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项目创新点与特色展示</a:t>
            </a:r>
            <a:endParaRPr lang="zh-CN"/>
          </a:p>
        </p:txBody>
      </p:sp>
      <p:sp>
        <p:nvSpPr>
          <p:cNvPr id="79012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2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2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012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2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cf66cba38474b9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9012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3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4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9013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3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3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524000"/>
            <a:ext cx="4876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3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2070100"/>
            <a:ext cx="4064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3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a8ba3a15a4a4f1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22375" y="2184400"/>
            <a:ext cx="228600" cy="177800"/>
          </a:xfrm>
          <a:prstGeom xmlns:a="http://schemas.openxmlformats.org/drawingml/2006/main" prst="rect">
            <a:avLst/>
          </a:prstGeom>
        </p:spPr>
      </p:pic>
      <p:sp>
        <p:nvSpPr>
          <p:cNvPr id="39374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638300" y="21018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4B5563"/>
                </a:solidFill>
                <a:latin typeface="Noto Sans SC"/>
                <a:ea typeface="Noto Sans SC"/>
              </a:rPr>
              <a:t>活跃用户</a:t>
            </a:r>
            <a:endParaRPr lang="zh-CN"/>
          </a:p>
        </p:txBody>
      </p:sp>
      <p:sp>
        <p:nvSpPr>
          <p:cNvPr id="39374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30300" y="2679700"/>
            <a:ext cx="23495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4400" b="1">
                <a:solidFill>
                  <a:srgbClr val="111827"/>
                </a:solidFill>
                <a:latin typeface="Noto Sans SC"/>
                <a:ea typeface="Noto Sans SC"/>
              </a:rPr>
              <a:t>2,480</a:t>
            </a:r>
            <a:endParaRPr lang="zh-CN"/>
          </a:p>
        </p:txBody>
      </p:sp>
      <p:sp>
        <p:nvSpPr>
          <p:cNvPr id="39375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2681490" y="2959100"/>
            <a:ext cx="52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人</a:t>
            </a:r>
            <a:endParaRPr lang="zh-CN"/>
          </a:p>
        </p:txBody>
      </p:sp>
      <p:pic>
        <p:nvPicPr>
          <p:cNvPr id="79013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731ac175a65466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543300" y="2057400"/>
            <a:ext cx="1219200" cy="1219200"/>
          </a:xfrm>
          <a:prstGeom xmlns:a="http://schemas.openxmlformats.org/drawingml/2006/main" prst="rect">
            <a:avLst/>
          </a:prstGeom>
        </p:spPr>
      </p:pic>
      <p:pic>
        <p:nvPicPr>
          <p:cNvPr id="79013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308334171a524f4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019550" y="2514600"/>
            <a:ext cx="266700" cy="304800"/>
          </a:xfrm>
          <a:prstGeom xmlns:a="http://schemas.openxmlformats.org/drawingml/2006/main" prst="rect">
            <a:avLst/>
          </a:prstGeom>
        </p:spPr>
      </p:pic>
      <p:sp>
        <p:nvSpPr>
          <p:cNvPr id="79014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600" y="1524000"/>
            <a:ext cx="4876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4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070100"/>
            <a:ext cx="4064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4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d4b24deb0ca453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59537" y="2184400"/>
            <a:ext cx="114300" cy="177800"/>
          </a:xfrm>
          <a:prstGeom xmlns:a="http://schemas.openxmlformats.org/drawingml/2006/main" prst="rect">
            <a:avLst/>
          </a:prstGeom>
        </p:spPr>
      </p:pic>
      <p:sp>
        <p:nvSpPr>
          <p:cNvPr id="39375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819900" y="21018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4B5563"/>
                </a:solidFill>
                <a:latin typeface="Noto Sans SC"/>
                <a:ea typeface="Noto Sans SC"/>
              </a:rPr>
              <a:t>今日访问</a:t>
            </a:r>
            <a:endParaRPr lang="zh-CN"/>
          </a:p>
        </p:txBody>
      </p:sp>
      <p:sp>
        <p:nvSpPr>
          <p:cNvPr id="39375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311900" y="2679700"/>
            <a:ext cx="23495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4400" b="1">
                <a:solidFill>
                  <a:srgbClr val="111827"/>
                </a:solidFill>
                <a:latin typeface="Noto Sans SC"/>
                <a:ea typeface="Noto Sans SC"/>
              </a:rPr>
              <a:t>1,842</a:t>
            </a:r>
            <a:endParaRPr lang="zh-CN"/>
          </a:p>
        </p:txBody>
      </p:sp>
      <p:sp>
        <p:nvSpPr>
          <p:cNvPr id="39375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863090" y="2959100"/>
            <a:ext cx="52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次</a:t>
            </a:r>
            <a:endParaRPr lang="zh-CN"/>
          </a:p>
        </p:txBody>
      </p:sp>
      <p:pic>
        <p:nvPicPr>
          <p:cNvPr id="79014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4f36a0d451e433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724900" y="2057400"/>
            <a:ext cx="1219200" cy="1219200"/>
          </a:xfrm>
          <a:prstGeom xmlns:a="http://schemas.openxmlformats.org/drawingml/2006/main" prst="rect">
            <a:avLst/>
          </a:prstGeom>
        </p:spPr>
      </p:pic>
      <p:pic>
        <p:nvPicPr>
          <p:cNvPr id="79014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766f4889ffd477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82100" y="2514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79014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1524000"/>
            <a:ext cx="4876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4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500" y="2070100"/>
            <a:ext cx="4064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4899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4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3cb061185ae43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607800" y="21844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9375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001500" y="21018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4B5563"/>
                </a:solidFill>
                <a:latin typeface="Noto Sans SC"/>
                <a:ea typeface="Noto Sans SC"/>
              </a:rPr>
              <a:t>系统健康度</a:t>
            </a:r>
            <a:endParaRPr lang="zh-CN"/>
          </a:p>
        </p:txBody>
      </p:sp>
      <p:sp>
        <p:nvSpPr>
          <p:cNvPr id="39375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493500" y="2679700"/>
            <a:ext cx="20193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4400" b="1">
                <a:solidFill>
                  <a:srgbClr val="111827"/>
                </a:solidFill>
                <a:latin typeface="Noto Sans SC"/>
                <a:ea typeface="Noto Sans SC"/>
              </a:rPr>
              <a:t>99.8</a:t>
            </a:r>
            <a:endParaRPr lang="zh-CN"/>
          </a:p>
        </p:txBody>
      </p:sp>
      <p:sp>
        <p:nvSpPr>
          <p:cNvPr id="39375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715113" y="29591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%</a:t>
            </a:r>
            <a:endParaRPr lang="zh-CN"/>
          </a:p>
        </p:txBody>
      </p:sp>
      <p:pic>
        <p:nvPicPr>
          <p:cNvPr id="79014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938b911a91449d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3906500" y="2057400"/>
            <a:ext cx="1219200" cy="1219200"/>
          </a:xfrm>
          <a:prstGeom xmlns:a="http://schemas.openxmlformats.org/drawingml/2006/main" prst="rect">
            <a:avLst/>
          </a:prstGeom>
        </p:spPr>
      </p:pic>
      <p:pic>
        <p:nvPicPr>
          <p:cNvPr id="79014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6d7c1db11e6440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363700" y="2514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79015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14800"/>
            <a:ext cx="3505200" cy="4521200"/>
          </a:xfrm>
          <a:prstGeom xmlns:a="http://schemas.openxmlformats.org/drawingml/2006/main" prst="roundRect">
            <a:avLst>
              <a:gd name="adj" fmla="val 2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5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806" y="4893462"/>
            <a:ext cx="81280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5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9867d8a66c09464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045893" y="5109362"/>
            <a:ext cx="431800" cy="381000"/>
          </a:xfrm>
          <a:prstGeom xmlns:a="http://schemas.openxmlformats.org/drawingml/2006/main" prst="rect">
            <a:avLst/>
          </a:prstGeom>
        </p:spPr>
      </p:pic>
      <p:sp>
        <p:nvSpPr>
          <p:cNvPr id="39375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574406" y="6011062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用户增长趋势</a:t>
            </a:r>
            <a:endParaRPr lang="zh-CN"/>
          </a:p>
        </p:txBody>
      </p:sp>
      <p:sp>
        <p:nvSpPr>
          <p:cNvPr id="39375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23900" y="6557162"/>
            <a:ext cx="30734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监测最近7天用户数据，呈现持续增长态势，系统粘性稳步提升。</a:t>
            </a:r>
            <a:endParaRPr lang="zh-CN"/>
          </a:p>
        </p:txBody>
      </p:sp>
      <p:sp>
        <p:nvSpPr>
          <p:cNvPr id="79015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418" y="7323937"/>
            <a:ext cx="1435100" cy="5334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</p:spPr>
        <p:txBody>
          <a:bodyPr xmlns:a="http://schemas.openxmlformats.org/drawingml/2006/main" wrap="square" lIns="119062" tIns="76200" rIns="119062" bIns="762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7天动态监测</a:t>
            </a:r>
            <a:endParaRPr lang="zh-CN"/>
          </a:p>
        </p:txBody>
      </p:sp>
      <p:sp>
        <p:nvSpPr>
          <p:cNvPr id="79015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803" y="4114800"/>
            <a:ext cx="3505200" cy="4521200"/>
          </a:xfrm>
          <a:prstGeom xmlns:a="http://schemas.openxmlformats.org/drawingml/2006/main" prst="roundRect">
            <a:avLst>
              <a:gd name="adj" fmla="val 2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5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609" y="4893462"/>
            <a:ext cx="81280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5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ab32072651c4c6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777509" y="5109362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9375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282209" y="6011062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活跃时段分布</a:t>
            </a:r>
            <a:endParaRPr lang="zh-CN"/>
          </a:p>
        </p:txBody>
      </p:sp>
      <p:sp>
        <p:nvSpPr>
          <p:cNvPr id="39376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431703" y="6557162"/>
            <a:ext cx="30734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24小时全天候监测用户活跃度，精准掌握系统访问高峰时段。</a:t>
            </a:r>
            <a:endParaRPr lang="zh-CN"/>
          </a:p>
        </p:txBody>
      </p:sp>
      <p:sp>
        <p:nvSpPr>
          <p:cNvPr id="79015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631" y="7323937"/>
            <a:ext cx="1536700" cy="5334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</p:spPr>
        <p:txBody>
          <a:bodyPr xmlns:a="http://schemas.openxmlformats.org/drawingml/2006/main" wrap="square" lIns="119062" tIns="76200" rIns="119062" bIns="7620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400" b="1">
                <a:solidFill>
                  <a:srgbClr val="0F766E"/>
                </a:solidFill>
                <a:latin typeface="Noto Sans SC"/>
                <a:ea typeface="Noto Sans SC"/>
              </a:rPr>
              <a:t>24小时全天候</a:t>
            </a:r>
            <a:endParaRPr lang="zh-CN"/>
          </a:p>
        </p:txBody>
      </p:sp>
      <p:sp>
        <p:nvSpPr>
          <p:cNvPr id="79015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606" y="4114800"/>
            <a:ext cx="3517900" cy="4521200"/>
          </a:xfrm>
          <a:prstGeom xmlns:a="http://schemas.openxmlformats.org/drawingml/2006/main" prst="roundRect">
            <a:avLst>
              <a:gd name="adj" fmla="val 21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6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190306" y="4381500"/>
            <a:ext cx="298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内容统计分布</a:t>
            </a:r>
            <a:endParaRPr lang="zh-CN"/>
          </a:p>
        </p:txBody>
      </p:sp>
      <p:pic>
        <p:nvPicPr>
          <p:cNvPr id="79015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9b4f8a8677846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90306" y="5505450"/>
            <a:ext cx="155575" cy="177800"/>
          </a:xfrm>
          <a:prstGeom xmlns:a="http://schemas.openxmlformats.org/drawingml/2006/main" prst="rect">
            <a:avLst/>
          </a:prstGeom>
        </p:spPr>
      </p:pic>
      <p:sp>
        <p:nvSpPr>
          <p:cNvPr id="39376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45881" y="5505450"/>
            <a:ext cx="72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图书</a:t>
            </a:r>
            <a:endParaRPr lang="zh-CN"/>
          </a:p>
        </p:txBody>
      </p:sp>
      <p:sp>
        <p:nvSpPr>
          <p:cNvPr id="39376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782096" y="5505450"/>
            <a:ext cx="66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40%</a:t>
            </a:r>
            <a:endParaRPr lang="zh-CN"/>
          </a:p>
        </p:txBody>
      </p:sp>
      <p:sp>
        <p:nvSpPr>
          <p:cNvPr id="79016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06" y="5822950"/>
            <a:ext cx="2984500" cy="10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6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06" y="5822950"/>
            <a:ext cx="1193800" cy="10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6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0faf5001067f4e4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90306" y="6127750"/>
            <a:ext cx="200025" cy="177800"/>
          </a:xfrm>
          <a:prstGeom xmlns:a="http://schemas.openxmlformats.org/drawingml/2006/main" prst="rect">
            <a:avLst/>
          </a:prstGeom>
        </p:spPr>
      </p:pic>
      <p:sp>
        <p:nvSpPr>
          <p:cNvPr id="39376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90331" y="612775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课程</a:t>
            </a:r>
            <a:endParaRPr lang="zh-CN"/>
          </a:p>
        </p:txBody>
      </p:sp>
      <p:sp>
        <p:nvSpPr>
          <p:cNvPr id="39376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782096" y="6127750"/>
            <a:ext cx="66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30%</a:t>
            </a:r>
            <a:endParaRPr lang="zh-CN"/>
          </a:p>
        </p:txBody>
      </p:sp>
      <p:sp>
        <p:nvSpPr>
          <p:cNvPr id="79016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06" y="6445250"/>
            <a:ext cx="2984500" cy="10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6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06" y="6445250"/>
            <a:ext cx="901700" cy="10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6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1a6b8fca15c48c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90306" y="6750050"/>
            <a:ext cx="222250" cy="177800"/>
          </a:xfrm>
          <a:prstGeom xmlns:a="http://schemas.openxmlformats.org/drawingml/2006/main" prst="rect">
            <a:avLst/>
          </a:prstGeom>
        </p:spPr>
      </p:pic>
      <p:sp>
        <p:nvSpPr>
          <p:cNvPr id="39376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412556" y="6750050"/>
            <a:ext cx="65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讲座</a:t>
            </a:r>
            <a:endParaRPr lang="zh-CN"/>
          </a:p>
        </p:txBody>
      </p:sp>
      <p:sp>
        <p:nvSpPr>
          <p:cNvPr id="39376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782096" y="6750050"/>
            <a:ext cx="66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20%</a:t>
            </a:r>
            <a:endParaRPr lang="zh-CN"/>
          </a:p>
        </p:txBody>
      </p:sp>
      <p:sp>
        <p:nvSpPr>
          <p:cNvPr id="79016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06" y="7067550"/>
            <a:ext cx="2984500" cy="10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6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06" y="7067550"/>
            <a:ext cx="596900" cy="10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6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d3777bca81c49b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190306" y="7372350"/>
            <a:ext cx="200025" cy="177800"/>
          </a:xfrm>
          <a:prstGeom xmlns:a="http://schemas.openxmlformats.org/drawingml/2006/main" prst="rect">
            <a:avLst/>
          </a:prstGeom>
        </p:spPr>
      </p:pic>
      <p:sp>
        <p:nvSpPr>
          <p:cNvPr id="39376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90331" y="7372350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其他</a:t>
            </a:r>
            <a:endParaRPr lang="zh-CN"/>
          </a:p>
        </p:txBody>
      </p:sp>
      <p:sp>
        <p:nvSpPr>
          <p:cNvPr id="39376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782096" y="7372350"/>
            <a:ext cx="66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 b="1">
                <a:solidFill>
                  <a:srgbClr val="111827"/>
                </a:solidFill>
                <a:latin typeface="Noto Sans SC"/>
                <a:ea typeface="Noto Sans SC"/>
              </a:rPr>
              <a:t>10%</a:t>
            </a:r>
            <a:endParaRPr lang="zh-CN"/>
          </a:p>
        </p:txBody>
      </p:sp>
      <p:sp>
        <p:nvSpPr>
          <p:cNvPr id="79016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06" y="7689850"/>
            <a:ext cx="2984500" cy="10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7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06" y="7689850"/>
            <a:ext cx="304800" cy="10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55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7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114800"/>
            <a:ext cx="4013200" cy="4521200"/>
          </a:xfrm>
          <a:prstGeom xmlns:a="http://schemas.openxmlformats.org/drawingml/2006/main" prst="roundRect">
            <a:avLst>
              <a:gd name="adj" fmla="val 1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F766E">
                <a:alpha val="20000"/>
              </a:srgbClr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7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df6e8ba6ea44ea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001500" y="4438650"/>
            <a:ext cx="292100" cy="228600"/>
          </a:xfrm>
          <a:prstGeom xmlns:a="http://schemas.openxmlformats.org/drawingml/2006/main" prst="rect">
            <a:avLst/>
          </a:prstGeom>
        </p:spPr>
      </p:pic>
      <p:sp>
        <p:nvSpPr>
          <p:cNvPr id="39377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88850" y="4381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111827"/>
                </a:solidFill>
                <a:latin typeface="Noto Sans SC"/>
                <a:ea typeface="Noto Sans SC"/>
              </a:rPr>
              <a:t>代码规模统计</a:t>
            </a:r>
            <a:endParaRPr lang="zh-CN"/>
          </a:p>
        </p:txBody>
      </p:sp>
      <p:sp>
        <p:nvSpPr>
          <p:cNvPr id="79017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27600"/>
            <a:ext cx="34798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7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61abda6ddd374c9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128500" y="5092700"/>
            <a:ext cx="254000" cy="228600"/>
          </a:xfrm>
          <a:prstGeom xmlns:a="http://schemas.openxmlformats.org/drawingml/2006/main" prst="rect">
            <a:avLst/>
          </a:prstGeom>
        </p:spPr>
      </p:pic>
      <p:sp>
        <p:nvSpPr>
          <p:cNvPr id="39377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484100" y="5073650"/>
            <a:ext cx="119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Java源文件</a:t>
            </a:r>
            <a:endParaRPr lang="zh-CN"/>
          </a:p>
        </p:txBody>
      </p:sp>
      <p:sp>
        <p:nvSpPr>
          <p:cNvPr id="39377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865096" y="50546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89 个</a:t>
            </a:r>
            <a:endParaRPr lang="zh-CN"/>
          </a:p>
        </p:txBody>
      </p:sp>
      <p:sp>
        <p:nvSpPr>
          <p:cNvPr id="79017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638800"/>
            <a:ext cx="34798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7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b162a7fc604422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128500" y="5803900"/>
            <a:ext cx="254000" cy="228600"/>
          </a:xfrm>
          <a:prstGeom xmlns:a="http://schemas.openxmlformats.org/drawingml/2006/main" prst="rect">
            <a:avLst/>
          </a:prstGeom>
        </p:spPr>
      </p:pic>
      <p:sp>
        <p:nvSpPr>
          <p:cNvPr id="39377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484100" y="5784850"/>
            <a:ext cx="93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JSP页面</a:t>
            </a:r>
            <a:endParaRPr lang="zh-CN"/>
          </a:p>
        </p:txBody>
      </p:sp>
      <p:sp>
        <p:nvSpPr>
          <p:cNvPr id="39377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865096" y="57658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40 个</a:t>
            </a:r>
            <a:endParaRPr lang="zh-CN"/>
          </a:p>
        </p:txBody>
      </p:sp>
      <p:sp>
        <p:nvSpPr>
          <p:cNvPr id="79017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350000"/>
            <a:ext cx="34798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7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ed3f75662de4d4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128500" y="6515100"/>
            <a:ext cx="254000" cy="228600"/>
          </a:xfrm>
          <a:prstGeom xmlns:a="http://schemas.openxmlformats.org/drawingml/2006/main" prst="rect">
            <a:avLst/>
          </a:prstGeom>
        </p:spPr>
      </p:pic>
      <p:sp>
        <p:nvSpPr>
          <p:cNvPr id="39377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484100" y="6496050"/>
            <a:ext cx="93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CSS文件</a:t>
            </a:r>
            <a:endParaRPr lang="zh-CN"/>
          </a:p>
        </p:txBody>
      </p:sp>
      <p:sp>
        <p:nvSpPr>
          <p:cNvPr id="39377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865096" y="64770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24 个</a:t>
            </a:r>
            <a:endParaRPr lang="zh-CN"/>
          </a:p>
        </p:txBody>
      </p:sp>
      <p:sp>
        <p:nvSpPr>
          <p:cNvPr id="79017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061200"/>
            <a:ext cx="3479800" cy="5588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8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6e135a6284f4e3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2128500" y="7226300"/>
            <a:ext cx="254000" cy="228600"/>
          </a:xfrm>
          <a:prstGeom xmlns:a="http://schemas.openxmlformats.org/drawingml/2006/main" prst="rect">
            <a:avLst/>
          </a:prstGeom>
        </p:spPr>
      </p:pic>
      <p:sp>
        <p:nvSpPr>
          <p:cNvPr id="39377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484100" y="7207250"/>
            <a:ext cx="97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数据库表</a:t>
            </a:r>
            <a:endParaRPr lang="zh-CN"/>
          </a:p>
        </p:txBody>
      </p:sp>
      <p:sp>
        <p:nvSpPr>
          <p:cNvPr id="39377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4865096" y="71882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 b="1">
                <a:solidFill>
                  <a:srgbClr val="111827"/>
                </a:solidFill>
                <a:latin typeface="Noto Sans SC"/>
                <a:ea typeface="Noto Sans SC"/>
              </a:rPr>
              <a:t>50 张</a:t>
            </a:r>
            <a:endParaRPr lang="zh-CN"/>
          </a:p>
        </p:txBody>
      </p:sp>
      <p:sp>
        <p:nvSpPr>
          <p:cNvPr id="79018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620000"/>
            <a:ext cx="34798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7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296900" y="7835900"/>
            <a:ext cx="115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400">
                <a:solidFill>
                  <a:srgbClr val="4B5563"/>
                </a:solidFill>
                <a:latin typeface="Noto Sans SC"/>
                <a:ea typeface="Noto Sans SC"/>
              </a:rPr>
              <a:t>总代码行数</a:t>
            </a:r>
            <a:endParaRPr lang="zh-CN"/>
          </a:p>
        </p:txBody>
      </p:sp>
      <p:sp>
        <p:nvSpPr>
          <p:cNvPr id="39378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054076" y="8153400"/>
            <a:ext cx="19177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2800" b="1">
                <a:solidFill>
                  <a:srgbClr val="0F766E"/>
                </a:solidFill>
                <a:latin typeface="Noto Sans SC"/>
                <a:ea typeface="Noto Sans SC"/>
              </a:rPr>
              <a:t>25,000+</a:t>
            </a:r>
            <a:endParaRPr lang="zh-CN"/>
          </a:p>
        </p:txBody>
      </p:sp>
      <p:sp>
        <p:nvSpPr>
          <p:cNvPr id="69652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620000"/>
            <a:ext cx="3479800" cy="9525"/>
          </a:xfrm>
          <a:custGeom xmlns:a="http://schemas.openxmlformats.org/drawingml/2006/main">
            <a:avLst/>
            <a:pathLst>
              <a:path w="3479800" h="9525">
                <a:moveTo>
                  <a:pt x="0" y="0"/>
                </a:moveTo>
                <a:lnTo>
                  <a:pt x="3479800" y="0"/>
                </a:lnTo>
                <a:lnTo>
                  <a:pt x="3479800" y="9525"/>
                </a:lnTo>
                <a:lnTo>
                  <a:pt x="0" y="9525"/>
                </a:lnTo>
                <a:close/>
              </a:path>
            </a:pathLst>
          </a:custGeom>
          <a:solidFill xmlns:a="http://schemas.openxmlformats.org/drawingml/2006/main">
            <a:srgbClr val="0F766E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8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8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4914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项目数据成果与图表</a:t>
            </a:r>
            <a:endParaRPr lang="zh-CN"/>
          </a:p>
        </p:txBody>
      </p:sp>
      <p:sp>
        <p:nvSpPr>
          <p:cNvPr id="79018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8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8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018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8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f6cf4f5ae7d648d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9018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8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9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9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9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8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207721" y="1574800"/>
            <a:ext cx="5219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7200" b="1">
                <a:solidFill>
                  <a:srgbClr val="0F766E"/>
                </a:solidFill>
                <a:latin typeface="Noto Sans SC"/>
                <a:ea typeface="Noto Sans SC"/>
              </a:rPr>
              <a:t>博雅书院</a:t>
            </a:r>
            <a:endParaRPr lang="zh-CN"/>
          </a:p>
        </p:txBody>
      </p:sp>
      <p:sp>
        <p:nvSpPr>
          <p:cNvPr id="79019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568" y="3441700"/>
            <a:ext cx="812800" cy="254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8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7421168" y="3149600"/>
            <a:ext cx="203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200" b="1">
                <a:solidFill>
                  <a:srgbClr val="EC4899"/>
                </a:solidFill>
                <a:latin typeface="Noto Sans SC"/>
                <a:ea typeface="Noto Sans SC"/>
              </a:rPr>
              <a:t>Q &amp; A</a:t>
            </a:r>
            <a:endParaRPr lang="zh-CN"/>
          </a:p>
        </p:txBody>
      </p:sp>
      <p:sp>
        <p:nvSpPr>
          <p:cNvPr id="79019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440" y="3441700"/>
            <a:ext cx="812800" cy="254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100000">
                <a:srgbClr val="5EEAD4"/>
              </a:gs>
            </a:gsLst>
            <a:lin ang="108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9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14800"/>
            <a:ext cx="5080000" cy="45212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19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470400"/>
            <a:ext cx="4064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766E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9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4f211bcbbf44ee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87412" y="4559300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39378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371600" y="44831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项目核心成就</a:t>
            </a:r>
            <a:endParaRPr lang="zh-CN"/>
          </a:p>
        </p:txBody>
      </p:sp>
      <p:sp>
        <p:nvSpPr>
          <p:cNvPr id="79019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2070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19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4803f6f9921c427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98525" y="5283200"/>
            <a:ext cx="139700" cy="152400"/>
          </a:xfrm>
          <a:prstGeom xmlns:a="http://schemas.openxmlformats.org/drawingml/2006/main" prst="rect">
            <a:avLst/>
          </a:prstGeom>
        </p:spPr>
      </p:pic>
      <p:sp>
        <p:nvSpPr>
          <p:cNvPr id="39378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70000" y="5181600"/>
            <a:ext cx="401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构建原生 Java Web 架构，深入 Servlet/JSP/JDBC</a:t>
            </a:r>
            <a:endParaRPr lang="zh-CN"/>
          </a:p>
        </p:txBody>
      </p:sp>
      <p:sp>
        <p:nvSpPr>
          <p:cNvPr id="79020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0706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01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7b692d7a17f140c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98525" y="6146800"/>
            <a:ext cx="139700" cy="152400"/>
          </a:xfrm>
          <a:prstGeom xmlns:a="http://schemas.openxmlformats.org/drawingml/2006/main" prst="rect">
            <a:avLst/>
          </a:prstGeom>
        </p:spPr>
      </p:pic>
      <p:sp>
        <p:nvSpPr>
          <p:cNvPr id="39378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70000" y="6045200"/>
            <a:ext cx="401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实现完整推荐系统：用户画像+协同过滤+内容匹配</a:t>
            </a:r>
            <a:endParaRPr lang="zh-CN"/>
          </a:p>
        </p:txBody>
      </p:sp>
      <p:sp>
        <p:nvSpPr>
          <p:cNvPr id="79020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9342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03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69ecee1f6d04ae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98525" y="7010400"/>
            <a:ext cx="139700" cy="152400"/>
          </a:xfrm>
          <a:prstGeom xmlns:a="http://schemas.openxmlformats.org/drawingml/2006/main" prst="rect">
            <a:avLst/>
          </a:prstGeom>
        </p:spPr>
      </p:pic>
      <p:sp>
        <p:nvSpPr>
          <p:cNvPr id="39378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70000" y="6908800"/>
            <a:ext cx="401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集成 AI 能力：多模型对话+Function Calling+缓存</a:t>
            </a:r>
            <a:endParaRPr lang="zh-CN"/>
          </a:p>
        </p:txBody>
      </p:sp>
      <p:sp>
        <p:nvSpPr>
          <p:cNvPr id="79020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77978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0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201c891af6241a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98525" y="7874000"/>
            <a:ext cx="139700" cy="152400"/>
          </a:xfrm>
          <a:prstGeom xmlns:a="http://schemas.openxmlformats.org/drawingml/2006/main" prst="rect">
            <a:avLst/>
          </a:prstGeom>
        </p:spPr>
      </p:pic>
      <p:sp>
        <p:nvSpPr>
          <p:cNvPr id="39378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70000" y="7772400"/>
            <a:ext cx="394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333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达成全栈贯通：数据库→后端→前端→AI</a:t>
            </a:r>
            <a:endParaRPr lang="zh-CN"/>
          </a:p>
        </p:txBody>
      </p:sp>
      <p:sp>
        <p:nvSpPr>
          <p:cNvPr id="79020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114800"/>
            <a:ext cx="5080000" cy="45212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20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4470400"/>
            <a:ext cx="406400" cy="406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EEAD4">
              <a:alpha val="2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0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81250f324f64a9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86500" y="4559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378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756400" y="44831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未来演进路线</a:t>
            </a:r>
            <a:endParaRPr lang="zh-CN"/>
          </a:p>
        </p:txBody>
      </p:sp>
      <p:sp>
        <p:nvSpPr>
          <p:cNvPr id="79020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5181600"/>
            <a:ext cx="4470400" cy="4826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1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18994ca6084f444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0" y="5334000"/>
            <a:ext cx="254000" cy="177800"/>
          </a:xfrm>
          <a:prstGeom xmlns:a="http://schemas.openxmlformats.org/drawingml/2006/main" prst="rect">
            <a:avLst/>
          </a:prstGeom>
        </p:spPr>
      </p:pic>
      <p:sp>
        <p:nvSpPr>
          <p:cNvPr id="39379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807200" y="52705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微服务化：Spring Boot 拆分</a:t>
            </a:r>
            <a:endParaRPr lang="zh-CN"/>
          </a:p>
        </p:txBody>
      </p:sp>
      <p:sp>
        <p:nvSpPr>
          <p:cNvPr id="79021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5765800"/>
            <a:ext cx="4470400" cy="4826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1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089e6797a7840d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0" y="5918200"/>
            <a:ext cx="254000" cy="177800"/>
          </a:xfrm>
          <a:prstGeom xmlns:a="http://schemas.openxmlformats.org/drawingml/2006/main" prst="rect">
            <a:avLst/>
          </a:prstGeom>
        </p:spPr>
      </p:pic>
      <p:sp>
        <p:nvSpPr>
          <p:cNvPr id="39379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807200" y="5854700"/>
            <a:ext cx="257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前端重构：Vue.js / React</a:t>
            </a:r>
            <a:endParaRPr lang="zh-CN"/>
          </a:p>
        </p:txBody>
      </p:sp>
      <p:sp>
        <p:nvSpPr>
          <p:cNvPr id="79021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6350000"/>
            <a:ext cx="4470400" cy="4826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1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f809107d4e74ed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0" y="6502400"/>
            <a:ext cx="254000" cy="177800"/>
          </a:xfrm>
          <a:prstGeom xmlns:a="http://schemas.openxmlformats.org/drawingml/2006/main" prst="rect">
            <a:avLst/>
          </a:prstGeom>
        </p:spPr>
      </p:pic>
      <p:sp>
        <p:nvSpPr>
          <p:cNvPr id="39379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807200" y="6438900"/>
            <a:ext cx="283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深度学习推荐：TensorFlow</a:t>
            </a:r>
            <a:endParaRPr lang="zh-CN"/>
          </a:p>
        </p:txBody>
      </p:sp>
      <p:sp>
        <p:nvSpPr>
          <p:cNvPr id="79021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6934200"/>
            <a:ext cx="4470400" cy="4826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16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04deaae4b5945a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0" y="7086600"/>
            <a:ext cx="254000" cy="177800"/>
          </a:xfrm>
          <a:prstGeom xmlns:a="http://schemas.openxmlformats.org/drawingml/2006/main" prst="rect">
            <a:avLst/>
          </a:prstGeom>
        </p:spPr>
      </p:pic>
      <p:sp>
        <p:nvSpPr>
          <p:cNvPr id="39379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807200" y="7023100"/>
            <a:ext cx="222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WebSocket 实时通信</a:t>
            </a:r>
            <a:endParaRPr lang="zh-CN"/>
          </a:p>
        </p:txBody>
      </p:sp>
      <p:sp>
        <p:nvSpPr>
          <p:cNvPr id="79021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7518400"/>
            <a:ext cx="4470400" cy="4826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18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8be46fa438f4416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0" y="7670800"/>
            <a:ext cx="254000" cy="177800"/>
          </a:xfrm>
          <a:prstGeom xmlns:a="http://schemas.openxmlformats.org/drawingml/2006/main" prst="rect">
            <a:avLst/>
          </a:prstGeom>
        </p:spPr>
      </p:pic>
      <p:sp>
        <p:nvSpPr>
          <p:cNvPr id="39379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807200" y="7607300"/>
            <a:ext cx="248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Docker+K8s 容器化部署</a:t>
            </a:r>
            <a:endParaRPr lang="zh-CN"/>
          </a:p>
        </p:txBody>
      </p:sp>
      <p:sp>
        <p:nvSpPr>
          <p:cNvPr id="79021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8102600"/>
            <a:ext cx="4470400" cy="4826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20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c0d6b1a4b31d436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0" y="8255000"/>
            <a:ext cx="254000" cy="177800"/>
          </a:xfrm>
          <a:prstGeom xmlns:a="http://schemas.openxmlformats.org/drawingml/2006/main" prst="rect">
            <a:avLst/>
          </a:prstGeom>
        </p:spPr>
      </p:pic>
      <p:sp>
        <p:nvSpPr>
          <p:cNvPr id="39379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807200" y="8191500"/>
            <a:ext cx="214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微信小程序版本开发</a:t>
            </a:r>
            <a:endParaRPr lang="zh-CN"/>
          </a:p>
        </p:txBody>
      </p:sp>
      <p:sp>
        <p:nvSpPr>
          <p:cNvPr id="79022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114800"/>
            <a:ext cx="4470400" cy="215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22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29d9beb5819e40ad">
            <a:alphaModFix amt="10000"/>
          </a:blip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573250" y="3860800"/>
            <a:ext cx="1428750" cy="1270000"/>
          </a:xfrm>
          <a:prstGeom xmlns:a="http://schemas.openxmlformats.org/drawingml/2006/main" prst="rect">
            <a:avLst/>
          </a:prstGeom>
        </p:spPr>
      </p:pic>
      <p:sp>
        <p:nvSpPr>
          <p:cNvPr id="79022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470400" cy="215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3F4F6"/>
            </a:solidFill>
            <a:prstDash val="solid"/>
            <a:round/>
          </a:ln>
          <a:effectLst xmlns:a="http://schemas.openxmlformats.org/drawingml/2006/main">
            <a:outerShdw blurRad="254000" dist="50800" dir="5400000" algn="ctr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24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ac3b4a8e8990410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493500" y="6692900"/>
            <a:ext cx="228600" cy="254000"/>
          </a:xfrm>
          <a:prstGeom xmlns:a="http://schemas.openxmlformats.org/drawingml/2006/main" prst="rect">
            <a:avLst/>
          </a:prstGeom>
        </p:spPr>
      </p:pic>
      <p:sp>
        <p:nvSpPr>
          <p:cNvPr id="39379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988800" y="7160221"/>
            <a:ext cx="304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6666"/>
              </a:lnSpc>
              <a:buNone/>
            </a:pPr>
            <a:r>
              <a:rPr lang="zh-CN" sz="2000" b="1">
                <a:solidFill>
                  <a:srgbClr val="111827"/>
                </a:solidFill>
                <a:latin typeface="Noto Sans SC"/>
                <a:ea typeface="Noto Sans SC"/>
              </a:rPr>
              <a:t>感谢各位评委的聆听与指导</a:t>
            </a:r>
            <a:endParaRPr lang="zh-CN"/>
          </a:p>
        </p:txBody>
      </p:sp>
      <p:sp>
        <p:nvSpPr>
          <p:cNvPr id="39379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394996" y="7668221"/>
            <a:ext cx="22479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6666"/>
              </a:lnSpc>
              <a:buNone/>
            </a:pPr>
            <a:r>
              <a:rPr lang="zh-CN" sz="1600">
                <a:solidFill>
                  <a:srgbClr val="4B5563"/>
                </a:solidFill>
                <a:latin typeface="Noto Sans SC"/>
                <a:ea typeface="Noto Sans SC"/>
              </a:rPr>
              <a:t>期待您的宝贵意见与交流</a:t>
            </a:r>
            <a:endParaRPr lang="zh-CN"/>
          </a:p>
        </p:txBody>
      </p:sp>
      <p:pic>
        <p:nvPicPr>
          <p:cNvPr id="79022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eeadcca0b9da45c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5309850" y="8166100"/>
            <a:ext cx="228600" cy="254000"/>
          </a:xfrm>
          <a:prstGeom xmlns:a="http://schemas.openxmlformats.org/drawingml/2006/main" prst="rect">
            <a:avLst/>
          </a:prstGeom>
        </p:spPr>
      </p:pic>
      <p:sp>
        <p:nvSpPr>
          <p:cNvPr id="69653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14800"/>
            <a:ext cx="5080000" cy="38100"/>
          </a:xfrm>
          <a:custGeom xmlns:a="http://schemas.openxmlformats.org/drawingml/2006/main">
            <a:avLst/>
            <a:pathLst>
              <a:path w="5080000" h="38100">
                <a:moveTo>
                  <a:pt x="0" y="57150"/>
                </a:moveTo>
                <a:lnTo>
                  <a:pt x="1433" y="44433"/>
                </a:lnTo>
                <a:lnTo>
                  <a:pt x="5660" y="32354"/>
                </a:lnTo>
                <a:lnTo>
                  <a:pt x="12469" y="21518"/>
                </a:lnTo>
                <a:lnTo>
                  <a:pt x="21518" y="12469"/>
                </a:lnTo>
                <a:lnTo>
                  <a:pt x="32354" y="5660"/>
                </a:lnTo>
                <a:lnTo>
                  <a:pt x="44433" y="1433"/>
                </a:lnTo>
                <a:lnTo>
                  <a:pt x="57150" y="0"/>
                </a:lnTo>
                <a:lnTo>
                  <a:pt x="5022850" y="0"/>
                </a:lnTo>
                <a:lnTo>
                  <a:pt x="5035567" y="1433"/>
                </a:lnTo>
                <a:lnTo>
                  <a:pt x="5047646" y="5660"/>
                </a:lnTo>
                <a:lnTo>
                  <a:pt x="5058482" y="12469"/>
                </a:lnTo>
                <a:lnTo>
                  <a:pt x="5067531" y="21518"/>
                </a:lnTo>
                <a:lnTo>
                  <a:pt x="5074340" y="32354"/>
                </a:lnTo>
                <a:lnTo>
                  <a:pt x="5078567" y="44433"/>
                </a:lnTo>
                <a:lnTo>
                  <a:pt x="5080000" y="57150"/>
                </a:lnTo>
                <a:lnTo>
                  <a:pt x="5078567" y="50792"/>
                </a:lnTo>
                <a:lnTo>
                  <a:pt x="5074340" y="44752"/>
                </a:lnTo>
                <a:lnTo>
                  <a:pt x="5067531" y="39334"/>
                </a:lnTo>
                <a:lnTo>
                  <a:pt x="5058482" y="34810"/>
                </a:lnTo>
                <a:lnTo>
                  <a:pt x="5047646" y="31405"/>
                </a:lnTo>
                <a:lnTo>
                  <a:pt x="5035567" y="29292"/>
                </a:lnTo>
                <a:lnTo>
                  <a:pt x="5022850" y="28575"/>
                </a:lnTo>
                <a:lnTo>
                  <a:pt x="57150" y="28575"/>
                </a:lnTo>
                <a:lnTo>
                  <a:pt x="44433" y="29292"/>
                </a:lnTo>
                <a:lnTo>
                  <a:pt x="32354" y="31405"/>
                </a:lnTo>
                <a:lnTo>
                  <a:pt x="21518" y="34810"/>
                </a:lnTo>
                <a:lnTo>
                  <a:pt x="12469" y="39334"/>
                </a:lnTo>
                <a:lnTo>
                  <a:pt x="5660" y="44752"/>
                </a:lnTo>
                <a:lnTo>
                  <a:pt x="1433" y="50792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69654" name="BorderLine_top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114800"/>
            <a:ext cx="5080000" cy="38100"/>
          </a:xfrm>
          <a:custGeom xmlns:a="http://schemas.openxmlformats.org/drawingml/2006/main">
            <a:avLst/>
            <a:pathLst>
              <a:path w="5080000" h="38100">
                <a:moveTo>
                  <a:pt x="0" y="57150"/>
                </a:moveTo>
                <a:lnTo>
                  <a:pt x="1433" y="44433"/>
                </a:lnTo>
                <a:lnTo>
                  <a:pt x="5660" y="32354"/>
                </a:lnTo>
                <a:lnTo>
                  <a:pt x="12469" y="21518"/>
                </a:lnTo>
                <a:lnTo>
                  <a:pt x="21518" y="12469"/>
                </a:lnTo>
                <a:lnTo>
                  <a:pt x="32354" y="5660"/>
                </a:lnTo>
                <a:lnTo>
                  <a:pt x="44433" y="1433"/>
                </a:lnTo>
                <a:lnTo>
                  <a:pt x="57150" y="0"/>
                </a:lnTo>
                <a:lnTo>
                  <a:pt x="5022850" y="0"/>
                </a:lnTo>
                <a:lnTo>
                  <a:pt x="5035567" y="1433"/>
                </a:lnTo>
                <a:lnTo>
                  <a:pt x="5047646" y="5660"/>
                </a:lnTo>
                <a:lnTo>
                  <a:pt x="5058482" y="12469"/>
                </a:lnTo>
                <a:lnTo>
                  <a:pt x="5067531" y="21518"/>
                </a:lnTo>
                <a:lnTo>
                  <a:pt x="5074340" y="32354"/>
                </a:lnTo>
                <a:lnTo>
                  <a:pt x="5078567" y="44433"/>
                </a:lnTo>
                <a:lnTo>
                  <a:pt x="5080000" y="57150"/>
                </a:lnTo>
                <a:lnTo>
                  <a:pt x="5078567" y="50792"/>
                </a:lnTo>
                <a:lnTo>
                  <a:pt x="5074340" y="44752"/>
                </a:lnTo>
                <a:lnTo>
                  <a:pt x="5067531" y="39334"/>
                </a:lnTo>
                <a:lnTo>
                  <a:pt x="5058482" y="34810"/>
                </a:lnTo>
                <a:lnTo>
                  <a:pt x="5047646" y="31405"/>
                </a:lnTo>
                <a:lnTo>
                  <a:pt x="5035567" y="29292"/>
                </a:lnTo>
                <a:lnTo>
                  <a:pt x="5022850" y="28575"/>
                </a:lnTo>
                <a:lnTo>
                  <a:pt x="57150" y="28575"/>
                </a:lnTo>
                <a:lnTo>
                  <a:pt x="44433" y="29292"/>
                </a:lnTo>
                <a:lnTo>
                  <a:pt x="32354" y="31405"/>
                </a:lnTo>
                <a:lnTo>
                  <a:pt x="21518" y="34810"/>
                </a:lnTo>
                <a:lnTo>
                  <a:pt x="12469" y="39334"/>
                </a:lnTo>
                <a:lnTo>
                  <a:pt x="5660" y="44752"/>
                </a:lnTo>
                <a:lnTo>
                  <a:pt x="1433" y="50792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5EEAD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79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1582400" y="4381500"/>
            <a:ext cx="42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Noto Sans SC"/>
                <a:ea typeface="Noto Sans SC"/>
              </a:rPr>
              <a:t>联系方式</a:t>
            </a:r>
            <a:endParaRPr lang="zh-CN"/>
          </a:p>
        </p:txBody>
      </p:sp>
      <p:sp>
        <p:nvSpPr>
          <p:cNvPr id="79022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041900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27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d91242352deb432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696700" y="51562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93799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141200" y="5092700"/>
            <a:ext cx="227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FFFFFF"/>
                </a:solidFill>
                <a:latin typeface="Noto Sans SC"/>
                <a:ea typeface="Noto Sans SC"/>
              </a:rPr>
              <a:t>boya@example.edu</a:t>
            </a:r>
            <a:endParaRPr lang="zh-CN"/>
          </a:p>
        </p:txBody>
      </p:sp>
      <p:sp>
        <p:nvSpPr>
          <p:cNvPr id="79022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600700"/>
            <a:ext cx="406400" cy="40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29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551002ec7b2a446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699481" y="57150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93800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2141200" y="56515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1600">
                <a:solidFill>
                  <a:srgbClr val="FFFFFF"/>
                </a:solidFill>
                <a:latin typeface="Noto Sans SC"/>
                <a:ea typeface="Noto Sans SC"/>
              </a:rPr>
              <a:t>项目 GitHub 地址</a:t>
            </a:r>
            <a:endParaRPr lang="zh-CN"/>
          </a:p>
        </p:txBody>
      </p:sp>
      <p:sp>
        <p:nvSpPr>
          <p:cNvPr id="79023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5950"/>
            <a:ext cx="177800" cy="177800"/>
          </a:xfrm>
          <a:prstGeom xmlns:a="http://schemas.openxmlformats.org/drawingml/2006/main" prst="roundRect">
            <a:avLst>
              <a:gd name="adj" fmla="val 1428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  <a:effectLst xmlns:a="http://schemas.openxmlformats.org/drawingml/2006/main">
            <a:outerShdw blurRad="25400" dist="12700" dir="5400000" algn="ctr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801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361950"/>
            <a:ext cx="397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lang="zh-CN" sz="3600" b="1">
                <a:solidFill>
                  <a:srgbClr val="111827"/>
                </a:solidFill>
                <a:latin typeface="Noto Sans SC"/>
                <a:ea typeface="Noto Sans SC"/>
              </a:rPr>
              <a:t>致谢与问答环节</a:t>
            </a:r>
            <a:endParaRPr lang="zh-CN"/>
          </a:p>
        </p:txBody>
      </p:sp>
      <p:sp>
        <p:nvSpPr>
          <p:cNvPr id="79023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23950"/>
            <a:ext cx="15240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/>
              </a:gs>
              <a:gs pos="100000">
                <a:srgbClr val="5EEAD4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23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00" y="736600"/>
            <a:ext cx="508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23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1600" y="755650"/>
            <a:ext cx="406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023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F3F4F6"/>
              </a:gs>
              <a:gs pos="50000">
                <a:srgbClr val="E5E7EB"/>
              </a:gs>
              <a:gs pos="100000">
                <a:srgbClr val="F3F4F6"/>
              </a:gs>
            </a:gsLst>
            <a:lin ang="27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pic>
        <p:nvPicPr>
          <p:cNvPr id="790235" name="SpecialShape "/>
          <p:cNvPicPr>
            <a:picLocks xmlns:a="http://schemas.openxmlformats.org/drawingml/2006/main" noChangeAspect="0"/>
          </p:cNvPicPr>
          <p:nvPr/>
        </p:nvPicPr>
        <p:blipFill>
          <a:blip xmlns:r="http://schemas.openxmlformats.org/officeDocument/2006/relationships" xmlns:a="http://schemas.openxmlformats.org/drawingml/2006/main" r:embed="Rb30add52279a4a3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</p:spPr>
      </p:pic>
      <p:sp>
        <p:nvSpPr>
          <p:cNvPr id="79023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1905000"/>
            <a:ext cx="7620000" cy="762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0F766E">
                  <a:alpha val="10000"/>
                </a:srgbClr>
              </a:gs>
              <a:gs pos="100000">
                <a:srgbClr val="0F766E">
                  <a:alpha val="0"/>
                </a:srgbClr>
              </a:gs>
            </a:gsLst>
            <a:lin ang="27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7620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237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000" y="4064000"/>
            <a:ext cx="6350000" cy="63500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0">
            <a:gsLst>
              <a:gs pos="0">
                <a:srgbClr val="5EEAD4">
                  <a:alpha val="15000"/>
                </a:srgbClr>
              </a:gs>
              <a:gs pos="100000">
                <a:srgbClr val="5EEAD4">
                  <a:alpha val="0"/>
                </a:srgbClr>
              </a:gs>
            </a:gsLst>
            <a:lin ang="189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571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802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10972596" y="762000"/>
            <a:ext cx="7327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333"/>
              </a:lnSpc>
              <a:buNone/>
            </a:pPr>
            <a:r>
              <a:rPr lang="zh-CN" sz="16000" b="1">
                <a:solidFill>
                  <a:srgbClr val="5EEAD4">
                    <a:alpha val="15000"/>
                  </a:srgbClr>
                </a:solidFill>
                <a:latin typeface="微软雅黑"/>
                <a:ea typeface="微软雅黑"/>
              </a:rPr>
              <a:t>{ }</a:t>
            </a:r>
            <a:endParaRPr lang="zh-CN"/>
          </a:p>
        </p:txBody>
      </p:sp>
      <p:sp>
        <p:nvSpPr>
          <p:cNvPr id="790238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25400" cy="5080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0F766E">
                  <a:alpha val="0"/>
                </a:srgbClr>
              </a:gs>
              <a:gs pos="50000">
                <a:srgbClr val="0F766E">
                  <a:alpha val="20000"/>
                </a:srgbClr>
              </a:gs>
              <a:gs pos="100000">
                <a:srgbClr val="0F766E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239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5000"/>
            <a:ext cx="12700" cy="317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5EEAD4">
                  <a:alpha val="0"/>
                </a:srgbClr>
              </a:gs>
              <a:gs pos="50000">
                <a:srgbClr val="5EEAD4">
                  <a:alpha val="30000"/>
                </a:srgbClr>
              </a:gs>
              <a:gs pos="100000">
                <a:srgbClr val="5EEAD4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240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38100" cy="2286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0"/>
                </a:srgbClr>
              </a:gs>
              <a:gs pos="50000">
                <a:srgbClr val="EC4899">
                  <a:alpha val="10000"/>
                </a:srgbClr>
              </a:gs>
              <a:gs pos="100000">
                <a:srgbClr val="EC4899">
                  <a:alpha val="0"/>
                </a:srgbClr>
              </a:gs>
            </a:gsLst>
            <a:lin ang="540000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241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509000"/>
            <a:ext cx="10160000" cy="63500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rgbClr val="EC4899">
                  <a:alpha val="5000"/>
                </a:srgbClr>
              </a:gs>
              <a:gs pos="100000">
                <a:srgbClr val="EC4899">
                  <a:alpha val="0"/>
                </a:srgbClr>
              </a:gs>
            </a:gsLst>
            <a:lin ang="16200000" scaled="1"/>
          </a:gradFill>
          <a:ln xmlns:a="http://schemas.openxmlformats.org/drawingml/2006/main">
            <a:noFill/>
          </a:ln>
          <a:effectLst xmlns:a="http://schemas.openxmlformats.org/drawingml/2006/main">
            <a:softEdge rad="19050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242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200" y="2905721"/>
            <a:ext cx="81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243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077200" y="2861271"/>
            <a:ext cx="1016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790244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721"/>
            <a:ext cx="81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4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803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23190" y="3470871"/>
            <a:ext cx="401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4400" b="1">
                <a:solidFill>
                  <a:srgbClr val="111827"/>
                </a:solidFill>
                <a:latin typeface="Noto Sans SC"/>
                <a:ea typeface="Noto Sans SC"/>
              </a:rPr>
              <a:t>期待合作与交流</a:t>
            </a:r>
            <a:endParaRPr lang="zh-CN"/>
          </a:p>
        </p:txBody>
      </p:sp>
      <p:sp>
        <p:nvSpPr>
          <p:cNvPr id="790245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196" y="4372571"/>
            <a:ext cx="1219200" cy="50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6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93804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901931" y="4931371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333"/>
              </a:lnSpc>
              <a:buNone/>
            </a:pPr>
            <a:r>
              <a:rPr lang="zh-CN" sz="1800">
                <a:solidFill>
                  <a:srgbClr val="4B5563"/>
                </a:solidFill>
                <a:latin typeface="Noto Sans SC"/>
                <a:ea typeface="Noto Sans SC"/>
              </a:rPr>
              <a:t>探索智慧校园未来，共推教育数字化转型。</a:t>
            </a:r>
            <a:endParaRPr lang="zh-CN"/>
          </a:p>
        </p:txBody>
      </p:sp>
      <p:sp>
        <p:nvSpPr>
          <p:cNvPr id="393805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995862" y="5939637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 b="1">
                <a:solidFill>
                  <a:srgbClr val="0F766E"/>
                </a:solidFill>
                <a:latin typeface="Noto Sans SC"/>
                <a:ea typeface="Noto Sans SC"/>
              </a:rPr>
              <a:t>Email</a:t>
            </a:r>
            <a:endParaRPr lang="zh-CN"/>
          </a:p>
        </p:txBody>
      </p:sp>
      <p:sp>
        <p:nvSpPr>
          <p:cNvPr id="393806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5785840" y="5939637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111827"/>
                </a:solidFill>
                <a:latin typeface="Noto Sans SC"/>
                <a:ea typeface="Noto Sans SC"/>
              </a:rPr>
              <a:t>contact@boya.edu.cn</a:t>
            </a:r>
            <a:endParaRPr lang="zh-CN"/>
          </a:p>
        </p:txBody>
      </p:sp>
      <p:sp>
        <p:nvSpPr>
          <p:cNvPr id="393807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711603" y="5939637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 b="1">
                <a:solidFill>
                  <a:srgbClr val="0F766E"/>
                </a:solidFill>
                <a:latin typeface="Noto Sans SC"/>
                <a:ea typeface="Noto Sans SC"/>
              </a:rPr>
              <a:t>Web</a:t>
            </a:r>
            <a:endParaRPr lang="zh-CN"/>
          </a:p>
        </p:txBody>
      </p:sp>
      <p:sp>
        <p:nvSpPr>
          <p:cNvPr id="393808" name="SimpleText 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353346" y="5939637"/>
            <a:ext cx="191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800">
                <a:solidFill>
                  <a:srgbClr val="111827"/>
                </a:solidFill>
                <a:latin typeface="Noto Sans SC"/>
                <a:ea typeface="Noto Sans SC"/>
              </a:rPr>
              <a:t>www.boya.edu.cn</a:t>
            </a:r>
            <a:endParaRPr lang="zh-CN"/>
          </a:p>
        </p:txBody>
      </p:sp>
      <p:sp>
        <p:nvSpPr>
          <p:cNvPr id="790246" name="Shape 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000" y="8509000"/>
            <a:ext cx="1358900" cy="35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3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rtlCol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lang="zh-CN" sz="1200">
                <a:solidFill>
                  <a:srgbClr val="FFFFFF"/>
                </a:solidFill>
                <a:latin typeface="Noto Sans SC"/>
                <a:ea typeface="Noto Sans SC"/>
              </a:rPr>
              <a:t>内容由 AI 生成</a:t>
            </a:r>
            <a:endParaRPr lang="zh-CN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80000"/>
                <a:satMod val="2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lin ang="16200000" scaled="1"/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博雅书院智慧校园平台答辩</dc:title>
  <dc:creator>Claude Code</dc:creator>
  <cp:lastModifiedBy>Claude Code</cp:lastModifiedBy>
  <dcterms:created xsi:type="dcterms:W3CDTF">2026-06-13T16:35:59Z</dcterms:created>
  <dcterms:modified xsi:type="dcterms:W3CDTF">2026-06-13T16:35:59Z</dcterms:modified>
</cp:coreProperties>
</file>