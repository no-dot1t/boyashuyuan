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bin" ContentType="application/vnd.openxmlformats-officedocument.spreadsheetml.sheet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2e78399c34046be" /><Relationship Type="http://schemas.openxmlformats.org/package/2006/relationships/metadata/core-properties" Target="/docProps/core.xml" Id="Ra08956826e7e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7856092154e57"/>
  </p:sldMasterIdLst>
  <p:sldIdLst>
    <p:sldId xmlns:r="http://schemas.openxmlformats.org/officeDocument/2006/relationships" id="257" r:id="R6d52afcdef314d02"/>
    <p:sldId xmlns:r="http://schemas.openxmlformats.org/officeDocument/2006/relationships" id="258" r:id="Re3a9dd84110d4e53"/>
    <p:sldId xmlns:r="http://schemas.openxmlformats.org/officeDocument/2006/relationships" id="259" r:id="R37c2e6c5ee3b4118"/>
    <p:sldId xmlns:r="http://schemas.openxmlformats.org/officeDocument/2006/relationships" id="260" r:id="Rb06b8fa812da4bb7"/>
    <p:sldId xmlns:r="http://schemas.openxmlformats.org/officeDocument/2006/relationships" id="261" r:id="Rda907fe8f8fe471a"/>
    <p:sldId xmlns:r="http://schemas.openxmlformats.org/officeDocument/2006/relationships" id="262" r:id="Reb54a4dcc3b04137"/>
    <p:sldId xmlns:r="http://schemas.openxmlformats.org/officeDocument/2006/relationships" id="263" r:id="R84d661e86e934629"/>
    <p:sldId xmlns:r="http://schemas.openxmlformats.org/officeDocument/2006/relationships" id="264" r:id="R1fd2d8af006f4ccd"/>
    <p:sldId xmlns:r="http://schemas.openxmlformats.org/officeDocument/2006/relationships" id="265" r:id="R81506c5e93a94164"/>
    <p:sldId xmlns:r="http://schemas.openxmlformats.org/officeDocument/2006/relationships" id="266" r:id="R07327365e67a40dd"/>
    <p:sldId xmlns:r="http://schemas.openxmlformats.org/officeDocument/2006/relationships" id="267" r:id="Rcd2af101dd6d408d"/>
    <p:sldId xmlns:r="http://schemas.openxmlformats.org/officeDocument/2006/relationships" id="268" r:id="R8b0cc8d817ea4f3d"/>
    <p:sldId xmlns:r="http://schemas.openxmlformats.org/officeDocument/2006/relationships" id="269" r:id="Rccaf460b7bdc4ea0"/>
    <p:sldId xmlns:r="http://schemas.openxmlformats.org/officeDocument/2006/relationships" id="270" r:id="R8c313be4d4a84eec"/>
    <p:sldId xmlns:r="http://schemas.openxmlformats.org/officeDocument/2006/relationships" id="271" r:id="Ra69825a0bccd4767"/>
    <p:sldId xmlns:r="http://schemas.openxmlformats.org/officeDocument/2006/relationships" id="272" r:id="Rb6d6391b9bd84a9e"/>
    <p:sldId xmlns:r="http://schemas.openxmlformats.org/officeDocument/2006/relationships" id="273" r:id="R5f32ef263f82427d"/>
    <p:sldId xmlns:r="http://schemas.openxmlformats.org/officeDocument/2006/relationships" id="274" r:id="R58355911caa14626"/>
    <p:sldId xmlns:r="http://schemas.openxmlformats.org/officeDocument/2006/relationships" id="275" r:id="R33b9dfe320894621"/>
    <p:sldId xmlns:r="http://schemas.openxmlformats.org/officeDocument/2006/relationships" id="276" r:id="R88f73273d0b64b61"/>
    <p:sldId xmlns:r="http://schemas.openxmlformats.org/officeDocument/2006/relationships" id="277" r:id="Ra917c268e1a14e2f"/>
    <p:sldId xmlns:r="http://schemas.openxmlformats.org/officeDocument/2006/relationships" id="278" r:id="R3ea9c53765db4cf1"/>
    <p:sldId xmlns:r="http://schemas.openxmlformats.org/officeDocument/2006/relationships" id="279" r:id="Rddb266c8d1a64f80"/>
    <p:sldId xmlns:r="http://schemas.openxmlformats.org/officeDocument/2006/relationships" id="280" r:id="R699778cf29404daa"/>
    <p:sldId xmlns:r="http://schemas.openxmlformats.org/officeDocument/2006/relationships" id="281" r:id="Rd2064e9f78194e72"/>
    <p:sldId xmlns:r="http://schemas.openxmlformats.org/officeDocument/2006/relationships" id="282" r:id="Rac21be2fd1e24e9d"/>
    <p:sldId xmlns:r="http://schemas.openxmlformats.org/officeDocument/2006/relationships" id="283" r:id="R36f4f1ccdba947f3"/>
    <p:sldId xmlns:r="http://schemas.openxmlformats.org/officeDocument/2006/relationships" id="284" r:id="R8b082007390c499d"/>
    <p:sldId xmlns:r="http://schemas.openxmlformats.org/officeDocument/2006/relationships" id="285" r:id="R7ba7eb20a7904626"/>
  </p:sldIdLst>
  <p:sldSz cx="16256000" cy="9144000"/>
  <p:notesSz cx="6858000" cy="9144000"/>
  <p:defaultTextStyle>
    <a:defPPr xmlns:a="http://schemas.openxmlformats.org/drawingml/2006/main"/>
    <a:lvl1pPr xmlns:a="http://schemas.openxmlformats.org/drawingml/2006/main">
      <a:defRPr sz="1800"/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a5b34825646b2" /><Relationship Type="http://schemas.openxmlformats.org/officeDocument/2006/relationships/slideMaster" Target="/ppt/slideMasters/slideMaster1.xml" Id="R34c7856092154e57" /><Relationship Type="http://schemas.openxmlformats.org/officeDocument/2006/relationships/slide" Target="/ppt/slides/slide1.xml" Id="R6d52afcdef314d02" /><Relationship Type="http://schemas.openxmlformats.org/officeDocument/2006/relationships/slide" Target="/ppt/slides/slide2.xml" Id="Re3a9dd84110d4e53" /><Relationship Type="http://schemas.openxmlformats.org/officeDocument/2006/relationships/slide" Target="/ppt/slides/slide3.xml" Id="R37c2e6c5ee3b4118" /><Relationship Type="http://schemas.openxmlformats.org/officeDocument/2006/relationships/slide" Target="/ppt/slides/slide4.xml" Id="Rb06b8fa812da4bb7" /><Relationship Type="http://schemas.openxmlformats.org/officeDocument/2006/relationships/slide" Target="/ppt/slides/slide5.xml" Id="Rda907fe8f8fe471a" /><Relationship Type="http://schemas.openxmlformats.org/officeDocument/2006/relationships/slide" Target="/ppt/slides/slide6.xml" Id="Reb54a4dcc3b04137" /><Relationship Type="http://schemas.openxmlformats.org/officeDocument/2006/relationships/slide" Target="/ppt/slides/slide7.xml" Id="R84d661e86e934629" /><Relationship Type="http://schemas.openxmlformats.org/officeDocument/2006/relationships/slide" Target="/ppt/slides/slide8.xml" Id="R1fd2d8af006f4ccd" /><Relationship Type="http://schemas.openxmlformats.org/officeDocument/2006/relationships/slide" Target="/ppt/slides/slide9.xml" Id="R81506c5e93a94164" /><Relationship Type="http://schemas.openxmlformats.org/officeDocument/2006/relationships/slide" Target="/ppt/slides/slide10.xml" Id="R07327365e67a40dd" /><Relationship Type="http://schemas.openxmlformats.org/officeDocument/2006/relationships/slide" Target="/ppt/slides/slide11.xml" Id="Rcd2af101dd6d408d" /><Relationship Type="http://schemas.openxmlformats.org/officeDocument/2006/relationships/slide" Target="/ppt/slides/slide12.xml" Id="R8b0cc8d817ea4f3d" /><Relationship Type="http://schemas.openxmlformats.org/officeDocument/2006/relationships/slide" Target="/ppt/slides/slide13.xml" Id="Rccaf460b7bdc4ea0" /><Relationship Type="http://schemas.openxmlformats.org/officeDocument/2006/relationships/slide" Target="/ppt/slides/slide14.xml" Id="R8c313be4d4a84eec" /><Relationship Type="http://schemas.openxmlformats.org/officeDocument/2006/relationships/slide" Target="/ppt/slides/slide15.xml" Id="Ra69825a0bccd4767" /><Relationship Type="http://schemas.openxmlformats.org/officeDocument/2006/relationships/slide" Target="/ppt/slides/slide16.xml" Id="Rb6d6391b9bd84a9e" /><Relationship Type="http://schemas.openxmlformats.org/officeDocument/2006/relationships/slide" Target="/ppt/slides/slide17.xml" Id="R5f32ef263f82427d" /><Relationship Type="http://schemas.openxmlformats.org/officeDocument/2006/relationships/slide" Target="/ppt/slides/slide18.xml" Id="R58355911caa14626" /><Relationship Type="http://schemas.openxmlformats.org/officeDocument/2006/relationships/slide" Target="/ppt/slides/slide19.xml" Id="R33b9dfe320894621" /><Relationship Type="http://schemas.openxmlformats.org/officeDocument/2006/relationships/slide" Target="/ppt/slides/slide20.xml" Id="R88f73273d0b64b61" /><Relationship Type="http://schemas.openxmlformats.org/officeDocument/2006/relationships/slide" Target="/ppt/slides/slide21.xml" Id="Ra917c268e1a14e2f" /><Relationship Type="http://schemas.openxmlformats.org/officeDocument/2006/relationships/slide" Target="/ppt/slides/slide22.xml" Id="R3ea9c53765db4cf1" /><Relationship Type="http://schemas.openxmlformats.org/officeDocument/2006/relationships/slide" Target="/ppt/slides/slide23.xml" Id="Rddb266c8d1a64f80" /><Relationship Type="http://schemas.openxmlformats.org/officeDocument/2006/relationships/slide" Target="/ppt/slides/slide24.xml" Id="R699778cf29404daa" /><Relationship Type="http://schemas.openxmlformats.org/officeDocument/2006/relationships/slide" Target="/ppt/slides/slide25.xml" Id="Rd2064e9f78194e72" /><Relationship Type="http://schemas.openxmlformats.org/officeDocument/2006/relationships/slide" Target="/ppt/slides/slide26.xml" Id="Rac21be2fd1e24e9d" /><Relationship Type="http://schemas.openxmlformats.org/officeDocument/2006/relationships/slide" Target="/ppt/slides/slide27.xml" Id="R36f4f1ccdba947f3" /><Relationship Type="http://schemas.openxmlformats.org/officeDocument/2006/relationships/slide" Target="/ppt/slides/slide28.xml" Id="R8b082007390c499d" /><Relationship Type="http://schemas.openxmlformats.org/officeDocument/2006/relationships/slide" Target="/ppt/slides/slide29.xml" Id="R7ba7eb20a790462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ff191f79244c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6216cf3b4f4a8c" /><Relationship Type="http://schemas.openxmlformats.org/officeDocument/2006/relationships/slideLayout" Target="/ppt/slideLayouts/slideLayout1.xml" Id="R9578c9798fc94ff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8c9798fc94ff7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56f4b10824490" /><Relationship Type="http://schemas.openxmlformats.org/officeDocument/2006/relationships/image" Target="/ppt/media/image.png" Id="R470ad4fde9d04cf8" /><Relationship Type="http://schemas.openxmlformats.org/officeDocument/2006/relationships/image" Target="/ppt/media/image2.png" Id="R8d27258760424c5c" /><Relationship Type="http://schemas.openxmlformats.org/officeDocument/2006/relationships/image" Target="/ppt/media/image.jpg" Id="R0cb9512db9e04508" /><Relationship Type="http://schemas.openxmlformats.org/officeDocument/2006/relationships/image" Target="/ppt/media/image3.png" Id="Rc03d28e01bf9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7080d5ec64900" /><Relationship Type="http://schemas.openxmlformats.org/officeDocument/2006/relationships/image" Target="/ppt/media/image4.png" Id="Rdcfb68a2806542cb" /><Relationship Type="http://schemas.openxmlformats.org/officeDocument/2006/relationships/image" Target="/ppt/media/image5.png" Id="R689b552149d7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f4afbded54358" /><Relationship Type="http://schemas.openxmlformats.org/officeDocument/2006/relationships/image" Target="/ppt/media/image6.png" Id="R0f0ae2c7cb534278" /><Relationship Type="http://schemas.openxmlformats.org/officeDocument/2006/relationships/image" Target="/ppt/media/image7.png" Id="R0339e6aeb90b4c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9d85446154470" /><Relationship Type="http://schemas.openxmlformats.org/officeDocument/2006/relationships/image" Target="/ppt/media/image8.png" Id="Rafd32a5fc9154498" /><Relationship Type="http://schemas.openxmlformats.org/officeDocument/2006/relationships/image" Target="/ppt/media/image9.png" Id="Rcca2d58df0124e94" /><Relationship Type="http://schemas.openxmlformats.org/officeDocument/2006/relationships/image" Target="/ppt/media/image2.jpg" Id="R5dd39597cbac48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25c4c597a4b0c" /><Relationship Type="http://schemas.openxmlformats.org/officeDocument/2006/relationships/image" Target="/ppt/media/image10.png" Id="Rf9a075336f514fe6" /><Relationship Type="http://schemas.openxmlformats.org/officeDocument/2006/relationships/image" Target="/ppt/media/image11.png" Id="R18d7ed914de84e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9c6b0064347e8" /><Relationship Type="http://schemas.openxmlformats.org/officeDocument/2006/relationships/image" Target="/ppt/media/image12.png" Id="R3635df37820441d8" /><Relationship Type="http://schemas.openxmlformats.org/officeDocument/2006/relationships/image" Target="/ppt/media/image13.png" Id="Rf338867438a3408f" /><Relationship Type="http://schemas.openxmlformats.org/officeDocument/2006/relationships/image" Target="/ppt/media/image14.png" Id="R7acefb6e746b4baf" /><Relationship Type="http://schemas.openxmlformats.org/officeDocument/2006/relationships/image" Target="/ppt/media/image15.png" Id="Rfe2e18bf207e4d1c" /><Relationship Type="http://schemas.openxmlformats.org/officeDocument/2006/relationships/image" Target="/ppt/media/image16.png" Id="R3eea390453bf4f88" /><Relationship Type="http://schemas.openxmlformats.org/officeDocument/2006/relationships/image" Target="/ppt/media/image17.png" Id="R6414022d50fc48a4" /><Relationship Type="http://schemas.openxmlformats.org/officeDocument/2006/relationships/image" Target="/ppt/media/image18.png" Id="R6178ac1e31c049d6" /><Relationship Type="http://schemas.openxmlformats.org/officeDocument/2006/relationships/image" Target="/ppt/media/image19.png" Id="Rc19473e22b09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45ab5040647d4" /><Relationship Type="http://schemas.openxmlformats.org/officeDocument/2006/relationships/image" Target="/ppt/media/image20.png" Id="Re785fe0137534eed" /><Relationship Type="http://schemas.openxmlformats.org/officeDocument/2006/relationships/image" Target="/ppt/media/image21.png" Id="R02bc3aa8909143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17a7d775546ce" /><Relationship Type="http://schemas.openxmlformats.org/officeDocument/2006/relationships/image" Target="/ppt/media/image22.png" Id="R22649901fe7b42a6" /><Relationship Type="http://schemas.openxmlformats.org/officeDocument/2006/relationships/image" Target="/ppt/media/image23.png" Id="R58a80d25309143a3" /><Relationship Type="http://schemas.openxmlformats.org/officeDocument/2006/relationships/image" Target="/ppt/media/image24.png" Id="R83da394e01f14bbf" /><Relationship Type="http://schemas.openxmlformats.org/officeDocument/2006/relationships/image" Target="/ppt/media/image25.png" Id="R078ddc829a8a4dfe" /><Relationship Type="http://schemas.openxmlformats.org/officeDocument/2006/relationships/image" Target="/ppt/media/image26.png" Id="R11f740d6947b4608" /><Relationship Type="http://schemas.openxmlformats.org/officeDocument/2006/relationships/image" Target="/ppt/media/image27.png" Id="R9d142131cd8e4437" /><Relationship Type="http://schemas.openxmlformats.org/officeDocument/2006/relationships/image" Target="/ppt/media/image28.png" Id="Rbfa71806771e4323" /><Relationship Type="http://schemas.openxmlformats.org/officeDocument/2006/relationships/image" Target="/ppt/media/image29.png" Id="R5c5517b37dcc4bcf" /><Relationship Type="http://schemas.openxmlformats.org/officeDocument/2006/relationships/image" Target="/ppt/media/image30.png" Id="R03f2919a238a4b9e" /><Relationship Type="http://schemas.openxmlformats.org/officeDocument/2006/relationships/image" Target="/ppt/media/image31.png" Id="R61a7a2dd7e614808" /><Relationship Type="http://schemas.openxmlformats.org/officeDocument/2006/relationships/image" Target="/ppt/media/image32.png" Id="R4ed6637a8b974860" /><Relationship Type="http://schemas.openxmlformats.org/officeDocument/2006/relationships/image" Target="/ppt/media/image33.png" Id="Rb109a12ee57349aa" /><Relationship Type="http://schemas.openxmlformats.org/officeDocument/2006/relationships/image" Target="/ppt/media/image34.png" Id="R7f4d45332a4147d7" /><Relationship Type="http://schemas.openxmlformats.org/officeDocument/2006/relationships/image" Target="/ppt/media/image35.png" Id="Rd36183f2ec6a4af1" /><Relationship Type="http://schemas.openxmlformats.org/officeDocument/2006/relationships/image" Target="/ppt/media/image36.png" Id="R55c992f6513d46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d67eb511245c9" /><Relationship Type="http://schemas.openxmlformats.org/officeDocument/2006/relationships/image" Target="/ppt/media/image37.png" Id="R03829c7166a840b3" /><Relationship Type="http://schemas.openxmlformats.org/officeDocument/2006/relationships/image" Target="/ppt/media/image38.png" Id="Ref41ee97e42b4e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a39af5f9b4bc7" /><Relationship Type="http://schemas.openxmlformats.org/officeDocument/2006/relationships/image" Target="/ppt/media/image39.png" Id="Re6c4bb64b2394182" /><Relationship Type="http://schemas.openxmlformats.org/officeDocument/2006/relationships/image" Target="/ppt/media/image40.png" Id="R899e40b8518c4f21" /><Relationship Type="http://schemas.openxmlformats.org/officeDocument/2006/relationships/image" Target="/ppt/media/image41.png" Id="R868366c70cda464e" /><Relationship Type="http://schemas.openxmlformats.org/officeDocument/2006/relationships/image" Target="/ppt/media/image42.png" Id="R195f81c4abf24747" /><Relationship Type="http://schemas.openxmlformats.org/officeDocument/2006/relationships/image" Target="/ppt/media/image43.png" Id="Rb84d09e63b694749" /><Relationship Type="http://schemas.openxmlformats.org/officeDocument/2006/relationships/image" Target="/ppt/media/image44.png" Id="Ra1ec88eb7b624b01" /><Relationship Type="http://schemas.openxmlformats.org/officeDocument/2006/relationships/image" Target="/ppt/media/image45.png" Id="R466e1f7bb4e3419c" /><Relationship Type="http://schemas.openxmlformats.org/officeDocument/2006/relationships/image" Target="/ppt/media/image46.png" Id="R16aaf3ed53e341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05fb0352e4c80" /><Relationship Type="http://schemas.openxmlformats.org/officeDocument/2006/relationships/image" Target="/ppt/media/image47.png" Id="Ra5b46fe46caf448f" /><Relationship Type="http://schemas.openxmlformats.org/officeDocument/2006/relationships/image" Target="/ppt/media/image48.png" Id="Rf9bed022741b4f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df8539e1e45e0" /><Relationship Type="http://schemas.openxmlformats.org/officeDocument/2006/relationships/image" Target="/ppt/media/image49.png" Id="Rb82048644e7649b7" /><Relationship Type="http://schemas.openxmlformats.org/officeDocument/2006/relationships/image" Target="/ppt/media/image50.png" Id="Re4aa77fc10bd40ce" /><Relationship Type="http://schemas.openxmlformats.org/officeDocument/2006/relationships/image" Target="/ppt/media/image51.png" Id="R63de9b02dd974557" /><Relationship Type="http://schemas.openxmlformats.org/officeDocument/2006/relationships/image" Target="/ppt/media/image52.png" Id="R638687573c2544ac" /><Relationship Type="http://schemas.openxmlformats.org/officeDocument/2006/relationships/image" Target="/ppt/media/image53.png" Id="R72b9d6b7d0da4a7c" /><Relationship Type="http://schemas.openxmlformats.org/officeDocument/2006/relationships/image" Target="/ppt/media/image54.png" Id="Raabd9a5ebd7c4c81" /><Relationship Type="http://schemas.openxmlformats.org/officeDocument/2006/relationships/image" Target="/ppt/media/image55.png" Id="Rf362634d9a58404c" /><Relationship Type="http://schemas.openxmlformats.org/officeDocument/2006/relationships/image" Target="/ppt/media/image56.png" Id="R63247a55bf4b42c8" /><Relationship Type="http://schemas.openxmlformats.org/officeDocument/2006/relationships/image" Target="/ppt/media/image57.png" Id="R6477948b825b4325" /><Relationship Type="http://schemas.openxmlformats.org/officeDocument/2006/relationships/image" Target="/ppt/media/image58.png" Id="R1ee610b64ce345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79301b3b4ff4" /><Relationship Type="http://schemas.openxmlformats.org/officeDocument/2006/relationships/image" Target="/ppt/media/image59.png" Id="Rac3461f7a8174bef" /><Relationship Type="http://schemas.openxmlformats.org/officeDocument/2006/relationships/image" Target="/ppt/media/image60.png" Id="Raa4b2002ab834d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c0c36eed742e1" /><Relationship Type="http://schemas.openxmlformats.org/officeDocument/2006/relationships/image" Target="/ppt/media/image61.png" Id="Rc7de0d26b5da4f1f" /><Relationship Type="http://schemas.openxmlformats.org/officeDocument/2006/relationships/image" Target="/ppt/media/image62.png" Id="R4c8b8a3b8d544ae3" /><Relationship Type="http://schemas.openxmlformats.org/officeDocument/2006/relationships/image" Target="/ppt/media/image63.png" Id="Rc2b5f2b2111a48ba" /><Relationship Type="http://schemas.openxmlformats.org/officeDocument/2006/relationships/image" Target="/ppt/media/image64.png" Id="R659dd84ad59144ca" /><Relationship Type="http://schemas.openxmlformats.org/officeDocument/2006/relationships/image" Target="/ppt/media/image65.png" Id="R5e69490cf3594274" /><Relationship Type="http://schemas.openxmlformats.org/officeDocument/2006/relationships/image" Target="/ppt/media/image66.png" Id="R42808e1fc369472d" /><Relationship Type="http://schemas.openxmlformats.org/officeDocument/2006/relationships/image" Target="/ppt/media/image67.png" Id="R57df8834899f4c90" /><Relationship Type="http://schemas.openxmlformats.org/officeDocument/2006/relationships/image" Target="/ppt/media/image68.png" Id="Rd3bc5aa641254cae" /><Relationship Type="http://schemas.openxmlformats.org/officeDocument/2006/relationships/image" Target="/ppt/media/image69.png" Id="Rf8532c76701140e9" /><Relationship Type="http://schemas.openxmlformats.org/officeDocument/2006/relationships/image" Target="/ppt/media/image70.png" Id="R1d757bc361cc4df5" /><Relationship Type="http://schemas.openxmlformats.org/officeDocument/2006/relationships/image" Target="/ppt/media/image71.png" Id="R52c515329c5044eb" /><Relationship Type="http://schemas.openxmlformats.org/officeDocument/2006/relationships/image" Target="/ppt/media/image72.png" Id="Re95b8f1c36f948b3" /><Relationship Type="http://schemas.openxmlformats.org/officeDocument/2006/relationships/image" Target="/ppt/media/image73.png" Id="R1f34c01126d444db" /><Relationship Type="http://schemas.openxmlformats.org/officeDocument/2006/relationships/image" Target="/ppt/media/image74.png" Id="R97cb714b299441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83c0abb4c4c32" /><Relationship Type="http://schemas.openxmlformats.org/officeDocument/2006/relationships/image" Target="/ppt/media/image75.png" Id="Re1b58f6a0c9445e0" /><Relationship Type="http://schemas.openxmlformats.org/officeDocument/2006/relationships/image" Target="/ppt/media/image76.png" Id="R9cebdf20f6244b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13e8281ce4218" /><Relationship Type="http://schemas.openxmlformats.org/officeDocument/2006/relationships/image" Target="/ppt/media/image77.png" Id="R37e1122d8cb54dda" /><Relationship Type="http://schemas.openxmlformats.org/officeDocument/2006/relationships/image" Target="/ppt/media/image78.png" Id="R9bce8373d1aa47ab" /><Relationship Type="http://schemas.openxmlformats.org/officeDocument/2006/relationships/chart" Target="/ppt/slides/charts/chart1.xml" Id="R98567c8bb3d848ef" /><Relationship Type="http://schemas.openxmlformats.org/officeDocument/2006/relationships/image" Target="/ppt/media/image79.png" Id="R2edde4cf17cc4a54" /><Relationship Type="http://schemas.openxmlformats.org/officeDocument/2006/relationships/image" Target="/ppt/media/image80.png" Id="R13c9de337a3d4e4d" /><Relationship Type="http://schemas.openxmlformats.org/officeDocument/2006/relationships/image" Target="/ppt/media/image81.png" Id="R76d3e426b7b044b2" /><Relationship Type="http://schemas.openxmlformats.org/officeDocument/2006/relationships/image" Target="/ppt/media/image82.png" Id="R3e491a4c86ae4b80" /><Relationship Type="http://schemas.openxmlformats.org/officeDocument/2006/relationships/image" Target="/ppt/media/image83.png" Id="R95eb89ae176f445d" /><Relationship Type="http://schemas.openxmlformats.org/officeDocument/2006/relationships/image" Target="/ppt/media/image84.png" Id="R9ccd63699efc4baa" /><Relationship Type="http://schemas.openxmlformats.org/officeDocument/2006/relationships/image" Target="/ppt/media/image85.png" Id="Ra56056adc6464e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4d36ef974e58" /><Relationship Type="http://schemas.openxmlformats.org/officeDocument/2006/relationships/image" Target="/ppt/media/image86.png" Id="Ref07374383fe44c5" /><Relationship Type="http://schemas.openxmlformats.org/officeDocument/2006/relationships/image" Target="/ppt/media/image87.png" Id="Re8146e74b7e74c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7f3fed6b34e15" /><Relationship Type="http://schemas.openxmlformats.org/officeDocument/2006/relationships/image" Target="/ppt/media/image88.png" Id="R039a24569b034871" /><Relationship Type="http://schemas.openxmlformats.org/officeDocument/2006/relationships/image" Target="/ppt/media/image89.png" Id="R7fcc589cdcb447fb" /><Relationship Type="http://schemas.openxmlformats.org/officeDocument/2006/relationships/image" Target="/ppt/media/image90.png" Id="R0c0082d4b26c4300" /><Relationship Type="http://schemas.openxmlformats.org/officeDocument/2006/relationships/image" Target="/ppt/media/image91.png" Id="R04667440afce4b6b" /><Relationship Type="http://schemas.openxmlformats.org/officeDocument/2006/relationships/image" Target="/ppt/media/image92.png" Id="R8955d3293f464862" /><Relationship Type="http://schemas.openxmlformats.org/officeDocument/2006/relationships/image" Target="/ppt/media/image93.png" Id="R074b0d86ef7a49f7" /><Relationship Type="http://schemas.openxmlformats.org/officeDocument/2006/relationships/image" Target="/ppt/media/image94.png" Id="Rd4bf6d55c2684e36" /><Relationship Type="http://schemas.openxmlformats.org/officeDocument/2006/relationships/image" Target="/ppt/media/image95.png" Id="R21359601f32e4058" /><Relationship Type="http://schemas.openxmlformats.org/officeDocument/2006/relationships/image" Target="/ppt/media/image96.png" Id="R223f5d09f75644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0f98bb0ee4938" /><Relationship Type="http://schemas.openxmlformats.org/officeDocument/2006/relationships/image" Target="/ppt/media/image97.png" Id="R7320b09e77e64d02" /><Relationship Type="http://schemas.openxmlformats.org/officeDocument/2006/relationships/image" Target="/ppt/media/image98.png" Id="R104d7346047040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bb7ff7a824ed3" /><Relationship Type="http://schemas.openxmlformats.org/officeDocument/2006/relationships/image" Target="/ppt/media/image99.png" Id="R0eb1b27fb6834d6c" /><Relationship Type="http://schemas.openxmlformats.org/officeDocument/2006/relationships/image" Target="/ppt/media/image100.png" Id="R62315c1470d84521" /><Relationship Type="http://schemas.openxmlformats.org/officeDocument/2006/relationships/image" Target="/ppt/media/image101.png" Id="R3f759fe9542742d3" /><Relationship Type="http://schemas.openxmlformats.org/officeDocument/2006/relationships/image" Target="/ppt/media/image102.png" Id="Rf6f1a419fd70496d" /><Relationship Type="http://schemas.openxmlformats.org/officeDocument/2006/relationships/image" Target="/ppt/media/image103.png" Id="R540091fcd767422c" /><Relationship Type="http://schemas.openxmlformats.org/officeDocument/2006/relationships/image" Target="/ppt/media/image104.png" Id="Rcf7c4282c7b543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1d39e71464a9a" /><Relationship Type="http://schemas.openxmlformats.org/officeDocument/2006/relationships/image" Target="/ppt/media/image105.png" Id="Rff9fd8fa822c4a11" /><Relationship Type="http://schemas.openxmlformats.org/officeDocument/2006/relationships/image" Target="/ppt/media/image106.png" Id="R5bcb213cc8ea48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ec41c58de48f3" /><Relationship Type="http://schemas.openxmlformats.org/officeDocument/2006/relationships/image" Target="/ppt/media/image107.png" Id="Raf79343940394fc4" /><Relationship Type="http://schemas.openxmlformats.org/officeDocument/2006/relationships/image" Target="/ppt/media/image108.png" Id="Rc4165740c44b4e25" /><Relationship Type="http://schemas.openxmlformats.org/officeDocument/2006/relationships/image" Target="/ppt/media/image109.png" Id="R5b6edd2fda73489d" /><Relationship Type="http://schemas.openxmlformats.org/officeDocument/2006/relationships/image" Target="/ppt/media/image110.png" Id="R3622ca543b8f41f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8a02a2a7a4179" /><Relationship Type="http://schemas.openxmlformats.org/officeDocument/2006/relationships/image" Target="/ppt/media/image111.png" Id="Rd3df730e030f4f93" /><Relationship Type="http://schemas.openxmlformats.org/officeDocument/2006/relationships/image" Target="/ppt/media/image112.png" Id="Ree33a9a01a1047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d1bd5ee1646e3" /><Relationship Type="http://schemas.openxmlformats.org/officeDocument/2006/relationships/image" Target="/ppt/media/image113.png" Id="R00d92fe4035941ff" /><Relationship Type="http://schemas.openxmlformats.org/officeDocument/2006/relationships/image" Target="/ppt/media/image114.png" Id="Re9295f66289c44fb" /><Relationship Type="http://schemas.openxmlformats.org/officeDocument/2006/relationships/image" Target="/ppt/media/image115.png" Id="Rf159be52de2b4f77" /><Relationship Type="http://schemas.openxmlformats.org/officeDocument/2006/relationships/image" Target="/ppt/media/image116.png" Id="R474293b38b3e44b0" /><Relationship Type="http://schemas.openxmlformats.org/officeDocument/2006/relationships/image" Target="/ppt/media/image117.png" Id="Re94b8345eb414484" /><Relationship Type="http://schemas.openxmlformats.org/officeDocument/2006/relationships/image" Target="/ppt/media/image118.png" Id="R2dd5a28e5c054e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71431a77f413e" /><Relationship Type="http://schemas.openxmlformats.org/officeDocument/2006/relationships/image" Target="/ppt/media/image119.png" Id="R0f664344bd004564" /><Relationship Type="http://schemas.openxmlformats.org/officeDocument/2006/relationships/image" Target="/ppt/media/image120.png" Id="R9a5269e4f2ba427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f778e630441b3" /><Relationship Type="http://schemas.openxmlformats.org/officeDocument/2006/relationships/image" Target="/ppt/media/image121.png" Id="R514d88511bad49ef" /><Relationship Type="http://schemas.openxmlformats.org/officeDocument/2006/relationships/image" Target="/ppt/media/image122.png" Id="Rdaa4dc7b17904073" /><Relationship Type="http://schemas.openxmlformats.org/officeDocument/2006/relationships/image" Target="/ppt/media/image123.png" Id="R4a8541235e00447c" /><Relationship Type="http://schemas.openxmlformats.org/officeDocument/2006/relationships/image" Target="/ppt/media/image124.png" Id="R0151a2db931d4303" /><Relationship Type="http://schemas.openxmlformats.org/officeDocument/2006/relationships/image" Target="/ppt/media/image125.png" Id="R640ecef049164adc" /><Relationship Type="http://schemas.openxmlformats.org/officeDocument/2006/relationships/image" Target="/ppt/media/image126.png" Id="Re710076cbe754cb1" /><Relationship Type="http://schemas.openxmlformats.org/officeDocument/2006/relationships/image" Target="/ppt/media/image127.png" Id="Ra56f803184ec486d" /><Relationship Type="http://schemas.openxmlformats.org/officeDocument/2006/relationships/image" Target="/ppt/media/image128.png" Id="R6469fe463ab0487b" /><Relationship Type="http://schemas.openxmlformats.org/officeDocument/2006/relationships/image" Target="/ppt/media/image129.png" Id="Ref083e9df2bf4393" /><Relationship Type="http://schemas.openxmlformats.org/officeDocument/2006/relationships/chart" Target="/ppt/slides/charts/chart2.xml" Id="R12c1bf3e89264f90" /><Relationship Type="http://schemas.openxmlformats.org/officeDocument/2006/relationships/image" Target="/ppt/media/image130.png" Id="R556da01b43314fa6" /><Relationship Type="http://schemas.openxmlformats.org/officeDocument/2006/relationships/chart" Target="/ppt/slides/charts/chart3.xml" Id="Rc7e6791d269b4e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a1e8d4f74e2a" /><Relationship Type="http://schemas.openxmlformats.org/officeDocument/2006/relationships/image" Target="/ppt/media/image131.png" Id="R62a73e098f98454a" /><Relationship Type="http://schemas.openxmlformats.org/officeDocument/2006/relationships/image" Target="/ppt/media/image132.png" Id="Ra60ef23bdbe14a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461c5c8254490" /><Relationship Type="http://schemas.openxmlformats.org/officeDocument/2006/relationships/image" Target="/ppt/media/image133.png" Id="R275a6994f9fc4a21" /><Relationship Type="http://schemas.openxmlformats.org/officeDocument/2006/relationships/image" Target="/ppt/media/image134.png" Id="Rf83963177f2b41cd" /><Relationship Type="http://schemas.openxmlformats.org/officeDocument/2006/relationships/image" Target="/ppt/media/image3.jpg" Id="R52135306e15f461c" /><Relationship Type="http://schemas.openxmlformats.org/officeDocument/2006/relationships/image" Target="/ppt/media/image135.png" Id="Rce99b379b22f4227" /><Relationship Type="http://schemas.openxmlformats.org/officeDocument/2006/relationships/image" Target="/ppt/media/image136.png" Id="R51177d72016c4c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78af477af4087" /><Relationship Type="http://schemas.openxmlformats.org/officeDocument/2006/relationships/image" Target="/ppt/media/image137.png" Id="Rcc4bbfdf4ebe4858" /><Relationship Type="http://schemas.openxmlformats.org/officeDocument/2006/relationships/image" Target="/ppt/media/image138.png" Id="R2fb76c5c0aa641c9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Id1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Id1" /></Relationships>
</file>

<file path=ppt/slides/charts/_rels/chart3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3.bin" Id="rId1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/>
          <a:lstStyle/>
          <a:p>
            <a:pPr>
              <a:defRPr/>
            </a:pPr>
            <a:r>
              <a:rPr lang="zh-CN" sz="1400">
                <a:latin typeface="Noto Sans"/>
                <a:ea typeface="Noto Sans"/>
                <a:solidFill>
                  <a:srgbClr val="333333"/>
                </a:solidFill>
              </a:rPr>
              <a:t>权重矩阵分析（%）</a:t>
            </a:r>
          </a:p>
        </c:rich>
      </c:tx>
      <c:layout/>
      <c:overlay val="0"/>
    </c:title>
    <c:plotArea>
      <c:layout/>
      <c:barChart>
        <c:barDir val="col"/>
        <c:grouping val="standard"/>
        <c:gapWidth val="400"/>
        <c:overlap val="-23"/>
        <c:ser>
          <c:idx val="0"/>
          <c:order val="0"/>
          <c:tx>
            <c:v>系列</c:v>
          </c:tx>
          <c:spPr>
            <a:solidFill>
              <a:srgbClr val="E5C158"/>
            </a:solidFill>
          </c:spPr>
          <c:dPt>
            <c:idx val="0"/>
            <c:bubble3D val="0"/>
            <c:spPr>
              <a:solidFill>
                <a:srgbClr val="E5C158"/>
              </a:solidFill>
            </c:spPr>
          </c:dPt>
          <c:dPt>
            <c:idx val="1"/>
            <c:bubble3D val="0"/>
            <c:spPr>
              <a:solidFill>
                <a:srgbClr val="228B22"/>
              </a:solidFill>
            </c:spPr>
          </c:dPt>
          <c:dPt>
            <c:idx val="2"/>
            <c:bubble3D val="0"/>
            <c:spPr>
              <a:solidFill>
                <a:srgbClr val="6E6E73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333333"/>
                    </a:solidFill>
                  </a:defRPr>
                </a:pPr>
                <a:endParaRPr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strCache>
                <c:ptCount val="3"/>
                <c:pt idx="0">
                  <c:v>收藏</c:v>
                </c:pt>
                <c:pt idx="1">
                  <c:v>评分</c:v>
                </c:pt>
                <c:pt idx="2">
                  <c:v>浏览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42.00</c:v>
                </c:pt>
                <c:pt idx="1">
                  <c:v>38.00</c:v>
                </c:pt>
                <c:pt idx="2">
                  <c:v>20.00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>
                <a:alpha val="15000"/>
              </a:srgbClr>
            </a:solidFill>
          </a:ln>
        </c:spPr>
        <c:crossAx val="2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200">
                <a:solidFill>
                  <a:srgbClr val="333333"/>
                </a:solidFill>
              </a:defRPr>
            </a:pPr>
            <a:endParaRPr/>
          </a:p>
        </c:txPr>
      </c:catAx>
      <c:valAx>
        <c:axId val="2"/>
        <c:scaling>
          <c:orientation val="minMax"/>
        </c:scaling>
        <c:delete val="0"/>
        <c:axPos val="l"/>
        <c:majorGridlines>
          <c:spPr>
            <a:ln w="9525">
              <a:solidFill>
                <a:srgbClr val="000000">
                  <a:alpha val="15000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000000">
                <a:alpha val="15000"/>
              </a:srgbClr>
            </a:solidFill>
          </a:ln>
        </c:spPr>
        <c:crossAx val="1"/>
        <c:crosses val="autoZero"/>
        <c:crossBetween val="between"/>
        <c:txPr>
          <a:bodyPr/>
          <a:lstStyle/>
          <a:p>
            <a:pPr>
              <a:defRPr sz="1200">
                <a:solidFill>
                  <a:srgbClr val="333333"/>
                </a:solidFill>
              </a:defRPr>
            </a:pPr>
            <a:endParaRPr/>
          </a:p>
        </c:txPr>
      </c:valAx>
    </c:plotArea>
    <c:plotVisOnly val="1"/>
  </c:chart>
  <c:spPr>
    <a:solidFill>
      <a:srgbClr val="F5F5F7"/>
    </a:solidFill>
  </c:spPr>
  <c:externalData r:id="rId1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/>
          <a:lstStyle/>
          <a:p>
            <a:pPr>
              <a:defRPr/>
            </a:pPr>
            <a:r>
              <a:rPr lang="zh-CN" sz="1400">
                <a:latin typeface="Noto Sans"/>
                <a:ea typeface="Noto Sans"/>
                <a:solidFill>
                  <a:srgbClr val="333333"/>
                </a:solidFill>
              </a:rPr>
              <a:t>各项指标达成率 (%)</a:t>
            </a:r>
          </a:p>
        </c:rich>
      </c:tx>
      <c:layout/>
      <c:overlay val="0"/>
    </c:title>
    <c:plotArea>
      <c:layout/>
      <c:barChart>
        <c:barDir val="col"/>
        <c:grouping val="standard"/>
        <c:gapWidth val="400"/>
        <c:overlap val="-23"/>
        <c:ser>
          <c:idx val="0"/>
          <c:order val="0"/>
          <c:tx>
            <c:v>系列</c:v>
          </c:tx>
          <c:spPr>
            <a:solidFill>
              <a:srgbClr val="E5C158"/>
            </a:solidFill>
          </c:spPr>
          <c:dPt>
            <c:idx val="0"/>
            <c:bubble3D val="0"/>
            <c:spPr>
              <a:solidFill>
                <a:srgbClr val="E5C158"/>
              </a:solidFill>
            </c:spPr>
          </c:dPt>
          <c:dPt>
            <c:idx val="1"/>
            <c:bubble3D val="0"/>
            <c:spPr>
              <a:solidFill>
                <a:srgbClr val="F2D06B"/>
              </a:solidFill>
            </c:spPr>
          </c:dPt>
          <c:dPt>
            <c:idx val="2"/>
            <c:bubble3D val="0"/>
            <c:spPr>
              <a:solidFill>
                <a:srgbClr val="E1E1E5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333333"/>
                    </a:solidFill>
                  </a:defRPr>
                </a:pPr>
                <a:endParaRPr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strCache>
                <c:ptCount val="3"/>
                <c:pt idx="0">
                  <c:v>进度达成</c:v>
                </c:pt>
                <c:pt idx="1">
                  <c:v>质量达标</c:v>
                </c:pt>
                <c:pt idx="2">
                  <c:v>资源利用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85.00</c:v>
                </c:pt>
                <c:pt idx="1">
                  <c:v>92.00</c:v>
                </c:pt>
                <c:pt idx="2">
                  <c:v>78.00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>
                <a:alpha val="15000"/>
              </a:srgbClr>
            </a:solidFill>
          </a:ln>
        </c:spPr>
        <c:crossAx val="2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200">
                <a:solidFill>
                  <a:srgbClr val="333333"/>
                </a:solidFill>
              </a:defRPr>
            </a:pPr>
            <a:endParaRPr/>
          </a:p>
        </c:txPr>
      </c:catAx>
      <c:valAx>
        <c:axId val="2"/>
        <c:scaling>
          <c:orientation val="minMax"/>
        </c:scaling>
        <c:delete val="0"/>
        <c:axPos val="l"/>
        <c:majorGridlines>
          <c:spPr>
            <a:ln w="9525">
              <a:solidFill>
                <a:srgbClr val="000000">
                  <a:alpha val="15000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000000">
                <a:alpha val="15000"/>
              </a:srgbClr>
            </a:solidFill>
          </a:ln>
        </c:spPr>
        <c:crossAx val="1"/>
        <c:crosses val="autoZero"/>
        <c:crossBetween val="between"/>
        <c:txPr>
          <a:bodyPr/>
          <a:lstStyle/>
          <a:p>
            <a:pPr>
              <a:defRPr sz="1200">
                <a:solidFill>
                  <a:srgbClr val="333333"/>
                </a:solidFill>
              </a:defRPr>
            </a:pPr>
            <a:endParaRPr/>
          </a:p>
        </c:txPr>
      </c:valAx>
    </c:plotArea>
    <c:plotVisOnly val="1"/>
  </c:chart>
  <c:spPr>
    <a:solidFill>
      <a:srgbClr val="F5F5F7"/>
    </a:solidFill>
  </c:spPr>
  <c:externalData r:id="rId1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/>
          <a:lstStyle/>
          <a:p>
            <a:pPr>
              <a:defRPr/>
            </a:pPr>
            <a:r>
              <a:rPr lang="zh-CN" sz="1400">
                <a:latin typeface="Noto Sans"/>
                <a:ea typeface="Noto Sans"/>
                <a:solidFill>
                  <a:srgbClr val="333333"/>
                </a:solidFill>
              </a:rPr>
              <a:t>核心指标占比</a:t>
            </a:r>
          </a:p>
        </c:rich>
      </c:tx>
      <c:layout/>
      <c:overlay val="0"/>
    </c:title>
    <c:plotArea>
      <c:layout/>
      <c:pieChart>
        <c:firstSliceAng val="0"/>
        <c:ser>
          <c:idx val="0"/>
          <c:order val="0"/>
          <c:tx>
            <c:v>数据</c:v>
          </c:tx>
          <c:dPt>
            <c:idx val="0"/>
            <c:bubble3D val="0"/>
            <c:spPr>
              <a:solidFill>
                <a:srgbClr val="E5C158"/>
              </a:solidFill>
            </c:spPr>
          </c:dPt>
          <c:dPt>
            <c:idx val="1"/>
            <c:bubble3D val="0"/>
            <c:spPr>
              <a:solidFill>
                <a:srgbClr val="F2D06B"/>
              </a:solidFill>
            </c:spPr>
          </c:dPt>
          <c:dPt>
            <c:idx val="2"/>
            <c:bubble3D val="0"/>
            <c:spPr>
              <a:solidFill>
                <a:srgbClr val="E1E1E5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333333"/>
                    </a:solidFill>
                  </a:defRPr>
                </a:pPr>
                <a:endParaRPr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</c:dLbls>
          <c:cat>
            <c:strRef>
              <c:strCache>
                <c:ptCount val="3"/>
                <c:pt idx="0">
                  <c:v>进度达成</c:v>
                </c:pt>
                <c:pt idx="1">
                  <c:v>质量达标</c:v>
                </c:pt>
                <c:pt idx="2">
                  <c:v>资源利用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85.00</c:v>
                </c:pt>
                <c:pt idx="1">
                  <c:v>92.00</c:v>
                </c:pt>
                <c:pt idx="2">
                  <c:v>78.00</c:v>
                </c:pt>
              </c:numCache>
            </c:numRef>
          </c:val>
        </c:ser>
      </c:pieChart>
    </c:plotArea>
    <c:plotVisOnly val="1"/>
  </c:chart>
  <c:spPr>
    <a:solidFill>
      <a:srgbClr val="F5F5F7"/>
    </a:solidFill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6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66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70ad4fde9d04cf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6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66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d27258760424c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6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pic>
        <p:nvPicPr>
          <p:cNvPr id="8299" name="Picture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9512db9e04508">
            <a:alphaModFix amt="20000"/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636144"/>
            <a:ext cx="5080000" cy="3807711"/>
          </a:xfrm>
          <a:prstGeom xmlns:a="http://schemas.openxmlformats.org/drawingml/2006/main" prst="rect">
            <a:avLst/>
          </a:prstGeom>
        </p:spPr>
      </p:pic>
      <p:sp>
        <p:nvSpPr>
          <p:cNvPr id="8036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18600"/>
            <a:ext cx="16256000" cy="254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/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6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03d28e01bf94d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508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036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7000"/>
            <a:ext cx="1016000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4021" y="3204171"/>
            <a:ext cx="717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800" b="1">
                <a:solidFill>
                  <a:srgbClr val="000000"/>
                </a:solidFill>
                <a:latin typeface="Noto Sans SC"/>
                <a:ea typeface="Noto Sans SC"/>
              </a:rPr>
              <a:t>博雅书院 3D 视觉设计规范</a:t>
            </a:r>
            <a:endParaRPr lang="zh-CN"/>
          </a:p>
        </p:txBody>
      </p:sp>
      <p:sp>
        <p:nvSpPr>
          <p:cNvPr id="8036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796" y="4270971"/>
            <a:ext cx="7620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68109" y="4626571"/>
            <a:ext cx="273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iOS 融合风格学术汇报 PPT</a:t>
            </a:r>
            <a:endParaRPr lang="zh-CN"/>
          </a:p>
        </p:txBody>
      </p:sp>
      <p:sp>
        <p:nvSpPr>
          <p:cNvPr id="4008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49503" y="7449934"/>
            <a:ext cx="231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2024 年 05 月 20 日</a:t>
            </a:r>
            <a:endParaRPr lang="zh-CN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6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67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cfb68a2806542c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6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68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89b552149d748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6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6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"/>
            <a:ext cx="762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41400" y="5334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目录</a:t>
            </a:r>
            <a:endParaRPr lang="zh-CN"/>
          </a:p>
        </p:txBody>
      </p:sp>
      <p:sp>
        <p:nvSpPr>
          <p:cNvPr id="8036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356" y="889000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356" y="1003300"/>
            <a:ext cx="152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786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7281" y="173216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4008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1638896"/>
            <a:ext cx="1409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封面设计</a:t>
            </a:r>
            <a:endParaRPr lang="zh-CN"/>
          </a:p>
        </p:txBody>
      </p:sp>
      <p:sp>
        <p:nvSpPr>
          <p:cNvPr id="4008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1975446"/>
            <a:ext cx="1333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项目展示首页</a:t>
            </a:r>
            <a:endParaRPr lang="zh-CN"/>
          </a:p>
        </p:txBody>
      </p:sp>
      <p:sp>
        <p:nvSpPr>
          <p:cNvPr id="8036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65" y="1397000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65" y="161786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50153" y="173216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4008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1638896"/>
            <a:ext cx="1257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项目概述</a:t>
            </a:r>
            <a:endParaRPr lang="zh-CN"/>
          </a:p>
        </p:txBody>
      </p:sp>
      <p:sp>
        <p:nvSpPr>
          <p:cNvPr id="4008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1975446"/>
            <a:ext cx="11811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背景与目标</a:t>
            </a:r>
            <a:endParaRPr lang="zh-CN"/>
          </a:p>
        </p:txBody>
      </p:sp>
      <p:sp>
        <p:nvSpPr>
          <p:cNvPr id="8036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731" y="1397000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31" y="161786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3018" y="173216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4008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1638896"/>
            <a:ext cx="1485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技术栈总览</a:t>
            </a:r>
            <a:endParaRPr lang="zh-CN"/>
          </a:p>
        </p:txBody>
      </p:sp>
      <p:sp>
        <p:nvSpPr>
          <p:cNvPr id="4008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1975446"/>
            <a:ext cx="14097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核心技术选型</a:t>
            </a:r>
            <a:endParaRPr lang="zh-CN"/>
          </a:p>
        </p:txBody>
      </p:sp>
      <p:sp>
        <p:nvSpPr>
          <p:cNvPr id="8036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3321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4187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7281" y="3088487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4008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2995218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系统架构设计</a:t>
            </a:r>
            <a:endParaRPr lang="zh-CN"/>
          </a:p>
        </p:txBody>
      </p:sp>
      <p:sp>
        <p:nvSpPr>
          <p:cNvPr id="4008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3331768"/>
            <a:ext cx="1638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整体架构方案</a:t>
            </a:r>
            <a:endParaRPr lang="zh-CN"/>
          </a:p>
        </p:txBody>
      </p:sp>
      <p:sp>
        <p:nvSpPr>
          <p:cNvPr id="8036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65" y="2753321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65" y="2974187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50153" y="3088487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05</a:t>
            </a:r>
            <a:endParaRPr lang="zh-CN"/>
          </a:p>
        </p:txBody>
      </p:sp>
      <p:sp>
        <p:nvSpPr>
          <p:cNvPr id="4008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2995218"/>
            <a:ext cx="1485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数据库设计</a:t>
            </a:r>
            <a:endParaRPr lang="zh-CN"/>
          </a:p>
        </p:txBody>
      </p:sp>
      <p:sp>
        <p:nvSpPr>
          <p:cNvPr id="4008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3331768"/>
            <a:ext cx="14097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数据模型规划</a:t>
            </a:r>
            <a:endParaRPr lang="zh-CN"/>
          </a:p>
        </p:txBody>
      </p:sp>
      <p:sp>
        <p:nvSpPr>
          <p:cNvPr id="8036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731" y="2753321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31" y="2974187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3018" y="3088487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06</a:t>
            </a:r>
            <a:endParaRPr lang="zh-CN"/>
          </a:p>
        </p:txBody>
      </p:sp>
      <p:sp>
        <p:nvSpPr>
          <p:cNvPr id="4008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2995218"/>
            <a:ext cx="2171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核心功能模块矩阵</a:t>
            </a:r>
            <a:endParaRPr lang="zh-CN"/>
          </a:p>
        </p:txBody>
      </p:sp>
      <p:sp>
        <p:nvSpPr>
          <p:cNvPr id="4008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3331768"/>
            <a:ext cx="2095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功能全景展示</a:t>
            </a:r>
            <a:endParaRPr lang="zh-CN"/>
          </a:p>
        </p:txBody>
      </p:sp>
      <p:sp>
        <p:nvSpPr>
          <p:cNvPr id="8036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9643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6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0496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7281" y="4444796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07</a:t>
            </a:r>
            <a:endParaRPr lang="zh-CN"/>
          </a:p>
        </p:txBody>
      </p:sp>
      <p:sp>
        <p:nvSpPr>
          <p:cNvPr id="4008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4351540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智能推荐引擎</a:t>
            </a:r>
            <a:endParaRPr lang="zh-CN"/>
          </a:p>
        </p:txBody>
      </p:sp>
      <p:sp>
        <p:nvSpPr>
          <p:cNvPr id="4008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4688090"/>
            <a:ext cx="1638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个性化推荐算法</a:t>
            </a:r>
            <a:endParaRPr lang="zh-CN"/>
          </a:p>
        </p:txBody>
      </p:sp>
      <p:sp>
        <p:nvSpPr>
          <p:cNvPr id="8037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65" y="4109643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65" y="4330496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50153" y="4444796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08</a:t>
            </a:r>
            <a:endParaRPr lang="zh-CN"/>
          </a:p>
        </p:txBody>
      </p:sp>
      <p:sp>
        <p:nvSpPr>
          <p:cNvPr id="4008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4351540"/>
            <a:ext cx="1536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AI 智能助手</a:t>
            </a:r>
            <a:endParaRPr lang="zh-CN"/>
          </a:p>
        </p:txBody>
      </p:sp>
      <p:sp>
        <p:nvSpPr>
          <p:cNvPr id="4008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4688090"/>
            <a:ext cx="1460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智能交互服务</a:t>
            </a:r>
            <a:endParaRPr lang="zh-CN"/>
          </a:p>
        </p:txBody>
      </p:sp>
      <p:sp>
        <p:nvSpPr>
          <p:cNvPr id="8037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731" y="4109643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31" y="4330496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3018" y="4444796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09</a:t>
            </a:r>
            <a:endParaRPr lang="zh-CN"/>
          </a:p>
        </p:txBody>
      </p:sp>
      <p:sp>
        <p:nvSpPr>
          <p:cNvPr id="4008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4351540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前端创新设计</a:t>
            </a:r>
            <a:endParaRPr lang="zh-CN"/>
          </a:p>
        </p:txBody>
      </p:sp>
      <p:sp>
        <p:nvSpPr>
          <p:cNvPr id="4008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4688090"/>
            <a:ext cx="1638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界面交互创新</a:t>
            </a:r>
            <a:endParaRPr lang="zh-CN"/>
          </a:p>
        </p:txBody>
      </p:sp>
      <p:sp>
        <p:nvSpPr>
          <p:cNvPr id="8037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5965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86818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7281" y="5801118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10</a:t>
            </a:r>
            <a:endParaRPr lang="zh-CN"/>
          </a:p>
        </p:txBody>
      </p:sp>
      <p:sp>
        <p:nvSpPr>
          <p:cNvPr id="4008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5707862"/>
            <a:ext cx="1409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安全设计</a:t>
            </a:r>
            <a:endParaRPr lang="zh-CN"/>
          </a:p>
        </p:txBody>
      </p:sp>
      <p:sp>
        <p:nvSpPr>
          <p:cNvPr id="4008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765300" y="6044412"/>
            <a:ext cx="1333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系统安全策略</a:t>
            </a:r>
            <a:endParaRPr lang="zh-CN"/>
          </a:p>
        </p:txBody>
      </p:sp>
      <p:sp>
        <p:nvSpPr>
          <p:cNvPr id="8037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65" y="5465965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65" y="5686818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50153" y="5801118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11</a:t>
            </a:r>
            <a:endParaRPr lang="zh-CN"/>
          </a:p>
        </p:txBody>
      </p:sp>
      <p:sp>
        <p:nvSpPr>
          <p:cNvPr id="4008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5707862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创新点与特色</a:t>
            </a:r>
            <a:endParaRPr lang="zh-CN"/>
          </a:p>
        </p:txBody>
      </p:sp>
      <p:sp>
        <p:nvSpPr>
          <p:cNvPr id="4008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6044412"/>
            <a:ext cx="1638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项目亮点总结</a:t>
            </a:r>
            <a:endParaRPr lang="zh-CN"/>
          </a:p>
        </p:txBody>
      </p:sp>
      <p:sp>
        <p:nvSpPr>
          <p:cNvPr id="8037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731" y="5465965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31" y="5686818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3018" y="5801118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12</a:t>
            </a:r>
            <a:endParaRPr lang="zh-CN"/>
          </a:p>
        </p:txBody>
      </p:sp>
      <p:sp>
        <p:nvSpPr>
          <p:cNvPr id="4008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5707862"/>
            <a:ext cx="19431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项目数据与成果</a:t>
            </a:r>
            <a:endParaRPr lang="zh-CN"/>
          </a:p>
        </p:txBody>
      </p:sp>
      <p:sp>
        <p:nvSpPr>
          <p:cNvPr id="4008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51031" y="6044412"/>
            <a:ext cx="18669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成效量化展示</a:t>
            </a:r>
            <a:endParaRPr lang="zh-CN"/>
          </a:p>
        </p:txBody>
      </p:sp>
      <p:sp>
        <p:nvSpPr>
          <p:cNvPr id="8037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65" y="6822287"/>
            <a:ext cx="45466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365" y="7043343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50153" y="7157643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E5C158"/>
                </a:solidFill>
                <a:latin typeface="Noto Sans SC"/>
                <a:ea typeface="Noto Sans SC"/>
              </a:rPr>
              <a:t>13</a:t>
            </a:r>
            <a:endParaRPr lang="zh-CN"/>
          </a:p>
        </p:txBody>
      </p:sp>
      <p:sp>
        <p:nvSpPr>
          <p:cNvPr id="4008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7064375"/>
            <a:ext cx="1587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致谢与问答</a:t>
            </a:r>
            <a:endParaRPr lang="zh-CN"/>
          </a:p>
        </p:txBody>
      </p:sp>
      <p:sp>
        <p:nvSpPr>
          <p:cNvPr id="4008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08165" y="7400925"/>
            <a:ext cx="1511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感谢与互动环节</a:t>
            </a:r>
            <a:endParaRPr lang="zh-CN"/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1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f0ae2c7cb5342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1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339e6aeb90b4c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8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8037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982421" y="4679950"/>
            <a:ext cx="2298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封面设计</a:t>
            </a:r>
            <a:endParaRPr lang="zh-CN"/>
          </a:p>
        </p:txBody>
      </p:sp>
      <p:sp>
        <p:nvSpPr>
          <p:cNvPr id="4008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93471" y="56832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构建视觉中心，确立金色主调</a:t>
            </a:r>
            <a:endParaRPr lang="zh-CN"/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fd32a5fc91544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2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ca2d58df0124e9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pic>
        <p:nvPicPr>
          <p:cNvPr id="8300" name="Picture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39597cbac48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oundRect">
            <a:avLst>
              <a:gd name="adj" fmla="val 1666"/>
            </a:avLst>
          </a:prstGeom>
        </p:spPr>
      </p:pic>
      <p:sp>
        <p:nvSpPr>
          <p:cNvPr id="4008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207721" y="3543300"/>
            <a:ext cx="3848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博雅书院</a:t>
            </a:r>
            <a:endParaRPr lang="zh-CN"/>
          </a:p>
        </p:txBody>
      </p:sp>
      <p:sp>
        <p:nvSpPr>
          <p:cNvPr id="4008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910184" y="52197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2200">
                <a:solidFill>
                  <a:srgbClr val="6E6E73"/>
                </a:solidFill>
                <a:latin typeface="Noto Sans SC"/>
                <a:ea typeface="Noto Sans SC"/>
              </a:rPr>
              <a:t>3D 标题与背景元素</a:t>
            </a:r>
            <a:endParaRPr lang="zh-CN"/>
          </a:p>
        </p:txBody>
      </p:sp>
      <p:sp>
        <p:nvSpPr>
          <p:cNvPr id="4008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248006" y="58420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高端学术严谨风格 · 沉浸式封面体验</a:t>
            </a:r>
            <a:endParaRPr lang="zh-CN"/>
          </a:p>
        </p:txBody>
      </p:sp>
      <p:sp>
        <p:nvSpPr>
          <p:cNvPr id="8037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6591300"/>
            <a:ext cx="1524000" cy="254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5C158">
                  <a:alpha val="0"/>
                </a:srgbClr>
              </a:gs>
              <a:gs pos="50000">
                <a:srgbClr val="E5C158"/>
              </a:gs>
              <a:gs pos="100000">
                <a:srgbClr val="E5C158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471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标题与背景元素</a:t>
            </a:r>
            <a:endParaRPr lang="zh-CN"/>
          </a:p>
        </p:txBody>
      </p:sp>
      <p:sp>
        <p:nvSpPr>
          <p:cNvPr id="8037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3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9a075336f514fe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3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8d7ed914de84e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8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8037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982421" y="4679950"/>
            <a:ext cx="2298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项目概述</a:t>
            </a:r>
            <a:endParaRPr lang="zh-CN"/>
          </a:p>
        </p:txBody>
      </p:sp>
      <p:sp>
        <p:nvSpPr>
          <p:cNvPr id="4008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79984" y="5683250"/>
            <a:ext cx="309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3D卡片展示代码与数据规模</a:t>
            </a:r>
            <a:endParaRPr lang="zh-CN"/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4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635df37820441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4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338867438a3408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7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778000"/>
            <a:ext cx="60960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8415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7780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>
                <a:alpha val="5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2212975"/>
            <a:ext cx="20320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代码总行数</a:t>
            </a:r>
            <a:endParaRPr lang="zh-CN"/>
          </a:p>
        </p:txBody>
      </p:sp>
      <p:sp>
        <p:nvSpPr>
          <p:cNvPr id="4008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2600325"/>
            <a:ext cx="27559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5600" b="1">
                <a:solidFill>
                  <a:srgbClr val="E5C158"/>
                </a:solidFill>
                <a:latin typeface="Noto Sans SC"/>
                <a:ea typeface="Noto Sans SC"/>
              </a:rPr>
              <a:t>25k+</a:t>
            </a:r>
            <a:endParaRPr lang="zh-CN"/>
          </a:p>
        </p:txBody>
      </p:sp>
      <p:sp>
        <p:nvSpPr>
          <p:cNvPr id="8037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1900" y="2355850"/>
            <a:ext cx="812800" cy="812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5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acefb6e746b4ba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116050" y="2584450"/>
            <a:ext cx="444500" cy="355600"/>
          </a:xfrm>
          <a:prstGeom xmlns:a="http://schemas.openxmlformats.org/drawingml/2006/main" prst="rect">
            <a:avLst/>
          </a:prstGeom>
        </p:spPr>
      </p:pic>
      <p:sp>
        <p:nvSpPr>
          <p:cNvPr id="8037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064000"/>
            <a:ext cx="60960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1275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0640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>
                <a:alpha val="5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4498975"/>
            <a:ext cx="1485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项目文件数</a:t>
            </a:r>
            <a:endParaRPr lang="zh-CN"/>
          </a:p>
        </p:txBody>
      </p:sp>
      <p:sp>
        <p:nvSpPr>
          <p:cNvPr id="4008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4886325"/>
            <a:ext cx="220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5600" b="1">
                <a:solidFill>
                  <a:srgbClr val="E5C158"/>
                </a:solidFill>
                <a:latin typeface="Noto Sans SC"/>
                <a:ea typeface="Noto Sans SC"/>
              </a:rPr>
              <a:t>89</a:t>
            </a:r>
            <a:endParaRPr lang="zh-CN"/>
          </a:p>
        </p:txBody>
      </p:sp>
      <p:sp>
        <p:nvSpPr>
          <p:cNvPr id="8037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1900" y="4641850"/>
            <a:ext cx="812800" cy="812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6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e2e18bf207e4d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204950" y="4870450"/>
            <a:ext cx="266700" cy="355600"/>
          </a:xfrm>
          <a:prstGeom xmlns:a="http://schemas.openxmlformats.org/drawingml/2006/main" prst="rect">
            <a:avLst/>
          </a:prstGeom>
        </p:spPr>
      </p:pic>
      <p:sp>
        <p:nvSpPr>
          <p:cNvPr id="8037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6350000"/>
            <a:ext cx="60960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64135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6350000"/>
            <a:ext cx="6096000" cy="1968500"/>
          </a:xfrm>
          <a:prstGeom xmlns:a="http://schemas.openxmlformats.org/drawingml/2006/main" prst="roundRect">
            <a:avLst>
              <a:gd name="adj" fmla="val 7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>
                <a:alpha val="5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6784975"/>
            <a:ext cx="1485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数据表数量</a:t>
            </a:r>
            <a:endParaRPr lang="zh-CN"/>
          </a:p>
        </p:txBody>
      </p:sp>
      <p:sp>
        <p:nvSpPr>
          <p:cNvPr id="4008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3700" y="7172325"/>
            <a:ext cx="220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5600" b="1">
                <a:solidFill>
                  <a:srgbClr val="E5C158"/>
                </a:solidFill>
                <a:latin typeface="Noto Sans SC"/>
                <a:ea typeface="Noto Sans SC"/>
              </a:rPr>
              <a:t>50</a:t>
            </a:r>
            <a:endParaRPr lang="zh-CN"/>
          </a:p>
        </p:txBody>
      </p:sp>
      <p:sp>
        <p:nvSpPr>
          <p:cNvPr id="8037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1900" y="6927850"/>
            <a:ext cx="812800" cy="812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6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eea390453bf4f8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182725" y="7156450"/>
            <a:ext cx="317500" cy="355600"/>
          </a:xfrm>
          <a:prstGeom xmlns:a="http://schemas.openxmlformats.org/drawingml/2006/main" prst="rect">
            <a:avLst/>
          </a:prstGeom>
        </p:spPr>
      </p:pic>
      <p:sp>
        <p:nvSpPr>
          <p:cNvPr id="8037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3900">
            <a:off x="-3048977" y="5132590"/>
            <a:ext cx="14935200" cy="14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2123681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000000"/>
                </a:solidFill>
                <a:latin typeface="Noto Sans SC"/>
                <a:ea typeface="Noto Sans SC"/>
              </a:rPr>
              <a:t>设计理念与工艺</a:t>
            </a:r>
            <a:endParaRPr lang="zh-CN"/>
          </a:p>
        </p:txBody>
      </p:sp>
      <p:sp>
        <p:nvSpPr>
          <p:cNvPr id="4008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2657081"/>
            <a:ext cx="74676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通过 Extrusion 厚度手法，为数据卡片赋予真实的物理堆叠效果。上表面纯白，侧面延伸 5pt 极浅灰厚度，配合金色 3D 凸起数字与柔和阴影，打造可触摸的厚重感。</a:t>
            </a:r>
            <a:endParaRPr lang="zh-CN"/>
          </a:p>
        </p:txBody>
      </p:sp>
      <p:sp>
        <p:nvSpPr>
          <p:cNvPr id="8037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74676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12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E5C158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6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414022d50fc48a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85825" y="469900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4008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4509096"/>
            <a:ext cx="5321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物理堆叠效果</a:t>
            </a:r>
            <a:endParaRPr lang="zh-CN"/>
          </a:p>
        </p:txBody>
      </p:sp>
      <p:sp>
        <p:nvSpPr>
          <p:cNvPr id="4008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4845646"/>
            <a:ext cx="532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5pt 厚度延伸模拟真实卡片，底部阴影增强悬浮感</a:t>
            </a:r>
            <a:endParaRPr lang="zh-CN"/>
          </a:p>
        </p:txBody>
      </p:sp>
      <p:sp>
        <p:nvSpPr>
          <p:cNvPr id="8037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613400"/>
            <a:ext cx="74676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E5C158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178ac1e31c049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01700" y="61214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08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5931496"/>
            <a:ext cx="4914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金色 3D 凸起工艺</a:t>
            </a:r>
            <a:endParaRPr lang="zh-CN"/>
          </a:p>
        </p:txBody>
      </p:sp>
      <p:sp>
        <p:nvSpPr>
          <p:cNvPr id="4008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6268046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关键数字采用金属质感，光照下呈现立体光泽</a:t>
            </a:r>
            <a:endParaRPr lang="zh-CN"/>
          </a:p>
        </p:txBody>
      </p:sp>
      <p:sp>
        <p:nvSpPr>
          <p:cNvPr id="8037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7035800"/>
            <a:ext cx="74676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60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E5C158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19473e22b094f4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7575" y="754380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4008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7353896"/>
            <a:ext cx="4457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等距网格背景</a:t>
            </a:r>
            <a:endParaRPr lang="zh-CN"/>
          </a:p>
        </p:txBody>
      </p:sp>
      <p:sp>
        <p:nvSpPr>
          <p:cNvPr id="4008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7690446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极淡网格图案象征底层数据的庞大与规整</a:t>
            </a:r>
            <a:endParaRPr lang="zh-CN"/>
          </a:p>
        </p:txBody>
      </p:sp>
      <p:sp>
        <p:nvSpPr>
          <p:cNvPr id="8037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424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数据卡片展示</a:t>
            </a:r>
            <a:endParaRPr lang="zh-CN"/>
          </a:p>
        </p:txBody>
      </p:sp>
      <p:sp>
        <p:nvSpPr>
          <p:cNvPr id="8037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8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785fe0137534ee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2bc3aa89091434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8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8037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96075" y="4679950"/>
            <a:ext cx="2870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技术栈总览</a:t>
            </a:r>
            <a:endParaRPr lang="zh-CN"/>
          </a:p>
        </p:txBody>
      </p:sp>
      <p:sp>
        <p:nvSpPr>
          <p:cNvPr id="4008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05600" y="5683250"/>
            <a:ext cx="284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3D标签球体展示技术分布</a:t>
            </a:r>
            <a:endParaRPr lang="zh-CN"/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7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9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2649901fe7b42a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7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9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8a80d25309143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7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8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8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7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2" y="1517650"/>
            <a:ext cx="4254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7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312" y="1568450"/>
            <a:ext cx="2057400" cy="546100"/>
          </a:xfrm>
          <a:prstGeom xmlns:a="http://schemas.openxmlformats.org/drawingml/2006/main" prst="roundRect">
            <a:avLst>
              <a:gd name="adj" fmla="val 1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79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3da394e01f14b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62712" y="1727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08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92912" y="16700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后端视角</a:t>
            </a:r>
            <a:endParaRPr lang="zh-CN"/>
          </a:p>
        </p:txBody>
      </p:sp>
      <p:pic>
        <p:nvPicPr>
          <p:cNvPr id="80380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78ddc829a8a4d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20112" y="17272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4009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878887" y="16700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前端视角</a:t>
            </a:r>
            <a:endParaRPr lang="zh-CN"/>
          </a:p>
        </p:txBody>
      </p:sp>
      <p:pic>
        <p:nvPicPr>
          <p:cNvPr id="80380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1f740d6947b46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2362200"/>
            <a:ext cx="15240000" cy="6172200"/>
          </a:xfrm>
          <a:prstGeom xmlns:a="http://schemas.openxmlformats.org/drawingml/2006/main" prst="rect">
            <a:avLst/>
          </a:prstGeom>
        </p:spPr>
      </p:pic>
      <p:sp>
        <p:nvSpPr>
          <p:cNvPr id="8038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936" y="4168775"/>
            <a:ext cx="1549400" cy="571500"/>
          </a:xfrm>
          <a:prstGeom xmlns:a="http://schemas.openxmlformats.org/drawingml/2006/main" prst="roundRect">
            <a:avLst>
              <a:gd name="adj" fmla="val 26666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>
            <a:solidFill>
              <a:srgbClr val="E1E1E5">
                <a:alpha val="70000"/>
              </a:srgbClr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0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d142131cd8e44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19246" y="4334510"/>
            <a:ext cx="254000" cy="203200"/>
          </a:xfrm>
          <a:prstGeom xmlns:a="http://schemas.openxmlformats.org/drawingml/2006/main" prst="rect">
            <a:avLst/>
          </a:prstGeom>
        </p:spPr>
      </p:pic>
      <p:sp>
        <p:nvSpPr>
          <p:cNvPr id="4009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639286" y="427164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>
                    <a:alpha val="70000"/>
                  </a:srgbClr>
                </a:solidFill>
                <a:latin typeface="Noto Sans SC"/>
                <a:ea typeface="Noto Sans SC"/>
              </a:rPr>
              <a:t>Servlet</a:t>
            </a:r>
            <a:endParaRPr lang="zh-CN"/>
          </a:p>
        </p:txBody>
      </p:sp>
      <p:sp>
        <p:nvSpPr>
          <p:cNvPr id="8038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438" y="2898775"/>
            <a:ext cx="1600200" cy="571500"/>
          </a:xfrm>
          <a:prstGeom xmlns:a="http://schemas.openxmlformats.org/drawingml/2006/main" prst="roundRect">
            <a:avLst>
              <a:gd name="adj" fmla="val 26666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>
            <a:solidFill>
              <a:srgbClr val="E1E1E5">
                <a:alpha val="70000"/>
              </a:srgbClr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0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fa71806771e43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465748" y="3064510"/>
            <a:ext cx="228600" cy="203200"/>
          </a:xfrm>
          <a:prstGeom xmlns:a="http://schemas.openxmlformats.org/drawingml/2006/main" prst="rect">
            <a:avLst/>
          </a:prstGeom>
        </p:spPr>
      </p:pic>
      <p:sp>
        <p:nvSpPr>
          <p:cNvPr id="4009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62865" y="3001645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>
                    <a:alpha val="70000"/>
                  </a:srgbClr>
                </a:solidFill>
                <a:latin typeface="Noto Sans SC"/>
                <a:ea typeface="Noto Sans SC"/>
              </a:rPr>
              <a:t>ECharts</a:t>
            </a:r>
            <a:endParaRPr lang="zh-CN"/>
          </a:p>
        </p:txBody>
      </p:sp>
      <p:sp>
        <p:nvSpPr>
          <p:cNvPr id="8038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457" y="4676775"/>
            <a:ext cx="1092200" cy="571500"/>
          </a:xfrm>
          <a:prstGeom xmlns:a="http://schemas.openxmlformats.org/drawingml/2006/main" prst="roundRect">
            <a:avLst>
              <a:gd name="adj" fmla="val 26666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>
            <a:solidFill>
              <a:srgbClr val="E1E1E5">
                <a:alpha val="70000"/>
              </a:srgbClr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0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c5517b37dcc4bc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440767" y="4842510"/>
            <a:ext cx="152400" cy="203200"/>
          </a:xfrm>
          <a:prstGeom xmlns:a="http://schemas.openxmlformats.org/drawingml/2006/main" prst="rect">
            <a:avLst/>
          </a:prstGeom>
        </p:spPr>
      </p:pic>
      <p:sp>
        <p:nvSpPr>
          <p:cNvPr id="4009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669367" y="4779645"/>
            <a:ext cx="74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>
                    <a:alpha val="70000"/>
                  </a:srgbClr>
                </a:solidFill>
                <a:latin typeface="Noto Sans SC"/>
                <a:ea typeface="Noto Sans SC"/>
              </a:rPr>
              <a:t>JSP</a:t>
            </a:r>
            <a:endParaRPr lang="zh-CN"/>
          </a:p>
        </p:txBody>
      </p:sp>
      <p:sp>
        <p:nvSpPr>
          <p:cNvPr id="8038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04" y="2763520"/>
            <a:ext cx="2298700" cy="812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5C158">
              <a:alpha val="90000"/>
            </a:srgbClr>
          </a:solidFill>
          <a:ln xmlns:a="http://schemas.openxmlformats.org/drawingml/2006/main" w="25400">
            <a:solidFill>
              <a:srgbClr val="F2D06B">
                <a:alpha val="90000"/>
              </a:srgbClr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0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3f2919a238a4b9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530094" y="302895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4009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837751" y="2932430"/>
            <a:ext cx="17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00000">
                    <a:alpha val="90000"/>
                  </a:srgbClr>
                </a:solidFill>
                <a:latin typeface="Noto Sans SC"/>
                <a:ea typeface="Noto Sans SC"/>
              </a:rPr>
              <a:t>HikariCP</a:t>
            </a:r>
            <a:endParaRPr lang="zh-CN"/>
          </a:p>
        </p:txBody>
      </p:sp>
      <p:sp>
        <p:nvSpPr>
          <p:cNvPr id="8038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231" y="3398520"/>
            <a:ext cx="2057400" cy="812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5C158">
              <a:alpha val="90000"/>
            </a:srgbClr>
          </a:solidFill>
          <a:ln xmlns:a="http://schemas.openxmlformats.org/drawingml/2006/main" w="25400">
            <a:solidFill>
              <a:srgbClr val="F2D06B">
                <a:alpha val="90000"/>
              </a:srgbClr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1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1a7a2dd7e6148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78921" y="366395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09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116741" y="3567429"/>
            <a:ext cx="149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00000">
                    <a:alpha val="90000"/>
                  </a:srgbClr>
                </a:solidFill>
                <a:latin typeface="Noto Sans SC"/>
                <a:ea typeface="Noto Sans SC"/>
              </a:rPr>
              <a:t>BCrypt</a:t>
            </a:r>
            <a:endParaRPr lang="zh-CN"/>
          </a:p>
        </p:txBody>
      </p:sp>
      <p:sp>
        <p:nvSpPr>
          <p:cNvPr id="8038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0448" y="7411084"/>
            <a:ext cx="1358900" cy="622300"/>
          </a:xfrm>
          <a:prstGeom xmlns:a="http://schemas.openxmlformats.org/drawingml/2006/main" prst="roundRect">
            <a:avLst>
              <a:gd name="adj" fmla="val 244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1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ed6637a8b9748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163818" y="7613650"/>
            <a:ext cx="190500" cy="254000"/>
          </a:xfrm>
          <a:prstGeom xmlns:a="http://schemas.openxmlformats.org/drawingml/2006/main" prst="rect">
            <a:avLst/>
          </a:prstGeom>
        </p:spPr>
      </p:pic>
      <p:sp>
        <p:nvSpPr>
          <p:cNvPr id="4009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85128" y="756475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Java</a:t>
            </a:r>
            <a:endParaRPr lang="zh-CN"/>
          </a:p>
        </p:txBody>
      </p:sp>
      <p:sp>
        <p:nvSpPr>
          <p:cNvPr id="8038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135" y="7284084"/>
            <a:ext cx="1727200" cy="622300"/>
          </a:xfrm>
          <a:prstGeom xmlns:a="http://schemas.openxmlformats.org/drawingml/2006/main" prst="roundRect">
            <a:avLst>
              <a:gd name="adj" fmla="val 244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1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109a12ee57349a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70505" y="748665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09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361665" y="7437755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Tomcat</a:t>
            </a:r>
            <a:endParaRPr lang="zh-CN"/>
          </a:p>
        </p:txBody>
      </p:sp>
      <p:sp>
        <p:nvSpPr>
          <p:cNvPr id="8038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653" y="7411084"/>
            <a:ext cx="1574800" cy="622300"/>
          </a:xfrm>
          <a:prstGeom xmlns:a="http://schemas.openxmlformats.org/drawingml/2006/main" prst="roundRect">
            <a:avLst>
              <a:gd name="adj" fmla="val 244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1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f4d45332a4147d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628023" y="7613650"/>
            <a:ext cx="317500" cy="254000"/>
          </a:xfrm>
          <a:prstGeom xmlns:a="http://schemas.openxmlformats.org/drawingml/2006/main" prst="rect">
            <a:avLst/>
          </a:prstGeom>
        </p:spPr>
      </p:pic>
      <p:sp>
        <p:nvSpPr>
          <p:cNvPr id="4009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089033" y="7564755"/>
            <a:ext cx="96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Fetch</a:t>
            </a:r>
            <a:endParaRPr lang="zh-CN"/>
          </a:p>
        </p:txBody>
      </p:sp>
      <p:sp>
        <p:nvSpPr>
          <p:cNvPr id="8038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655" y="7284084"/>
            <a:ext cx="1257300" cy="622300"/>
          </a:xfrm>
          <a:prstGeom xmlns:a="http://schemas.openxmlformats.org/drawingml/2006/main" prst="roundRect">
            <a:avLst>
              <a:gd name="adj" fmla="val 244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1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36183f2ec6a4a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184025" y="7486650"/>
            <a:ext cx="190500" cy="254000"/>
          </a:xfrm>
          <a:prstGeom xmlns:a="http://schemas.openxmlformats.org/drawingml/2006/main" prst="rect">
            <a:avLst/>
          </a:prstGeom>
        </p:spPr>
      </p:pic>
      <p:sp>
        <p:nvSpPr>
          <p:cNvPr id="4009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505335" y="7437755"/>
            <a:ext cx="77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CSS</a:t>
            </a:r>
            <a:endParaRPr lang="zh-CN"/>
          </a:p>
        </p:txBody>
      </p:sp>
      <p:sp>
        <p:nvSpPr>
          <p:cNvPr id="8038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6980"/>
            <a:ext cx="2540000" cy="9144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 w="25400">
            <a:solidFill>
              <a:srgbClr val="F2D06B"/>
            </a:solidFill>
            <a:prstDash val="solid"/>
            <a:round/>
          </a:ln>
          <a:effectLst xmlns:a="http://schemas.openxmlformats.org/drawingml/2006/main">
            <a:outerShdw blurRad="317500" dist="254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2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5c992f6513d46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332980" y="538226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835900" y="529844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00000"/>
                </a:solidFill>
                <a:latin typeface="Noto Sans SC"/>
                <a:ea typeface="Noto Sans SC"/>
              </a:rPr>
              <a:t>原生技术</a:t>
            </a:r>
            <a:endParaRPr lang="zh-CN"/>
          </a:p>
        </p:txBody>
      </p:sp>
      <p:sp>
        <p:nvSpPr>
          <p:cNvPr id="8038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424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标签球体模型</a:t>
            </a:r>
            <a:endParaRPr lang="zh-CN"/>
          </a:p>
        </p:txBody>
      </p:sp>
      <p:sp>
        <p:nvSpPr>
          <p:cNvPr id="8038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8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2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3829c7166a840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8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3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f41ee97e42b4e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8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9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8038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09537" y="4679950"/>
            <a:ext cx="3441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系统架构设计</a:t>
            </a:r>
            <a:endParaRPr lang="zh-CN"/>
          </a:p>
        </p:txBody>
      </p:sp>
      <p:sp>
        <p:nvSpPr>
          <p:cNvPr id="4009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44893" y="5683250"/>
            <a:ext cx="276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五层架构与请求生命周期</a:t>
            </a:r>
            <a:endParaRPr lang="zh-CN"/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8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3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6c4bb64b23941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8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4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99e40b8518c4f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8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8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891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36600" y="16129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6E6E73"/>
                </a:solidFill>
                <a:latin typeface="Noto Sans SC"/>
                <a:ea typeface="Noto Sans SC"/>
              </a:rPr>
              <a:t>系统架构可视化呈现</a:t>
            </a:r>
            <a:endParaRPr lang="zh-CN"/>
          </a:p>
        </p:txBody>
      </p:sp>
      <p:pic>
        <p:nvPicPr>
          <p:cNvPr id="80384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68366c70cda464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2362200"/>
            <a:ext cx="9906000" cy="6172200"/>
          </a:xfrm>
          <a:prstGeom xmlns:a="http://schemas.openxmlformats.org/drawingml/2006/main" prst="rect">
            <a:avLst/>
          </a:prstGeom>
        </p:spPr>
      </p:pic>
      <p:sp>
        <p:nvSpPr>
          <p:cNvPr id="8038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2730500"/>
            <a:ext cx="5130800" cy="9652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0" y="2959100"/>
            <a:ext cx="5080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4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95f81c4abf247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42612" y="30988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4009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2929331"/>
            <a:ext cx="443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前端 (Front-end)</a:t>
            </a:r>
            <a:endParaRPr lang="zh-CN"/>
          </a:p>
        </p:txBody>
      </p:sp>
      <p:sp>
        <p:nvSpPr>
          <p:cNvPr id="4009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3265881"/>
            <a:ext cx="43561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负责用户交互界面，发起业务请求并展示响应数据。</a:t>
            </a:r>
            <a:endParaRPr lang="zh-CN"/>
          </a:p>
        </p:txBody>
      </p:sp>
      <p:sp>
        <p:nvSpPr>
          <p:cNvPr id="8038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848100"/>
            <a:ext cx="5130800" cy="9652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0" y="4076700"/>
            <a:ext cx="5080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5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84d09e63b69474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28325" y="42164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4009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4046931"/>
            <a:ext cx="4076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Servlet 路由</a:t>
            </a:r>
            <a:endParaRPr lang="zh-CN"/>
          </a:p>
        </p:txBody>
      </p:sp>
      <p:sp>
        <p:nvSpPr>
          <p:cNvPr id="4009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4383481"/>
            <a:ext cx="4000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接收前端请求，进行路由分发与基础参数解析。</a:t>
            </a:r>
            <a:endParaRPr lang="zh-CN"/>
          </a:p>
        </p:txBody>
      </p:sp>
      <p:sp>
        <p:nvSpPr>
          <p:cNvPr id="8038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965700"/>
            <a:ext cx="5130800" cy="9652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0" y="5194300"/>
            <a:ext cx="5080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5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1ec88eb7b624b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28325" y="53340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4009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5164531"/>
            <a:ext cx="4076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Service 逻辑</a:t>
            </a:r>
            <a:endParaRPr lang="zh-CN"/>
          </a:p>
        </p:txBody>
      </p:sp>
      <p:sp>
        <p:nvSpPr>
          <p:cNvPr id="4009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5501081"/>
            <a:ext cx="4000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处理核心业务逻辑，执行规则校验与事务管理。</a:t>
            </a:r>
            <a:endParaRPr lang="zh-CN"/>
          </a:p>
        </p:txBody>
      </p:sp>
      <p:sp>
        <p:nvSpPr>
          <p:cNvPr id="8038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083300"/>
            <a:ext cx="5130800" cy="9652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0" y="6311900"/>
            <a:ext cx="5080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5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66e1f7bb4e3419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71187" y="6451600"/>
            <a:ext cx="203200" cy="228600"/>
          </a:xfrm>
          <a:prstGeom xmlns:a="http://schemas.openxmlformats.org/drawingml/2006/main" prst="rect">
            <a:avLst/>
          </a:prstGeom>
        </p:spPr>
      </p:pic>
      <p:sp>
        <p:nvSpPr>
          <p:cNvPr id="4009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6282131"/>
            <a:ext cx="4076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DAO 映射</a:t>
            </a:r>
            <a:endParaRPr lang="zh-CN"/>
          </a:p>
        </p:txBody>
      </p:sp>
      <p:sp>
        <p:nvSpPr>
          <p:cNvPr id="4009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6618681"/>
            <a:ext cx="40005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对象关系映射层，构建数据库查询与更新操作。</a:t>
            </a:r>
            <a:endParaRPr lang="zh-CN"/>
          </a:p>
        </p:txBody>
      </p:sp>
      <p:sp>
        <p:nvSpPr>
          <p:cNvPr id="8038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7200900"/>
            <a:ext cx="5130800" cy="9652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00" y="7429500"/>
            <a:ext cx="508000" cy="50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5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6aaf3ed53e3417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756900" y="7569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09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7399731"/>
            <a:ext cx="443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DB 存储</a:t>
            </a:r>
            <a:endParaRPr lang="zh-CN"/>
          </a:p>
        </p:txBody>
      </p:sp>
      <p:sp>
        <p:nvSpPr>
          <p:cNvPr id="4009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77600" y="7736281"/>
            <a:ext cx="43561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底层数据持久化存储，保障数据的完整性与安全性。</a:t>
            </a:r>
            <a:endParaRPr lang="zh-CN"/>
          </a:p>
        </p:txBody>
      </p:sp>
      <p:sp>
        <p:nvSpPr>
          <p:cNvPr id="6920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27305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850900"/>
                </a:lnTo>
                <a:lnTo>
                  <a:pt x="2866" y="876334"/>
                </a:lnTo>
                <a:lnTo>
                  <a:pt x="11320" y="900492"/>
                </a:lnTo>
                <a:lnTo>
                  <a:pt x="24937" y="922164"/>
                </a:lnTo>
                <a:lnTo>
                  <a:pt x="43036" y="940263"/>
                </a:lnTo>
                <a:lnTo>
                  <a:pt x="64708" y="953880"/>
                </a:lnTo>
                <a:lnTo>
                  <a:pt x="88866" y="962334"/>
                </a:lnTo>
                <a:lnTo>
                  <a:pt x="114300" y="965200"/>
                </a:lnTo>
                <a:lnTo>
                  <a:pt x="101583" y="962334"/>
                </a:lnTo>
                <a:lnTo>
                  <a:pt x="89504" y="953880"/>
                </a:lnTo>
                <a:lnTo>
                  <a:pt x="78668" y="940263"/>
                </a:lnTo>
                <a:lnTo>
                  <a:pt x="69619" y="922164"/>
                </a:lnTo>
                <a:lnTo>
                  <a:pt x="62810" y="900492"/>
                </a:lnTo>
                <a:lnTo>
                  <a:pt x="58583" y="876334"/>
                </a:lnTo>
                <a:lnTo>
                  <a:pt x="57150" y="850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0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8481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850900"/>
                </a:lnTo>
                <a:lnTo>
                  <a:pt x="2866" y="876334"/>
                </a:lnTo>
                <a:lnTo>
                  <a:pt x="11320" y="900492"/>
                </a:lnTo>
                <a:lnTo>
                  <a:pt x="24937" y="922164"/>
                </a:lnTo>
                <a:lnTo>
                  <a:pt x="43036" y="940263"/>
                </a:lnTo>
                <a:lnTo>
                  <a:pt x="64708" y="953880"/>
                </a:lnTo>
                <a:lnTo>
                  <a:pt x="88866" y="962334"/>
                </a:lnTo>
                <a:lnTo>
                  <a:pt x="114300" y="965200"/>
                </a:lnTo>
                <a:lnTo>
                  <a:pt x="101583" y="962334"/>
                </a:lnTo>
                <a:lnTo>
                  <a:pt x="89504" y="953880"/>
                </a:lnTo>
                <a:lnTo>
                  <a:pt x="78668" y="940263"/>
                </a:lnTo>
                <a:lnTo>
                  <a:pt x="69619" y="922164"/>
                </a:lnTo>
                <a:lnTo>
                  <a:pt x="62810" y="900492"/>
                </a:lnTo>
                <a:lnTo>
                  <a:pt x="58583" y="876334"/>
                </a:lnTo>
                <a:lnTo>
                  <a:pt x="57150" y="850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0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9657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850900"/>
                </a:lnTo>
                <a:lnTo>
                  <a:pt x="2866" y="876334"/>
                </a:lnTo>
                <a:lnTo>
                  <a:pt x="11320" y="900492"/>
                </a:lnTo>
                <a:lnTo>
                  <a:pt x="24937" y="922164"/>
                </a:lnTo>
                <a:lnTo>
                  <a:pt x="43036" y="940263"/>
                </a:lnTo>
                <a:lnTo>
                  <a:pt x="64708" y="953880"/>
                </a:lnTo>
                <a:lnTo>
                  <a:pt x="88866" y="962334"/>
                </a:lnTo>
                <a:lnTo>
                  <a:pt x="114300" y="965200"/>
                </a:lnTo>
                <a:lnTo>
                  <a:pt x="101583" y="962334"/>
                </a:lnTo>
                <a:lnTo>
                  <a:pt x="89504" y="953880"/>
                </a:lnTo>
                <a:lnTo>
                  <a:pt x="78668" y="940263"/>
                </a:lnTo>
                <a:lnTo>
                  <a:pt x="69619" y="922164"/>
                </a:lnTo>
                <a:lnTo>
                  <a:pt x="62810" y="900492"/>
                </a:lnTo>
                <a:lnTo>
                  <a:pt x="58583" y="876334"/>
                </a:lnTo>
                <a:lnTo>
                  <a:pt x="57150" y="850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07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0833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850900"/>
                </a:lnTo>
                <a:lnTo>
                  <a:pt x="2866" y="876334"/>
                </a:lnTo>
                <a:lnTo>
                  <a:pt x="11320" y="900492"/>
                </a:lnTo>
                <a:lnTo>
                  <a:pt x="24937" y="922164"/>
                </a:lnTo>
                <a:lnTo>
                  <a:pt x="43036" y="940263"/>
                </a:lnTo>
                <a:lnTo>
                  <a:pt x="64708" y="953880"/>
                </a:lnTo>
                <a:lnTo>
                  <a:pt x="88866" y="962334"/>
                </a:lnTo>
                <a:lnTo>
                  <a:pt x="114300" y="965200"/>
                </a:lnTo>
                <a:lnTo>
                  <a:pt x="101583" y="962334"/>
                </a:lnTo>
                <a:lnTo>
                  <a:pt x="89504" y="953880"/>
                </a:lnTo>
                <a:lnTo>
                  <a:pt x="78668" y="940263"/>
                </a:lnTo>
                <a:lnTo>
                  <a:pt x="69619" y="922164"/>
                </a:lnTo>
                <a:lnTo>
                  <a:pt x="62810" y="900492"/>
                </a:lnTo>
                <a:lnTo>
                  <a:pt x="58583" y="876334"/>
                </a:lnTo>
                <a:lnTo>
                  <a:pt x="57150" y="850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08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72009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850900"/>
                </a:lnTo>
                <a:lnTo>
                  <a:pt x="2866" y="876334"/>
                </a:lnTo>
                <a:lnTo>
                  <a:pt x="11320" y="900492"/>
                </a:lnTo>
                <a:lnTo>
                  <a:pt x="24937" y="922164"/>
                </a:lnTo>
                <a:lnTo>
                  <a:pt x="43036" y="940263"/>
                </a:lnTo>
                <a:lnTo>
                  <a:pt x="64708" y="953880"/>
                </a:lnTo>
                <a:lnTo>
                  <a:pt x="88866" y="962334"/>
                </a:lnTo>
                <a:lnTo>
                  <a:pt x="114300" y="965200"/>
                </a:lnTo>
                <a:lnTo>
                  <a:pt x="101583" y="962334"/>
                </a:lnTo>
                <a:lnTo>
                  <a:pt x="89504" y="953880"/>
                </a:lnTo>
                <a:lnTo>
                  <a:pt x="78668" y="940263"/>
                </a:lnTo>
                <a:lnTo>
                  <a:pt x="69619" y="922164"/>
                </a:lnTo>
                <a:lnTo>
                  <a:pt x="62810" y="900492"/>
                </a:lnTo>
                <a:lnTo>
                  <a:pt x="58583" y="876334"/>
                </a:lnTo>
                <a:lnTo>
                  <a:pt x="57150" y="850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97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等距分层架构图</a:t>
            </a:r>
            <a:endParaRPr lang="zh-CN"/>
          </a:p>
        </p:txBody>
      </p:sp>
      <p:sp>
        <p:nvSpPr>
          <p:cNvPr id="8038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8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6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5b46fe46caf448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8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6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9bed022741b4fc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8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9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05</a:t>
            </a:r>
            <a:endParaRPr lang="zh-CN"/>
          </a:p>
        </p:txBody>
      </p:sp>
      <p:sp>
        <p:nvSpPr>
          <p:cNvPr id="8038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96075" y="4679950"/>
            <a:ext cx="2870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数据库设计</a:t>
            </a:r>
            <a:endParaRPr lang="zh-CN"/>
          </a:p>
        </p:txBody>
      </p:sp>
      <p:sp>
        <p:nvSpPr>
          <p:cNvPr id="4009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94296" y="5683250"/>
            <a:ext cx="267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ER图转3D节点网络展示</a:t>
            </a:r>
            <a:endParaRPr lang="zh-CN"/>
          </a:p>
        </p:txBody>
      </p:sp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8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7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82048644e7649b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8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7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4aa77fc10bd40c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8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8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891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36600" y="1651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数据库核心架构可视化</a:t>
            </a:r>
            <a:endParaRPr lang="zh-CN"/>
          </a:p>
        </p:txBody>
      </p:sp>
      <p:sp>
        <p:nvSpPr>
          <p:cNvPr id="4009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530600" y="168910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6E6E73"/>
                </a:solidFill>
                <a:latin typeface="Noto Sans SC"/>
                <a:ea typeface="Noto Sans SC"/>
              </a:rPr>
              <a:t>将传统 ER 图转化为生动的 3D 节点网络图</a:t>
            </a:r>
            <a:endParaRPr lang="zh-CN"/>
          </a:p>
        </p:txBody>
      </p:sp>
      <p:pic>
        <p:nvPicPr>
          <p:cNvPr id="80388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3de9b02dd9745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2362200"/>
            <a:ext cx="15240000" cy="6172200"/>
          </a:xfrm>
          <a:prstGeom xmlns:a="http://schemas.openxmlformats.org/drawingml/2006/main" prst="rect">
            <a:avLst/>
          </a:prstGeom>
        </p:spPr>
      </p:pic>
      <p:sp>
        <p:nvSpPr>
          <p:cNvPr id="4009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26959" y="5219700"/>
            <a:ext cx="127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00000"/>
                </a:solidFill>
                <a:latin typeface="Noto Sans SC"/>
                <a:ea typeface="Noto Sans SC"/>
              </a:rPr>
              <a:t>users</a:t>
            </a:r>
            <a:endParaRPr lang="zh-CN"/>
          </a:p>
        </p:txBody>
      </p:sp>
      <p:sp>
        <p:nvSpPr>
          <p:cNvPr id="4009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889768" y="3714750"/>
            <a:ext cx="120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profiles</a:t>
            </a:r>
            <a:endParaRPr lang="zh-CN"/>
          </a:p>
        </p:txBody>
      </p:sp>
      <p:sp>
        <p:nvSpPr>
          <p:cNvPr id="4009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573471" y="3714750"/>
            <a:ext cx="107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orders</a:t>
            </a:r>
            <a:endParaRPr lang="zh-CN"/>
          </a:p>
        </p:txBody>
      </p:sp>
      <p:sp>
        <p:nvSpPr>
          <p:cNvPr id="4009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06023" y="6762750"/>
            <a:ext cx="124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settings</a:t>
            </a:r>
            <a:endParaRPr lang="zh-CN"/>
          </a:p>
        </p:txBody>
      </p:sp>
      <p:sp>
        <p:nvSpPr>
          <p:cNvPr id="4009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70526" y="6762750"/>
            <a:ext cx="81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logs</a:t>
            </a:r>
            <a:endParaRPr lang="zh-CN"/>
          </a:p>
        </p:txBody>
      </p:sp>
      <p:pic>
        <p:nvPicPr>
          <p:cNvPr id="80388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38687573c2544a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39100" y="6159500"/>
            <a:ext cx="177800" cy="203200"/>
          </a:xfrm>
          <a:prstGeom xmlns:a="http://schemas.openxmlformats.org/drawingml/2006/main" prst="rect">
            <a:avLst/>
          </a:prstGeom>
        </p:spPr>
      </p:pic>
      <p:pic>
        <p:nvPicPr>
          <p:cNvPr id="80388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2b9d6b7d0da4a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241800" y="4267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38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abd9a5ebd7c4c8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861800" y="4267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388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362634d9a5840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76800" y="7315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388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3247a55bf4b42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26800" y="73152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8038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5451475"/>
            <a:ext cx="3048000" cy="1346200"/>
          </a:xfrm>
          <a:prstGeom xmlns:a="http://schemas.openxmlformats.org/drawingml/2006/main" prst="roundRect">
            <a:avLst>
              <a:gd name="adj" fmla="val 11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8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477948b825b43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5724525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4009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087350" y="56673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外键关联</a:t>
            </a:r>
            <a:endParaRPr lang="zh-CN"/>
          </a:p>
        </p:txBody>
      </p:sp>
      <p:sp>
        <p:nvSpPr>
          <p:cNvPr id="4009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0" y="6111875"/>
            <a:ext cx="25781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保障数据一致性与完整性，清晰展示表间依赖关系</a:t>
            </a:r>
            <a:endParaRPr lang="zh-CN"/>
          </a:p>
        </p:txBody>
      </p:sp>
      <p:sp>
        <p:nvSpPr>
          <p:cNvPr id="8038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6942137"/>
            <a:ext cx="3048000" cy="1346200"/>
          </a:xfrm>
          <a:prstGeom xmlns:a="http://schemas.openxmlformats.org/drawingml/2006/main" prst="roundRect">
            <a:avLst>
              <a:gd name="adj" fmla="val 11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9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ee610b64ce345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7215187"/>
            <a:ext cx="203200" cy="228600"/>
          </a:xfrm>
          <a:prstGeom xmlns:a="http://schemas.openxmlformats.org/drawingml/2006/main" prst="rect">
            <a:avLst/>
          </a:prstGeom>
        </p:spPr>
      </p:pic>
      <p:sp>
        <p:nvSpPr>
          <p:cNvPr id="4009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001625" y="7158037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软删除机制</a:t>
            </a:r>
            <a:endParaRPr lang="zh-CN"/>
          </a:p>
        </p:txBody>
      </p:sp>
      <p:sp>
        <p:nvSpPr>
          <p:cNvPr id="4009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0" y="7602537"/>
            <a:ext cx="25781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安全保留历史数据记录，防止核心业务数据意外丢失</a:t>
            </a:r>
            <a:endParaRPr lang="zh-CN"/>
          </a:p>
        </p:txBody>
      </p:sp>
      <p:sp>
        <p:nvSpPr>
          <p:cNvPr id="69209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5451475"/>
            <a:ext cx="3048000" cy="9525"/>
          </a:xfrm>
          <a:custGeom xmlns:a="http://schemas.openxmlformats.org/drawingml/2006/main">
            <a:avLst/>
            <a:pathLst>
              <a:path w="3048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2933700" y="0"/>
                </a:lnTo>
                <a:lnTo>
                  <a:pt x="2959134" y="2866"/>
                </a:lnTo>
                <a:lnTo>
                  <a:pt x="2983292" y="11320"/>
                </a:lnTo>
                <a:lnTo>
                  <a:pt x="3004964" y="24937"/>
                </a:lnTo>
                <a:lnTo>
                  <a:pt x="3023063" y="43036"/>
                </a:lnTo>
                <a:lnTo>
                  <a:pt x="3036680" y="64708"/>
                </a:lnTo>
                <a:lnTo>
                  <a:pt x="3045134" y="88866"/>
                </a:lnTo>
                <a:lnTo>
                  <a:pt x="3048000" y="114300"/>
                </a:lnTo>
                <a:lnTo>
                  <a:pt x="3045134" y="101583"/>
                </a:lnTo>
                <a:lnTo>
                  <a:pt x="3036680" y="89504"/>
                </a:lnTo>
                <a:lnTo>
                  <a:pt x="3023063" y="78668"/>
                </a:lnTo>
                <a:lnTo>
                  <a:pt x="3004964" y="69619"/>
                </a:lnTo>
                <a:lnTo>
                  <a:pt x="2983292" y="62810"/>
                </a:lnTo>
                <a:lnTo>
                  <a:pt x="2959134" y="58583"/>
                </a:lnTo>
                <a:lnTo>
                  <a:pt x="2933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0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6942137"/>
            <a:ext cx="3048000" cy="9525"/>
          </a:xfrm>
          <a:custGeom xmlns:a="http://schemas.openxmlformats.org/drawingml/2006/main">
            <a:avLst/>
            <a:pathLst>
              <a:path w="3048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2933700" y="0"/>
                </a:lnTo>
                <a:lnTo>
                  <a:pt x="2959134" y="2866"/>
                </a:lnTo>
                <a:lnTo>
                  <a:pt x="2983292" y="11320"/>
                </a:lnTo>
                <a:lnTo>
                  <a:pt x="3004964" y="24937"/>
                </a:lnTo>
                <a:lnTo>
                  <a:pt x="3023063" y="43036"/>
                </a:lnTo>
                <a:lnTo>
                  <a:pt x="3036680" y="64708"/>
                </a:lnTo>
                <a:lnTo>
                  <a:pt x="3045134" y="88866"/>
                </a:lnTo>
                <a:lnTo>
                  <a:pt x="3048000" y="114300"/>
                </a:lnTo>
                <a:lnTo>
                  <a:pt x="3045134" y="101583"/>
                </a:lnTo>
                <a:lnTo>
                  <a:pt x="3036680" y="89504"/>
                </a:lnTo>
                <a:lnTo>
                  <a:pt x="3023063" y="78668"/>
                </a:lnTo>
                <a:lnTo>
                  <a:pt x="3004964" y="69619"/>
                </a:lnTo>
                <a:lnTo>
                  <a:pt x="2983292" y="62810"/>
                </a:lnTo>
                <a:lnTo>
                  <a:pt x="2959134" y="58583"/>
                </a:lnTo>
                <a:lnTo>
                  <a:pt x="2933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1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475" y="5451475"/>
            <a:ext cx="9525" cy="1346200"/>
          </a:xfrm>
          <a:custGeom xmlns:a="http://schemas.openxmlformats.org/drawingml/2006/main">
            <a:avLst/>
            <a:pathLst>
              <a:path w="9525" h="13462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231900"/>
                </a:lnTo>
                <a:lnTo>
                  <a:pt x="6659" y="1257334"/>
                </a:lnTo>
                <a:lnTo>
                  <a:pt x="-1795" y="1281492"/>
                </a:lnTo>
                <a:lnTo>
                  <a:pt x="-15412" y="1303164"/>
                </a:lnTo>
                <a:lnTo>
                  <a:pt x="-33511" y="1321263"/>
                </a:lnTo>
                <a:lnTo>
                  <a:pt x="-55183" y="1334880"/>
                </a:lnTo>
                <a:lnTo>
                  <a:pt x="-79341" y="1343334"/>
                </a:lnTo>
                <a:lnTo>
                  <a:pt x="-104775" y="1346200"/>
                </a:lnTo>
                <a:lnTo>
                  <a:pt x="-92058" y="1343334"/>
                </a:lnTo>
                <a:lnTo>
                  <a:pt x="-79979" y="1334880"/>
                </a:lnTo>
                <a:lnTo>
                  <a:pt x="-69143" y="1321263"/>
                </a:lnTo>
                <a:lnTo>
                  <a:pt x="-60094" y="1303164"/>
                </a:lnTo>
                <a:lnTo>
                  <a:pt x="-53285" y="1281492"/>
                </a:lnTo>
                <a:lnTo>
                  <a:pt x="-49058" y="1257334"/>
                </a:lnTo>
                <a:lnTo>
                  <a:pt x="-47625" y="12319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2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475" y="6942137"/>
            <a:ext cx="9525" cy="1346200"/>
          </a:xfrm>
          <a:custGeom xmlns:a="http://schemas.openxmlformats.org/drawingml/2006/main">
            <a:avLst/>
            <a:pathLst>
              <a:path w="9525" h="13462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231900"/>
                </a:lnTo>
                <a:lnTo>
                  <a:pt x="6659" y="1257334"/>
                </a:lnTo>
                <a:lnTo>
                  <a:pt x="-1795" y="1281492"/>
                </a:lnTo>
                <a:lnTo>
                  <a:pt x="-15412" y="1303164"/>
                </a:lnTo>
                <a:lnTo>
                  <a:pt x="-33511" y="1321263"/>
                </a:lnTo>
                <a:lnTo>
                  <a:pt x="-55183" y="1334880"/>
                </a:lnTo>
                <a:lnTo>
                  <a:pt x="-79341" y="1343334"/>
                </a:lnTo>
                <a:lnTo>
                  <a:pt x="-104775" y="1346200"/>
                </a:lnTo>
                <a:lnTo>
                  <a:pt x="-92058" y="1343334"/>
                </a:lnTo>
                <a:lnTo>
                  <a:pt x="-79979" y="1334880"/>
                </a:lnTo>
                <a:lnTo>
                  <a:pt x="-69143" y="1321263"/>
                </a:lnTo>
                <a:lnTo>
                  <a:pt x="-60094" y="1303164"/>
                </a:lnTo>
                <a:lnTo>
                  <a:pt x="-53285" y="1281492"/>
                </a:lnTo>
                <a:lnTo>
                  <a:pt x="-49058" y="1257334"/>
                </a:lnTo>
                <a:lnTo>
                  <a:pt x="-47625" y="12319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6788150"/>
            <a:ext cx="3048000" cy="9525"/>
          </a:xfrm>
          <a:custGeom xmlns:a="http://schemas.openxmlformats.org/drawingml/2006/main">
            <a:avLst/>
            <a:pathLst>
              <a:path w="3048000" h="9525">
                <a:moveTo>
                  <a:pt x="0" y="-104775"/>
                </a:moveTo>
                <a:lnTo>
                  <a:pt x="2866" y="-79341"/>
                </a:lnTo>
                <a:lnTo>
                  <a:pt x="11320" y="-55183"/>
                </a:lnTo>
                <a:lnTo>
                  <a:pt x="24937" y="-33511"/>
                </a:lnTo>
                <a:lnTo>
                  <a:pt x="43036" y="-15412"/>
                </a:lnTo>
                <a:lnTo>
                  <a:pt x="64708" y="-1795"/>
                </a:lnTo>
                <a:lnTo>
                  <a:pt x="88866" y="6659"/>
                </a:lnTo>
                <a:lnTo>
                  <a:pt x="114300" y="9525"/>
                </a:lnTo>
                <a:lnTo>
                  <a:pt x="2933700" y="9525"/>
                </a:lnTo>
                <a:lnTo>
                  <a:pt x="2959134" y="6659"/>
                </a:lnTo>
                <a:lnTo>
                  <a:pt x="2983292" y="-1795"/>
                </a:lnTo>
                <a:lnTo>
                  <a:pt x="3004964" y="-15412"/>
                </a:lnTo>
                <a:lnTo>
                  <a:pt x="3023063" y="-33511"/>
                </a:lnTo>
                <a:lnTo>
                  <a:pt x="3036680" y="-55183"/>
                </a:lnTo>
                <a:lnTo>
                  <a:pt x="3045134" y="-79341"/>
                </a:lnTo>
                <a:lnTo>
                  <a:pt x="3048000" y="-104775"/>
                </a:lnTo>
                <a:lnTo>
                  <a:pt x="3045134" y="-92058"/>
                </a:lnTo>
                <a:lnTo>
                  <a:pt x="3036680" y="-79979"/>
                </a:lnTo>
                <a:lnTo>
                  <a:pt x="3023063" y="-69143"/>
                </a:lnTo>
                <a:lnTo>
                  <a:pt x="3004964" y="-60094"/>
                </a:lnTo>
                <a:lnTo>
                  <a:pt x="2983292" y="-53285"/>
                </a:lnTo>
                <a:lnTo>
                  <a:pt x="2959134" y="-49058"/>
                </a:lnTo>
                <a:lnTo>
                  <a:pt x="2933700" y="-47625"/>
                </a:lnTo>
                <a:lnTo>
                  <a:pt x="114300" y="-47625"/>
                </a:lnTo>
                <a:lnTo>
                  <a:pt x="88866" y="-49058"/>
                </a:lnTo>
                <a:lnTo>
                  <a:pt x="64708" y="-53285"/>
                </a:lnTo>
                <a:lnTo>
                  <a:pt x="43036" y="-60094"/>
                </a:lnTo>
                <a:lnTo>
                  <a:pt x="24937" y="-69143"/>
                </a:lnTo>
                <a:lnTo>
                  <a:pt x="11320" y="-79979"/>
                </a:lnTo>
                <a:lnTo>
                  <a:pt x="2866" y="-92058"/>
                </a:lnTo>
                <a:lnTo>
                  <a:pt x="0" y="-104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4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8278812"/>
            <a:ext cx="3048000" cy="9525"/>
          </a:xfrm>
          <a:custGeom xmlns:a="http://schemas.openxmlformats.org/drawingml/2006/main">
            <a:avLst/>
            <a:pathLst>
              <a:path w="3048000" h="9525">
                <a:moveTo>
                  <a:pt x="0" y="-104775"/>
                </a:moveTo>
                <a:lnTo>
                  <a:pt x="2866" y="-79341"/>
                </a:lnTo>
                <a:lnTo>
                  <a:pt x="11320" y="-55183"/>
                </a:lnTo>
                <a:lnTo>
                  <a:pt x="24937" y="-33511"/>
                </a:lnTo>
                <a:lnTo>
                  <a:pt x="43036" y="-15412"/>
                </a:lnTo>
                <a:lnTo>
                  <a:pt x="64708" y="-1795"/>
                </a:lnTo>
                <a:lnTo>
                  <a:pt x="88866" y="6659"/>
                </a:lnTo>
                <a:lnTo>
                  <a:pt x="114300" y="9525"/>
                </a:lnTo>
                <a:lnTo>
                  <a:pt x="2933700" y="9525"/>
                </a:lnTo>
                <a:lnTo>
                  <a:pt x="2959134" y="6659"/>
                </a:lnTo>
                <a:lnTo>
                  <a:pt x="2983292" y="-1795"/>
                </a:lnTo>
                <a:lnTo>
                  <a:pt x="3004964" y="-15412"/>
                </a:lnTo>
                <a:lnTo>
                  <a:pt x="3023063" y="-33511"/>
                </a:lnTo>
                <a:lnTo>
                  <a:pt x="3036680" y="-55183"/>
                </a:lnTo>
                <a:lnTo>
                  <a:pt x="3045134" y="-79341"/>
                </a:lnTo>
                <a:lnTo>
                  <a:pt x="3048000" y="-104775"/>
                </a:lnTo>
                <a:lnTo>
                  <a:pt x="3045134" y="-92058"/>
                </a:lnTo>
                <a:lnTo>
                  <a:pt x="3036680" y="-79979"/>
                </a:lnTo>
                <a:lnTo>
                  <a:pt x="3023063" y="-69143"/>
                </a:lnTo>
                <a:lnTo>
                  <a:pt x="3004964" y="-60094"/>
                </a:lnTo>
                <a:lnTo>
                  <a:pt x="2983292" y="-53285"/>
                </a:lnTo>
                <a:lnTo>
                  <a:pt x="2959134" y="-49058"/>
                </a:lnTo>
                <a:lnTo>
                  <a:pt x="2933700" y="-47625"/>
                </a:lnTo>
                <a:lnTo>
                  <a:pt x="114300" y="-47625"/>
                </a:lnTo>
                <a:lnTo>
                  <a:pt x="88866" y="-49058"/>
                </a:lnTo>
                <a:lnTo>
                  <a:pt x="64708" y="-53285"/>
                </a:lnTo>
                <a:lnTo>
                  <a:pt x="43036" y="-60094"/>
                </a:lnTo>
                <a:lnTo>
                  <a:pt x="24937" y="-69143"/>
                </a:lnTo>
                <a:lnTo>
                  <a:pt x="11320" y="-79979"/>
                </a:lnTo>
                <a:lnTo>
                  <a:pt x="2866" y="-92058"/>
                </a:lnTo>
                <a:lnTo>
                  <a:pt x="0" y="-104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5451475"/>
            <a:ext cx="38100" cy="1346200"/>
          </a:xfrm>
          <a:custGeom xmlns:a="http://schemas.openxmlformats.org/drawingml/2006/main">
            <a:avLst/>
            <a:pathLst>
              <a:path w="38100" h="1346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231900"/>
                </a:lnTo>
                <a:lnTo>
                  <a:pt x="2866" y="1257334"/>
                </a:lnTo>
                <a:lnTo>
                  <a:pt x="11320" y="1281492"/>
                </a:lnTo>
                <a:lnTo>
                  <a:pt x="24937" y="1303164"/>
                </a:lnTo>
                <a:lnTo>
                  <a:pt x="43036" y="1321263"/>
                </a:lnTo>
                <a:lnTo>
                  <a:pt x="64708" y="1334880"/>
                </a:lnTo>
                <a:lnTo>
                  <a:pt x="88866" y="1343334"/>
                </a:lnTo>
                <a:lnTo>
                  <a:pt x="114300" y="1346200"/>
                </a:lnTo>
                <a:lnTo>
                  <a:pt x="101583" y="1343334"/>
                </a:lnTo>
                <a:lnTo>
                  <a:pt x="89504" y="1334880"/>
                </a:lnTo>
                <a:lnTo>
                  <a:pt x="78668" y="1321263"/>
                </a:lnTo>
                <a:lnTo>
                  <a:pt x="69619" y="1303164"/>
                </a:lnTo>
                <a:lnTo>
                  <a:pt x="62810" y="1281492"/>
                </a:lnTo>
                <a:lnTo>
                  <a:pt x="58583" y="1257334"/>
                </a:lnTo>
                <a:lnTo>
                  <a:pt x="57150" y="1231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6942137"/>
            <a:ext cx="38100" cy="1346200"/>
          </a:xfrm>
          <a:custGeom xmlns:a="http://schemas.openxmlformats.org/drawingml/2006/main">
            <a:avLst/>
            <a:pathLst>
              <a:path w="38100" h="1346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231900"/>
                </a:lnTo>
                <a:lnTo>
                  <a:pt x="2866" y="1257334"/>
                </a:lnTo>
                <a:lnTo>
                  <a:pt x="11320" y="1281492"/>
                </a:lnTo>
                <a:lnTo>
                  <a:pt x="24937" y="1303164"/>
                </a:lnTo>
                <a:lnTo>
                  <a:pt x="43036" y="1321263"/>
                </a:lnTo>
                <a:lnTo>
                  <a:pt x="64708" y="1334880"/>
                </a:lnTo>
                <a:lnTo>
                  <a:pt x="88866" y="1343334"/>
                </a:lnTo>
                <a:lnTo>
                  <a:pt x="114300" y="1346200"/>
                </a:lnTo>
                <a:lnTo>
                  <a:pt x="101583" y="1343334"/>
                </a:lnTo>
                <a:lnTo>
                  <a:pt x="89504" y="1334880"/>
                </a:lnTo>
                <a:lnTo>
                  <a:pt x="78668" y="1321263"/>
                </a:lnTo>
                <a:lnTo>
                  <a:pt x="69619" y="1303164"/>
                </a:lnTo>
                <a:lnTo>
                  <a:pt x="62810" y="1281492"/>
                </a:lnTo>
                <a:lnTo>
                  <a:pt x="58583" y="1257334"/>
                </a:lnTo>
                <a:lnTo>
                  <a:pt x="57150" y="1231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节点网络图</a:t>
            </a:r>
            <a:endParaRPr lang="zh-CN"/>
          </a:p>
        </p:txBody>
      </p:sp>
      <p:sp>
        <p:nvSpPr>
          <p:cNvPr id="8038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8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8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89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c3461f7a8174b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9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0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a4b2002ab834d1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9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9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06</a:t>
            </a:r>
            <a:endParaRPr lang="zh-CN"/>
          </a:p>
        </p:txBody>
      </p:sp>
      <p:sp>
        <p:nvSpPr>
          <p:cNvPr id="8039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836843" y="4679950"/>
            <a:ext cx="4584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核心功能模块矩阵</a:t>
            </a:r>
            <a:endParaRPr lang="zh-CN"/>
          </a:p>
        </p:txBody>
      </p:sp>
      <p:sp>
        <p:nvSpPr>
          <p:cNvPr id="4009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39140" y="5683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3x4网格3D悬浮模块矩阵</a:t>
            </a:r>
            <a:endParaRPr lang="zh-CN"/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9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0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7de0d26b5da4f1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9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1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c8b8a3b8d544a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9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39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0256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1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2b5f2b2111a48b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3600" y="21780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19184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3D 悬浮块</a:t>
            </a:r>
            <a:endParaRPr lang="zh-CN"/>
          </a:p>
        </p:txBody>
      </p:sp>
      <p:sp>
        <p:nvSpPr>
          <p:cNvPr id="4009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22804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上表面采用白底黑字或图标设计，确保核心信息清晰可见。</a:t>
            </a:r>
            <a:endParaRPr lang="zh-CN"/>
          </a:p>
        </p:txBody>
      </p:sp>
      <p:sp>
        <p:nvSpPr>
          <p:cNvPr id="8039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3401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41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59dd84ad59144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82650" y="399415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4009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37345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金色薄边</a:t>
            </a:r>
            <a:endParaRPr lang="zh-CN"/>
          </a:p>
        </p:txBody>
      </p:sp>
      <p:sp>
        <p:nvSpPr>
          <p:cNvPr id="4009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40965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侧面装饰有金色的薄边，有效增加模块的视觉层次感。</a:t>
            </a:r>
            <a:endParaRPr lang="zh-CN"/>
          </a:p>
        </p:txBody>
      </p:sp>
      <p:sp>
        <p:nvSpPr>
          <p:cNvPr id="8039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1562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657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2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e69490cf35942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3600" y="58102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55506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透明渐变</a:t>
            </a:r>
            <a:endParaRPr lang="zh-CN"/>
          </a:p>
        </p:txBody>
      </p:sp>
      <p:sp>
        <p:nvSpPr>
          <p:cNvPr id="4009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59126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卡片背面通过透明渐变处理，使其轻微可见增强真实感。</a:t>
            </a:r>
            <a:endParaRPr lang="zh-CN"/>
          </a:p>
        </p:txBody>
      </p:sp>
      <p:sp>
        <p:nvSpPr>
          <p:cNvPr id="8039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9723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4739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2808e1fc369472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39800" y="7626350"/>
            <a:ext cx="152400" cy="304800"/>
          </a:xfrm>
          <a:prstGeom xmlns:a="http://schemas.openxmlformats.org/drawingml/2006/main" prst="rect">
            <a:avLst/>
          </a:prstGeom>
        </p:spPr>
      </p:pic>
      <p:sp>
        <p:nvSpPr>
          <p:cNvPr id="4009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73667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光影间隙</a:t>
            </a:r>
            <a:endParaRPr lang="zh-CN"/>
          </a:p>
        </p:txBody>
      </p:sp>
      <p:sp>
        <p:nvSpPr>
          <p:cNvPr id="4009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24000" y="77287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卡片之间预留合理的光影间隙，避免视觉上的拥挤感。</a:t>
            </a:r>
            <a:endParaRPr lang="zh-CN"/>
          </a:p>
        </p:txBody>
      </p:sp>
      <p:sp>
        <p:nvSpPr>
          <p:cNvPr id="8039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15240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6E6E73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20256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2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7df8834899f4c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47181" y="217805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4009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19184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交互反馈</a:t>
            </a:r>
            <a:endParaRPr lang="zh-CN"/>
          </a:p>
        </p:txBody>
      </p:sp>
      <p:sp>
        <p:nvSpPr>
          <p:cNvPr id="4009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22804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鼠标悬停于卡片时，卡片会轻微上浮并旋转提供反馈体验。</a:t>
            </a:r>
            <a:endParaRPr lang="zh-CN"/>
          </a:p>
        </p:txBody>
      </p:sp>
      <p:sp>
        <p:nvSpPr>
          <p:cNvPr id="8039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33401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6E6E73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3841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3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3bc5aa641254c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28131" y="3994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37345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翻转入场</a:t>
            </a:r>
            <a:endParaRPr lang="zh-CN"/>
          </a:p>
        </p:txBody>
      </p:sp>
      <p:sp>
        <p:nvSpPr>
          <p:cNvPr id="4009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40965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页面载入动画采用 3D 翻转，卡片依次跃进营造纵深。</a:t>
            </a:r>
            <a:endParaRPr lang="zh-CN"/>
          </a:p>
        </p:txBody>
      </p:sp>
      <p:sp>
        <p:nvSpPr>
          <p:cNvPr id="8039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51562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6E6E73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5657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3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8532c76701140e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09081" y="5810250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4009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55506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空间纵深</a:t>
            </a:r>
            <a:endParaRPr lang="zh-CN"/>
          </a:p>
        </p:txBody>
      </p:sp>
      <p:sp>
        <p:nvSpPr>
          <p:cNvPr id="4009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59126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卡片从后向前依次跃进，营造出强烈的空间纵深感。</a:t>
            </a:r>
            <a:endParaRPr lang="zh-CN"/>
          </a:p>
        </p:txBody>
      </p:sp>
      <p:sp>
        <p:nvSpPr>
          <p:cNvPr id="8039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69723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6E6E73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31" y="74739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3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d757bc361cc4df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990031" y="7626350"/>
            <a:ext cx="381000" cy="304800"/>
          </a:xfrm>
          <a:prstGeom xmlns:a="http://schemas.openxmlformats.org/drawingml/2006/main" prst="rect">
            <a:avLst/>
          </a:prstGeom>
        </p:spPr>
      </p:pic>
      <p:sp>
        <p:nvSpPr>
          <p:cNvPr id="4009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73667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悬浮阴影</a:t>
            </a:r>
            <a:endParaRPr lang="zh-CN"/>
          </a:p>
        </p:txBody>
      </p:sp>
      <p:sp>
        <p:nvSpPr>
          <p:cNvPr id="4009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88531" y="77287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利用悬浮阴影手法，阴影偏移 Y 轴较大且模糊半径大。</a:t>
            </a:r>
            <a:endParaRPr lang="zh-CN"/>
          </a:p>
        </p:txBody>
      </p:sp>
      <p:sp>
        <p:nvSpPr>
          <p:cNvPr id="8039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15240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465" y="20256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3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2c515329c5044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30965" y="2178050"/>
            <a:ext cx="228600" cy="304800"/>
          </a:xfrm>
          <a:prstGeom xmlns:a="http://schemas.openxmlformats.org/drawingml/2006/main" prst="rect">
            <a:avLst/>
          </a:prstGeom>
        </p:spPr>
      </p:pic>
      <p:sp>
        <p:nvSpPr>
          <p:cNvPr id="4009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19184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柔和阴影</a:t>
            </a:r>
            <a:endParaRPr lang="zh-CN"/>
          </a:p>
        </p:txBody>
      </p:sp>
      <p:sp>
        <p:nvSpPr>
          <p:cNvPr id="4009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22804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颜色为浅灰或金色半透明，完美融合 iOS 风格柔和阴影。</a:t>
            </a:r>
            <a:endParaRPr lang="zh-CN"/>
          </a:p>
        </p:txBody>
      </p:sp>
      <p:sp>
        <p:nvSpPr>
          <p:cNvPr id="8039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33401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465" y="3841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4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95b8f1c36f948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11915" y="399415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4009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37345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视觉冲击</a:t>
            </a:r>
            <a:endParaRPr lang="zh-CN"/>
          </a:p>
        </p:txBody>
      </p:sp>
      <p:sp>
        <p:nvSpPr>
          <p:cNvPr id="4009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40965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结合 3D 视觉的冲击力，使功能矩阵充满动态活力。</a:t>
            </a:r>
            <a:endParaRPr lang="zh-CN"/>
          </a:p>
        </p:txBody>
      </p:sp>
      <p:sp>
        <p:nvSpPr>
          <p:cNvPr id="8039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51562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465" y="5657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4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f34c01126d444d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92865" y="58102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55506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功能矩阵</a:t>
            </a:r>
            <a:endParaRPr lang="zh-CN"/>
          </a:p>
        </p:txBody>
      </p:sp>
      <p:sp>
        <p:nvSpPr>
          <p:cNvPr id="4009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59126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核心功能模块以 3x4 的标准网格排列，整齐划一。</a:t>
            </a:r>
            <a:endParaRPr lang="zh-CN"/>
          </a:p>
        </p:txBody>
      </p:sp>
      <p:sp>
        <p:nvSpPr>
          <p:cNvPr id="8039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6972300"/>
            <a:ext cx="4902200" cy="1663700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dist="190500" dir="540000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465" y="74739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4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7cb714b299441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92865" y="76263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09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7366787"/>
            <a:ext cx="4000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动态活力</a:t>
            </a:r>
            <a:endParaRPr lang="zh-CN"/>
          </a:p>
        </p:txBody>
      </p:sp>
      <p:sp>
        <p:nvSpPr>
          <p:cNvPr id="4009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53265" y="7728737"/>
            <a:ext cx="3657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整体设计既保持了矩阵的严谨，又赋予了页面动态活力。</a:t>
            </a:r>
            <a:endParaRPr lang="zh-CN"/>
          </a:p>
        </p:txBody>
      </p:sp>
      <p:sp>
        <p:nvSpPr>
          <p:cNvPr id="6921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240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8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401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19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1562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0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9723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1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81" y="15240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2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81" y="33401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3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81" y="51562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4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81" y="69723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5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15" y="15240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6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15" y="33401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15" y="51562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8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415" y="6972300"/>
            <a:ext cx="19050" cy="1663700"/>
          </a:xfrm>
          <a:custGeom xmlns:a="http://schemas.openxmlformats.org/drawingml/2006/main">
            <a:avLst/>
            <a:pathLst>
              <a:path w="19050" h="1663700">
                <a:moveTo>
                  <a:pt x="-95250" y="0"/>
                </a:moveTo>
                <a:lnTo>
                  <a:pt x="-69816" y="2866"/>
                </a:lnTo>
                <a:lnTo>
                  <a:pt x="-45658" y="11320"/>
                </a:lnTo>
                <a:lnTo>
                  <a:pt x="-23986" y="24937"/>
                </a:lnTo>
                <a:lnTo>
                  <a:pt x="-5887" y="43036"/>
                </a:lnTo>
                <a:lnTo>
                  <a:pt x="7730" y="64708"/>
                </a:lnTo>
                <a:lnTo>
                  <a:pt x="16184" y="88866"/>
                </a:lnTo>
                <a:lnTo>
                  <a:pt x="19050" y="114300"/>
                </a:lnTo>
                <a:lnTo>
                  <a:pt x="19050" y="1549400"/>
                </a:lnTo>
                <a:lnTo>
                  <a:pt x="16184" y="1574834"/>
                </a:lnTo>
                <a:lnTo>
                  <a:pt x="7730" y="1598992"/>
                </a:lnTo>
                <a:lnTo>
                  <a:pt x="-5887" y="1620664"/>
                </a:lnTo>
                <a:lnTo>
                  <a:pt x="-23986" y="1638763"/>
                </a:lnTo>
                <a:lnTo>
                  <a:pt x="-45658" y="1652380"/>
                </a:lnTo>
                <a:lnTo>
                  <a:pt x="-69816" y="1660834"/>
                </a:lnTo>
                <a:lnTo>
                  <a:pt x="-95250" y="1663700"/>
                </a:lnTo>
                <a:lnTo>
                  <a:pt x="-82533" y="1660834"/>
                </a:lnTo>
                <a:lnTo>
                  <a:pt x="-70454" y="1652380"/>
                </a:lnTo>
                <a:lnTo>
                  <a:pt x="-59618" y="1638763"/>
                </a:lnTo>
                <a:lnTo>
                  <a:pt x="-50569" y="1620664"/>
                </a:lnTo>
                <a:lnTo>
                  <a:pt x="-43760" y="1598992"/>
                </a:lnTo>
                <a:lnTo>
                  <a:pt x="-39533" y="1574834"/>
                </a:lnTo>
                <a:lnTo>
                  <a:pt x="-38100" y="1549400"/>
                </a:lnTo>
                <a:lnTo>
                  <a:pt x="-38100" y="114300"/>
                </a:lnTo>
                <a:lnTo>
                  <a:pt x="-39533" y="88866"/>
                </a:lnTo>
                <a:lnTo>
                  <a:pt x="-43760" y="64708"/>
                </a:lnTo>
                <a:lnTo>
                  <a:pt x="-50569" y="43036"/>
                </a:lnTo>
                <a:lnTo>
                  <a:pt x="-59618" y="24937"/>
                </a:lnTo>
                <a:lnTo>
                  <a:pt x="-70454" y="11320"/>
                </a:lnTo>
                <a:lnTo>
                  <a:pt x="-82533" y="2866"/>
                </a:lnTo>
                <a:lnTo>
                  <a:pt x="-95250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29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1496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0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657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1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7818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2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85979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31496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4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49657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5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67818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6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85979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7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31496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8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49657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39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67818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0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8597900"/>
            <a:ext cx="4902200" cy="38100"/>
          </a:xfrm>
          <a:custGeom xmlns:a="http://schemas.openxmlformats.org/drawingml/2006/main">
            <a:avLst/>
            <a:pathLst>
              <a:path w="49022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4787900" y="38100"/>
                </a:lnTo>
                <a:lnTo>
                  <a:pt x="4813334" y="35234"/>
                </a:lnTo>
                <a:lnTo>
                  <a:pt x="4837492" y="26780"/>
                </a:lnTo>
                <a:lnTo>
                  <a:pt x="4859164" y="13163"/>
                </a:lnTo>
                <a:lnTo>
                  <a:pt x="4877263" y="-4936"/>
                </a:lnTo>
                <a:lnTo>
                  <a:pt x="4890880" y="-26608"/>
                </a:lnTo>
                <a:lnTo>
                  <a:pt x="4899334" y="-50766"/>
                </a:lnTo>
                <a:lnTo>
                  <a:pt x="4902200" y="-76200"/>
                </a:lnTo>
                <a:lnTo>
                  <a:pt x="4899334" y="-63483"/>
                </a:lnTo>
                <a:lnTo>
                  <a:pt x="4890880" y="-51404"/>
                </a:lnTo>
                <a:lnTo>
                  <a:pt x="4877263" y="-40568"/>
                </a:lnTo>
                <a:lnTo>
                  <a:pt x="4859164" y="-31519"/>
                </a:lnTo>
                <a:lnTo>
                  <a:pt x="4837492" y="-24710"/>
                </a:lnTo>
                <a:lnTo>
                  <a:pt x="4813334" y="-20483"/>
                </a:lnTo>
                <a:lnTo>
                  <a:pt x="47879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悬浮块设计</a:t>
            </a:r>
            <a:endParaRPr lang="zh-CN"/>
          </a:p>
        </p:txBody>
      </p:sp>
      <p:sp>
        <p:nvSpPr>
          <p:cNvPr id="8039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9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5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1b58f6a0c9445e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9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5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cebdf20f6244b5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9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9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07</a:t>
            </a:r>
            <a:endParaRPr lang="zh-CN"/>
          </a:p>
        </p:txBody>
      </p:sp>
      <p:sp>
        <p:nvSpPr>
          <p:cNvPr id="8039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09537" y="4679950"/>
            <a:ext cx="3441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智能推荐引擎</a:t>
            </a:r>
            <a:endParaRPr lang="zh-CN"/>
          </a:p>
        </p:txBody>
      </p:sp>
      <p:sp>
        <p:nvSpPr>
          <p:cNvPr id="4009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31406" y="5683250"/>
            <a:ext cx="260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3D路径流程与权重矩阵</a:t>
            </a:r>
            <a:endParaRPr lang="zh-CN"/>
          </a:p>
        </p:txBody>
      </p:sp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9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6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7e1122d8cb54d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39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6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bce8373d1aa47a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39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09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09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1524000"/>
            <a:ext cx="815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推荐引擎流程</a:t>
            </a:r>
            <a:endParaRPr lang="zh-CN"/>
          </a:p>
        </p:txBody>
      </p:sp>
      <p:sp>
        <p:nvSpPr>
          <p:cNvPr id="8039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311400"/>
            <a:ext cx="812800" cy="50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E5C158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280400" y="1524000"/>
            <a:ext cx="815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权重矩阵分析</a:t>
            </a:r>
            <a:endParaRPr lang="zh-CN"/>
          </a:p>
        </p:txBody>
      </p:sp>
      <p:sp>
        <p:nvSpPr>
          <p:cNvPr id="8039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311400"/>
            <a:ext cx="812800" cy="50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E5C158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65400"/>
            <a:ext cx="7467600" cy="4622800"/>
          </a:xfrm>
          <a:prstGeom xmlns:a="http://schemas.openxmlformats.org/drawingml/2006/main" prst="roundRect">
            <a:avLst>
              <a:gd name="adj" fmla="val 3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graphicFrame>
        <p:nvGraphicFramePr>
          <p:cNvPr id="471" name="Chart "/>
          <p:cNvGraphicFramePr/>
        </p:nvGraphicFramePr>
        <p:xfrm>
          <a:off xmlns:a="http://schemas.openxmlformats.org/drawingml/2006/main" x="8839200" y="2844800"/>
          <a:ext xmlns:a="http://schemas.openxmlformats.org/drawingml/2006/main" cx="6350000" cy="406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567c8bb3d848ef"/>
          </a:graphicData>
        </a:graphic>
      </p:graphicFrame>
      <p:sp>
        <p:nvSpPr>
          <p:cNvPr id="8039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7391400"/>
            <a:ext cx="2387600" cy="1244600"/>
          </a:xfrm>
          <a:prstGeom xmlns:a="http://schemas.openxmlformats.org/drawingml/2006/main" prst="roundRect">
            <a:avLst>
              <a:gd name="adj" fmla="val 122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7404100"/>
            <a:ext cx="2362200" cy="50800"/>
          </a:xfrm>
          <a:custGeom xmlns:a="http://schemas.openxmlformats.org/drawingml/2006/main">
            <a:avLst/>
            <a:rect l="l" t="t" r="r" b="b"/>
            <a:pathLst>
              <a:path w="1771650" h="38100">
                <a:moveTo>
                  <a:pt x="38100" y="0"/>
                </a:moveTo>
                <a:lnTo>
                  <a:pt x="1733550" y="0"/>
                </a:lnTo>
                <a:arcTo wR="38100" hR="38100" stAng="16200000" swAng="5400000"/>
                <a:lnTo>
                  <a:pt x="1771650" y="38100"/>
                </a:lnTo>
                <a:lnTo>
                  <a:pt x="0" y="381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065818" y="7658100"/>
            <a:ext cx="13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lang="zh-CN" sz="3000" b="1">
                <a:solidFill>
                  <a:srgbClr val="E5C158"/>
                </a:solidFill>
                <a:latin typeface="Noto Sans SC"/>
                <a:ea typeface="Noto Sans SC"/>
              </a:rPr>
              <a:t>42%</a:t>
            </a:r>
            <a:endParaRPr lang="zh-CN"/>
          </a:p>
        </p:txBody>
      </p:sp>
      <p:sp>
        <p:nvSpPr>
          <p:cNvPr id="4009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18600" y="8166100"/>
            <a:ext cx="977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收藏权重</a:t>
            </a:r>
            <a:endParaRPr lang="zh-CN"/>
          </a:p>
        </p:txBody>
      </p:sp>
      <p:sp>
        <p:nvSpPr>
          <p:cNvPr id="8039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391400"/>
            <a:ext cx="2387600" cy="1244600"/>
          </a:xfrm>
          <a:prstGeom xmlns:a="http://schemas.openxmlformats.org/drawingml/2006/main" prst="roundRect">
            <a:avLst>
              <a:gd name="adj" fmla="val 122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100" y="7404100"/>
            <a:ext cx="2362200" cy="50800"/>
          </a:xfrm>
          <a:custGeom xmlns:a="http://schemas.openxmlformats.org/drawingml/2006/main">
            <a:avLst/>
            <a:rect l="l" t="t" r="r" b="b"/>
            <a:pathLst>
              <a:path w="1771650" h="38100">
                <a:moveTo>
                  <a:pt x="38100" y="0"/>
                </a:moveTo>
                <a:lnTo>
                  <a:pt x="1733550" y="0"/>
                </a:lnTo>
                <a:arcTo wR="38100" hR="38100" stAng="16200000" swAng="5400000"/>
                <a:lnTo>
                  <a:pt x="1771650" y="38100"/>
                </a:lnTo>
                <a:lnTo>
                  <a:pt x="0" y="381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605818" y="7658100"/>
            <a:ext cx="13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lang="zh-CN" sz="3000" b="1">
                <a:solidFill>
                  <a:srgbClr val="228B22"/>
                </a:solidFill>
                <a:latin typeface="Noto Sans SC"/>
                <a:ea typeface="Noto Sans SC"/>
              </a:rPr>
              <a:t>38%</a:t>
            </a:r>
            <a:endParaRPr lang="zh-CN"/>
          </a:p>
        </p:txBody>
      </p:sp>
      <p:sp>
        <p:nvSpPr>
          <p:cNvPr id="4009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658600" y="8166100"/>
            <a:ext cx="977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评分权重</a:t>
            </a:r>
            <a:endParaRPr lang="zh-CN"/>
          </a:p>
        </p:txBody>
      </p:sp>
      <p:sp>
        <p:nvSpPr>
          <p:cNvPr id="8039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00" y="7391400"/>
            <a:ext cx="2387600" cy="1244600"/>
          </a:xfrm>
          <a:prstGeom xmlns:a="http://schemas.openxmlformats.org/drawingml/2006/main" prst="roundRect">
            <a:avLst>
              <a:gd name="adj" fmla="val 122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404100"/>
            <a:ext cx="2362200" cy="50800"/>
          </a:xfrm>
          <a:custGeom xmlns:a="http://schemas.openxmlformats.org/drawingml/2006/main">
            <a:avLst/>
            <a:rect l="l" t="t" r="r" b="b"/>
            <a:pathLst>
              <a:path w="1771650" h="38100">
                <a:moveTo>
                  <a:pt x="38100" y="0"/>
                </a:moveTo>
                <a:lnTo>
                  <a:pt x="1733550" y="0"/>
                </a:lnTo>
                <a:arcTo wR="38100" hR="38100" stAng="16200000" swAng="5400000"/>
                <a:lnTo>
                  <a:pt x="1771650" y="38100"/>
                </a:lnTo>
                <a:lnTo>
                  <a:pt x="0" y="381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6E6E7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145767" y="7658100"/>
            <a:ext cx="13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lang="zh-CN" sz="3000" b="1">
                <a:solidFill>
                  <a:srgbClr val="6E6E73"/>
                </a:solidFill>
                <a:latin typeface="Noto Sans SC"/>
                <a:ea typeface="Noto Sans SC"/>
              </a:rPr>
              <a:t>20%</a:t>
            </a:r>
            <a:endParaRPr lang="zh-CN"/>
          </a:p>
        </p:txBody>
      </p:sp>
      <p:sp>
        <p:nvSpPr>
          <p:cNvPr id="4009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198600" y="8166100"/>
            <a:ext cx="977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浏览权重</a:t>
            </a:r>
            <a:endParaRPr lang="zh-CN"/>
          </a:p>
        </p:txBody>
      </p:sp>
      <p:sp>
        <p:nvSpPr>
          <p:cNvPr id="8039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4300"/>
            <a:ext cx="254000" cy="508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25900"/>
            <a:ext cx="10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0" dir="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8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edde4cf17cc4a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6550" y="4279900"/>
            <a:ext cx="190500" cy="304800"/>
          </a:xfrm>
          <a:prstGeom xmlns:a="http://schemas.openxmlformats.org/drawingml/2006/main" prst="rect">
            <a:avLst/>
          </a:prstGeom>
        </p:spPr>
      </p:pic>
      <p:sp>
        <p:nvSpPr>
          <p:cNvPr id="8039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46700"/>
            <a:ext cx="254000" cy="508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48300"/>
            <a:ext cx="10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0" dir="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8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3c9de337a3d4e4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6550" y="5702300"/>
            <a:ext cx="190500" cy="304800"/>
          </a:xfrm>
          <a:prstGeom xmlns:a="http://schemas.openxmlformats.org/drawingml/2006/main" prst="rect">
            <a:avLst/>
          </a:prstGeom>
        </p:spPr>
      </p:pic>
      <p:sp>
        <p:nvSpPr>
          <p:cNvPr id="8039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769100"/>
            <a:ext cx="254000" cy="508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70700"/>
            <a:ext cx="10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0" dir="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8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6d3e426b7b044b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6550" y="7124700"/>
            <a:ext cx="190500" cy="304800"/>
          </a:xfrm>
          <a:prstGeom xmlns:a="http://schemas.openxmlformats.org/drawingml/2006/main" prst="rect">
            <a:avLst/>
          </a:prstGeom>
        </p:spPr>
      </p:pic>
      <p:sp>
        <p:nvSpPr>
          <p:cNvPr id="8039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08300"/>
            <a:ext cx="4826000" cy="111760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203200" dist="101600" dir="540000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3079750"/>
            <a:ext cx="711200" cy="711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9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e491a4c86ae4b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311400" y="3282950"/>
            <a:ext cx="381000" cy="304800"/>
          </a:xfrm>
          <a:prstGeom xmlns:a="http://schemas.openxmlformats.org/drawingml/2006/main" prst="rect">
            <a:avLst/>
          </a:prstGeom>
        </p:spPr>
      </p:pic>
      <p:sp>
        <p:nvSpPr>
          <p:cNvPr id="4009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3124200"/>
            <a:ext cx="2336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画像节点</a:t>
            </a:r>
            <a:endParaRPr lang="zh-CN"/>
          </a:p>
        </p:txBody>
      </p:sp>
      <p:sp>
        <p:nvSpPr>
          <p:cNvPr id="4009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3492500"/>
            <a:ext cx="222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用户多维特征提取与建模</a:t>
            </a:r>
            <a:endParaRPr lang="zh-CN"/>
          </a:p>
        </p:txBody>
      </p:sp>
      <p:sp>
        <p:nvSpPr>
          <p:cNvPr id="8039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23215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09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029121" y="3308350"/>
            <a:ext cx="482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 b="1">
                <a:solidFill>
                  <a:srgbClr val="E5C158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8039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0700"/>
            <a:ext cx="4826000" cy="111760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203200" dist="101600" dir="540000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4502150"/>
            <a:ext cx="711200" cy="711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9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5eb89ae176f44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330450" y="4705350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4010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4546600"/>
            <a:ext cx="215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协同节点</a:t>
            </a:r>
            <a:endParaRPr lang="zh-CN"/>
          </a:p>
        </p:txBody>
      </p:sp>
      <p:sp>
        <p:nvSpPr>
          <p:cNvPr id="4010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4914900"/>
            <a:ext cx="2044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基于行为的相似度计算</a:t>
            </a:r>
            <a:endParaRPr lang="zh-CN"/>
          </a:p>
        </p:txBody>
      </p:sp>
      <p:sp>
        <p:nvSpPr>
          <p:cNvPr id="8039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65455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029121" y="4730750"/>
            <a:ext cx="482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 b="1">
                <a:solidFill>
                  <a:srgbClr val="E5C158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8039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53100"/>
            <a:ext cx="4826000" cy="111760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203200" dist="101600" dir="540000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39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5924550"/>
            <a:ext cx="711200" cy="711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399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ccd63699efc4ba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349500" y="61277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10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5969000"/>
            <a:ext cx="215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匹配节点</a:t>
            </a:r>
            <a:endParaRPr lang="zh-CN"/>
          </a:p>
        </p:txBody>
      </p:sp>
      <p:sp>
        <p:nvSpPr>
          <p:cNvPr id="4010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6337300"/>
            <a:ext cx="2044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内容与用户的精准分发</a:t>
            </a:r>
            <a:endParaRPr lang="zh-CN"/>
          </a:p>
        </p:txBody>
      </p:sp>
      <p:sp>
        <p:nvSpPr>
          <p:cNvPr id="8039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607695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029121" y="6153150"/>
            <a:ext cx="482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 b="1">
                <a:solidFill>
                  <a:srgbClr val="E5C158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8040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175500"/>
            <a:ext cx="4826000" cy="111760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203200" dist="101600" dir="5400000" algn="ctr">
              <a:srgbClr val="FFFFFF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00" y="7346950"/>
            <a:ext cx="711200" cy="711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0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56056adc6464e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368550" y="755015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4010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7391400"/>
            <a:ext cx="1981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热门节点</a:t>
            </a:r>
            <a:endParaRPr lang="zh-CN"/>
          </a:p>
        </p:txBody>
      </p:sp>
      <p:sp>
        <p:nvSpPr>
          <p:cNvPr id="4010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111500" y="7759700"/>
            <a:ext cx="1866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全局热度召回与补充</a:t>
            </a:r>
            <a:endParaRPr lang="zh-CN"/>
          </a:p>
        </p:txBody>
      </p:sp>
      <p:sp>
        <p:nvSpPr>
          <p:cNvPr id="8040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749935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029121" y="7575550"/>
            <a:ext cx="482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400" b="1">
                <a:solidFill>
                  <a:srgbClr val="E5C158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69241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08300"/>
            <a:ext cx="4826000" cy="9525"/>
          </a:xfrm>
          <a:custGeom xmlns:a="http://schemas.openxmlformats.org/drawingml/2006/main">
            <a:avLst/>
            <a:pathLst>
              <a:path w="482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4711700" y="0"/>
                </a:lnTo>
                <a:lnTo>
                  <a:pt x="4737134" y="2866"/>
                </a:lnTo>
                <a:lnTo>
                  <a:pt x="4761292" y="11320"/>
                </a:lnTo>
                <a:lnTo>
                  <a:pt x="4782964" y="24937"/>
                </a:lnTo>
                <a:lnTo>
                  <a:pt x="4801063" y="43036"/>
                </a:lnTo>
                <a:lnTo>
                  <a:pt x="4814680" y="64708"/>
                </a:lnTo>
                <a:lnTo>
                  <a:pt x="4823134" y="88866"/>
                </a:lnTo>
                <a:lnTo>
                  <a:pt x="4826000" y="114300"/>
                </a:lnTo>
                <a:lnTo>
                  <a:pt x="4823134" y="101583"/>
                </a:lnTo>
                <a:lnTo>
                  <a:pt x="4814680" y="89504"/>
                </a:lnTo>
                <a:lnTo>
                  <a:pt x="4801063" y="78668"/>
                </a:lnTo>
                <a:lnTo>
                  <a:pt x="4782964" y="69619"/>
                </a:lnTo>
                <a:lnTo>
                  <a:pt x="4761292" y="62810"/>
                </a:lnTo>
                <a:lnTo>
                  <a:pt x="4737134" y="58583"/>
                </a:lnTo>
                <a:lnTo>
                  <a:pt x="471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2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0700"/>
            <a:ext cx="4826000" cy="9525"/>
          </a:xfrm>
          <a:custGeom xmlns:a="http://schemas.openxmlformats.org/drawingml/2006/main">
            <a:avLst/>
            <a:pathLst>
              <a:path w="482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4711700" y="0"/>
                </a:lnTo>
                <a:lnTo>
                  <a:pt x="4737134" y="2866"/>
                </a:lnTo>
                <a:lnTo>
                  <a:pt x="4761292" y="11320"/>
                </a:lnTo>
                <a:lnTo>
                  <a:pt x="4782964" y="24937"/>
                </a:lnTo>
                <a:lnTo>
                  <a:pt x="4801063" y="43036"/>
                </a:lnTo>
                <a:lnTo>
                  <a:pt x="4814680" y="64708"/>
                </a:lnTo>
                <a:lnTo>
                  <a:pt x="4823134" y="88866"/>
                </a:lnTo>
                <a:lnTo>
                  <a:pt x="4826000" y="114300"/>
                </a:lnTo>
                <a:lnTo>
                  <a:pt x="4823134" y="101583"/>
                </a:lnTo>
                <a:lnTo>
                  <a:pt x="4814680" y="89504"/>
                </a:lnTo>
                <a:lnTo>
                  <a:pt x="4801063" y="78668"/>
                </a:lnTo>
                <a:lnTo>
                  <a:pt x="4782964" y="69619"/>
                </a:lnTo>
                <a:lnTo>
                  <a:pt x="4761292" y="62810"/>
                </a:lnTo>
                <a:lnTo>
                  <a:pt x="4737134" y="58583"/>
                </a:lnTo>
                <a:lnTo>
                  <a:pt x="471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3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53100"/>
            <a:ext cx="4826000" cy="9525"/>
          </a:xfrm>
          <a:custGeom xmlns:a="http://schemas.openxmlformats.org/drawingml/2006/main">
            <a:avLst/>
            <a:pathLst>
              <a:path w="482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4711700" y="0"/>
                </a:lnTo>
                <a:lnTo>
                  <a:pt x="4737134" y="2866"/>
                </a:lnTo>
                <a:lnTo>
                  <a:pt x="4761292" y="11320"/>
                </a:lnTo>
                <a:lnTo>
                  <a:pt x="4782964" y="24937"/>
                </a:lnTo>
                <a:lnTo>
                  <a:pt x="4801063" y="43036"/>
                </a:lnTo>
                <a:lnTo>
                  <a:pt x="4814680" y="64708"/>
                </a:lnTo>
                <a:lnTo>
                  <a:pt x="4823134" y="88866"/>
                </a:lnTo>
                <a:lnTo>
                  <a:pt x="4826000" y="114300"/>
                </a:lnTo>
                <a:lnTo>
                  <a:pt x="4823134" y="101583"/>
                </a:lnTo>
                <a:lnTo>
                  <a:pt x="4814680" y="89504"/>
                </a:lnTo>
                <a:lnTo>
                  <a:pt x="4801063" y="78668"/>
                </a:lnTo>
                <a:lnTo>
                  <a:pt x="4782964" y="69619"/>
                </a:lnTo>
                <a:lnTo>
                  <a:pt x="4761292" y="62810"/>
                </a:lnTo>
                <a:lnTo>
                  <a:pt x="4737134" y="58583"/>
                </a:lnTo>
                <a:lnTo>
                  <a:pt x="471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4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175500"/>
            <a:ext cx="4826000" cy="9525"/>
          </a:xfrm>
          <a:custGeom xmlns:a="http://schemas.openxmlformats.org/drawingml/2006/main">
            <a:avLst/>
            <a:pathLst>
              <a:path w="482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4711700" y="0"/>
                </a:lnTo>
                <a:lnTo>
                  <a:pt x="4737134" y="2866"/>
                </a:lnTo>
                <a:lnTo>
                  <a:pt x="4761292" y="11320"/>
                </a:lnTo>
                <a:lnTo>
                  <a:pt x="4782964" y="24937"/>
                </a:lnTo>
                <a:lnTo>
                  <a:pt x="4801063" y="43036"/>
                </a:lnTo>
                <a:lnTo>
                  <a:pt x="4814680" y="64708"/>
                </a:lnTo>
                <a:lnTo>
                  <a:pt x="4823134" y="88866"/>
                </a:lnTo>
                <a:lnTo>
                  <a:pt x="4826000" y="114300"/>
                </a:lnTo>
                <a:lnTo>
                  <a:pt x="4823134" y="101583"/>
                </a:lnTo>
                <a:lnTo>
                  <a:pt x="4814680" y="89504"/>
                </a:lnTo>
                <a:lnTo>
                  <a:pt x="4801063" y="78668"/>
                </a:lnTo>
                <a:lnTo>
                  <a:pt x="4782964" y="69619"/>
                </a:lnTo>
                <a:lnTo>
                  <a:pt x="4761292" y="62810"/>
                </a:lnTo>
                <a:lnTo>
                  <a:pt x="4737134" y="58583"/>
                </a:lnTo>
                <a:lnTo>
                  <a:pt x="471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5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75" y="29083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003300"/>
                </a:lnTo>
                <a:lnTo>
                  <a:pt x="6659" y="1028734"/>
                </a:lnTo>
                <a:lnTo>
                  <a:pt x="-1795" y="1052892"/>
                </a:lnTo>
                <a:lnTo>
                  <a:pt x="-15412" y="1074564"/>
                </a:lnTo>
                <a:lnTo>
                  <a:pt x="-33511" y="1092663"/>
                </a:lnTo>
                <a:lnTo>
                  <a:pt x="-55183" y="1106280"/>
                </a:lnTo>
                <a:lnTo>
                  <a:pt x="-79341" y="1114734"/>
                </a:lnTo>
                <a:lnTo>
                  <a:pt x="-104775" y="1117600"/>
                </a:lnTo>
                <a:lnTo>
                  <a:pt x="-92058" y="1114734"/>
                </a:lnTo>
                <a:lnTo>
                  <a:pt x="-79979" y="1106280"/>
                </a:lnTo>
                <a:lnTo>
                  <a:pt x="-69143" y="1092663"/>
                </a:lnTo>
                <a:lnTo>
                  <a:pt x="-60094" y="1074564"/>
                </a:lnTo>
                <a:lnTo>
                  <a:pt x="-53285" y="1052892"/>
                </a:lnTo>
                <a:lnTo>
                  <a:pt x="-49058" y="1028734"/>
                </a:lnTo>
                <a:lnTo>
                  <a:pt x="-47625" y="1003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6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75" y="43307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003300"/>
                </a:lnTo>
                <a:lnTo>
                  <a:pt x="6659" y="1028734"/>
                </a:lnTo>
                <a:lnTo>
                  <a:pt x="-1795" y="1052892"/>
                </a:lnTo>
                <a:lnTo>
                  <a:pt x="-15412" y="1074564"/>
                </a:lnTo>
                <a:lnTo>
                  <a:pt x="-33511" y="1092663"/>
                </a:lnTo>
                <a:lnTo>
                  <a:pt x="-55183" y="1106280"/>
                </a:lnTo>
                <a:lnTo>
                  <a:pt x="-79341" y="1114734"/>
                </a:lnTo>
                <a:lnTo>
                  <a:pt x="-104775" y="1117600"/>
                </a:lnTo>
                <a:lnTo>
                  <a:pt x="-92058" y="1114734"/>
                </a:lnTo>
                <a:lnTo>
                  <a:pt x="-79979" y="1106280"/>
                </a:lnTo>
                <a:lnTo>
                  <a:pt x="-69143" y="1092663"/>
                </a:lnTo>
                <a:lnTo>
                  <a:pt x="-60094" y="1074564"/>
                </a:lnTo>
                <a:lnTo>
                  <a:pt x="-53285" y="1052892"/>
                </a:lnTo>
                <a:lnTo>
                  <a:pt x="-49058" y="1028734"/>
                </a:lnTo>
                <a:lnTo>
                  <a:pt x="-47625" y="1003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75" y="57531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003300"/>
                </a:lnTo>
                <a:lnTo>
                  <a:pt x="6659" y="1028734"/>
                </a:lnTo>
                <a:lnTo>
                  <a:pt x="-1795" y="1052892"/>
                </a:lnTo>
                <a:lnTo>
                  <a:pt x="-15412" y="1074564"/>
                </a:lnTo>
                <a:lnTo>
                  <a:pt x="-33511" y="1092663"/>
                </a:lnTo>
                <a:lnTo>
                  <a:pt x="-55183" y="1106280"/>
                </a:lnTo>
                <a:lnTo>
                  <a:pt x="-79341" y="1114734"/>
                </a:lnTo>
                <a:lnTo>
                  <a:pt x="-104775" y="1117600"/>
                </a:lnTo>
                <a:lnTo>
                  <a:pt x="-92058" y="1114734"/>
                </a:lnTo>
                <a:lnTo>
                  <a:pt x="-79979" y="1106280"/>
                </a:lnTo>
                <a:lnTo>
                  <a:pt x="-69143" y="1092663"/>
                </a:lnTo>
                <a:lnTo>
                  <a:pt x="-60094" y="1074564"/>
                </a:lnTo>
                <a:lnTo>
                  <a:pt x="-53285" y="1052892"/>
                </a:lnTo>
                <a:lnTo>
                  <a:pt x="-49058" y="1028734"/>
                </a:lnTo>
                <a:lnTo>
                  <a:pt x="-47625" y="1003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8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75" y="71755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1003300"/>
                </a:lnTo>
                <a:lnTo>
                  <a:pt x="6659" y="1028734"/>
                </a:lnTo>
                <a:lnTo>
                  <a:pt x="-1795" y="1052892"/>
                </a:lnTo>
                <a:lnTo>
                  <a:pt x="-15412" y="1074564"/>
                </a:lnTo>
                <a:lnTo>
                  <a:pt x="-33511" y="1092663"/>
                </a:lnTo>
                <a:lnTo>
                  <a:pt x="-55183" y="1106280"/>
                </a:lnTo>
                <a:lnTo>
                  <a:pt x="-79341" y="1114734"/>
                </a:lnTo>
                <a:lnTo>
                  <a:pt x="-104775" y="1117600"/>
                </a:lnTo>
                <a:lnTo>
                  <a:pt x="-92058" y="1114734"/>
                </a:lnTo>
                <a:lnTo>
                  <a:pt x="-79979" y="1106280"/>
                </a:lnTo>
                <a:lnTo>
                  <a:pt x="-69143" y="1092663"/>
                </a:lnTo>
                <a:lnTo>
                  <a:pt x="-60094" y="1074564"/>
                </a:lnTo>
                <a:lnTo>
                  <a:pt x="-53285" y="1052892"/>
                </a:lnTo>
                <a:lnTo>
                  <a:pt x="-49058" y="1028734"/>
                </a:lnTo>
                <a:lnTo>
                  <a:pt x="-47625" y="1003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49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8750"/>
            <a:ext cx="4826000" cy="57150"/>
          </a:xfrm>
          <a:custGeom xmlns:a="http://schemas.openxmlformats.org/drawingml/2006/main">
            <a:avLst/>
            <a:pathLst>
              <a:path w="482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4711700" y="57150"/>
                </a:lnTo>
                <a:lnTo>
                  <a:pt x="4737134" y="54284"/>
                </a:lnTo>
                <a:lnTo>
                  <a:pt x="4761292" y="45830"/>
                </a:lnTo>
                <a:lnTo>
                  <a:pt x="4782964" y="32213"/>
                </a:lnTo>
                <a:lnTo>
                  <a:pt x="4801063" y="14114"/>
                </a:lnTo>
                <a:lnTo>
                  <a:pt x="4814680" y="-7558"/>
                </a:lnTo>
                <a:lnTo>
                  <a:pt x="4823134" y="-31716"/>
                </a:lnTo>
                <a:lnTo>
                  <a:pt x="4826000" y="-57150"/>
                </a:lnTo>
                <a:lnTo>
                  <a:pt x="4823134" y="-44433"/>
                </a:lnTo>
                <a:lnTo>
                  <a:pt x="4814680" y="-32354"/>
                </a:lnTo>
                <a:lnTo>
                  <a:pt x="4801063" y="-21518"/>
                </a:lnTo>
                <a:lnTo>
                  <a:pt x="4782964" y="-12469"/>
                </a:lnTo>
                <a:lnTo>
                  <a:pt x="4761292" y="-5660"/>
                </a:lnTo>
                <a:lnTo>
                  <a:pt x="4737134" y="-1433"/>
                </a:lnTo>
                <a:lnTo>
                  <a:pt x="471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0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91150"/>
            <a:ext cx="4826000" cy="57150"/>
          </a:xfrm>
          <a:custGeom xmlns:a="http://schemas.openxmlformats.org/drawingml/2006/main">
            <a:avLst/>
            <a:pathLst>
              <a:path w="482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4711700" y="57150"/>
                </a:lnTo>
                <a:lnTo>
                  <a:pt x="4737134" y="54284"/>
                </a:lnTo>
                <a:lnTo>
                  <a:pt x="4761292" y="45830"/>
                </a:lnTo>
                <a:lnTo>
                  <a:pt x="4782964" y="32213"/>
                </a:lnTo>
                <a:lnTo>
                  <a:pt x="4801063" y="14114"/>
                </a:lnTo>
                <a:lnTo>
                  <a:pt x="4814680" y="-7558"/>
                </a:lnTo>
                <a:lnTo>
                  <a:pt x="4823134" y="-31716"/>
                </a:lnTo>
                <a:lnTo>
                  <a:pt x="4826000" y="-57150"/>
                </a:lnTo>
                <a:lnTo>
                  <a:pt x="4823134" y="-44433"/>
                </a:lnTo>
                <a:lnTo>
                  <a:pt x="4814680" y="-32354"/>
                </a:lnTo>
                <a:lnTo>
                  <a:pt x="4801063" y="-21518"/>
                </a:lnTo>
                <a:lnTo>
                  <a:pt x="4782964" y="-12469"/>
                </a:lnTo>
                <a:lnTo>
                  <a:pt x="4761292" y="-5660"/>
                </a:lnTo>
                <a:lnTo>
                  <a:pt x="4737134" y="-1433"/>
                </a:lnTo>
                <a:lnTo>
                  <a:pt x="471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1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813550"/>
            <a:ext cx="4826000" cy="57150"/>
          </a:xfrm>
          <a:custGeom xmlns:a="http://schemas.openxmlformats.org/drawingml/2006/main">
            <a:avLst/>
            <a:pathLst>
              <a:path w="482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4711700" y="57150"/>
                </a:lnTo>
                <a:lnTo>
                  <a:pt x="4737134" y="54284"/>
                </a:lnTo>
                <a:lnTo>
                  <a:pt x="4761292" y="45830"/>
                </a:lnTo>
                <a:lnTo>
                  <a:pt x="4782964" y="32213"/>
                </a:lnTo>
                <a:lnTo>
                  <a:pt x="4801063" y="14114"/>
                </a:lnTo>
                <a:lnTo>
                  <a:pt x="4814680" y="-7558"/>
                </a:lnTo>
                <a:lnTo>
                  <a:pt x="4823134" y="-31716"/>
                </a:lnTo>
                <a:lnTo>
                  <a:pt x="4826000" y="-57150"/>
                </a:lnTo>
                <a:lnTo>
                  <a:pt x="4823134" y="-44433"/>
                </a:lnTo>
                <a:lnTo>
                  <a:pt x="4814680" y="-32354"/>
                </a:lnTo>
                <a:lnTo>
                  <a:pt x="4801063" y="-21518"/>
                </a:lnTo>
                <a:lnTo>
                  <a:pt x="4782964" y="-12469"/>
                </a:lnTo>
                <a:lnTo>
                  <a:pt x="4761292" y="-5660"/>
                </a:lnTo>
                <a:lnTo>
                  <a:pt x="4737134" y="-1433"/>
                </a:lnTo>
                <a:lnTo>
                  <a:pt x="471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2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235950"/>
            <a:ext cx="4826000" cy="57150"/>
          </a:xfrm>
          <a:custGeom xmlns:a="http://schemas.openxmlformats.org/drawingml/2006/main">
            <a:avLst/>
            <a:pathLst>
              <a:path w="482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4711700" y="57150"/>
                </a:lnTo>
                <a:lnTo>
                  <a:pt x="4737134" y="54284"/>
                </a:lnTo>
                <a:lnTo>
                  <a:pt x="4761292" y="45830"/>
                </a:lnTo>
                <a:lnTo>
                  <a:pt x="4782964" y="32213"/>
                </a:lnTo>
                <a:lnTo>
                  <a:pt x="4801063" y="14114"/>
                </a:lnTo>
                <a:lnTo>
                  <a:pt x="4814680" y="-7558"/>
                </a:lnTo>
                <a:lnTo>
                  <a:pt x="4823134" y="-31716"/>
                </a:lnTo>
                <a:lnTo>
                  <a:pt x="4826000" y="-57150"/>
                </a:lnTo>
                <a:lnTo>
                  <a:pt x="4823134" y="-44433"/>
                </a:lnTo>
                <a:lnTo>
                  <a:pt x="4814680" y="-32354"/>
                </a:lnTo>
                <a:lnTo>
                  <a:pt x="4801063" y="-21518"/>
                </a:lnTo>
                <a:lnTo>
                  <a:pt x="4782964" y="-12469"/>
                </a:lnTo>
                <a:lnTo>
                  <a:pt x="4761292" y="-5660"/>
                </a:lnTo>
                <a:lnTo>
                  <a:pt x="4737134" y="-1433"/>
                </a:lnTo>
                <a:lnTo>
                  <a:pt x="471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3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083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003300"/>
                </a:lnTo>
                <a:lnTo>
                  <a:pt x="2866" y="1028734"/>
                </a:lnTo>
                <a:lnTo>
                  <a:pt x="11320" y="1052892"/>
                </a:lnTo>
                <a:lnTo>
                  <a:pt x="24937" y="1074564"/>
                </a:lnTo>
                <a:lnTo>
                  <a:pt x="43036" y="1092663"/>
                </a:lnTo>
                <a:lnTo>
                  <a:pt x="64708" y="1106280"/>
                </a:lnTo>
                <a:lnTo>
                  <a:pt x="88866" y="1114734"/>
                </a:lnTo>
                <a:lnTo>
                  <a:pt x="114300" y="1117600"/>
                </a:lnTo>
                <a:lnTo>
                  <a:pt x="101583" y="1114734"/>
                </a:lnTo>
                <a:lnTo>
                  <a:pt x="89504" y="1106280"/>
                </a:lnTo>
                <a:lnTo>
                  <a:pt x="78668" y="1092663"/>
                </a:lnTo>
                <a:lnTo>
                  <a:pt x="69619" y="1074564"/>
                </a:lnTo>
                <a:lnTo>
                  <a:pt x="62810" y="1052892"/>
                </a:lnTo>
                <a:lnTo>
                  <a:pt x="58583" y="1028734"/>
                </a:lnTo>
                <a:lnTo>
                  <a:pt x="57150" y="1003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07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003300"/>
                </a:lnTo>
                <a:lnTo>
                  <a:pt x="2866" y="1028734"/>
                </a:lnTo>
                <a:lnTo>
                  <a:pt x="11320" y="1052892"/>
                </a:lnTo>
                <a:lnTo>
                  <a:pt x="24937" y="1074564"/>
                </a:lnTo>
                <a:lnTo>
                  <a:pt x="43036" y="1092663"/>
                </a:lnTo>
                <a:lnTo>
                  <a:pt x="64708" y="1106280"/>
                </a:lnTo>
                <a:lnTo>
                  <a:pt x="88866" y="1114734"/>
                </a:lnTo>
                <a:lnTo>
                  <a:pt x="114300" y="1117600"/>
                </a:lnTo>
                <a:lnTo>
                  <a:pt x="101583" y="1114734"/>
                </a:lnTo>
                <a:lnTo>
                  <a:pt x="89504" y="1106280"/>
                </a:lnTo>
                <a:lnTo>
                  <a:pt x="78668" y="1092663"/>
                </a:lnTo>
                <a:lnTo>
                  <a:pt x="69619" y="1074564"/>
                </a:lnTo>
                <a:lnTo>
                  <a:pt x="62810" y="1052892"/>
                </a:lnTo>
                <a:lnTo>
                  <a:pt x="58583" y="1028734"/>
                </a:lnTo>
                <a:lnTo>
                  <a:pt x="57150" y="1003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531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003300"/>
                </a:lnTo>
                <a:lnTo>
                  <a:pt x="2866" y="1028734"/>
                </a:lnTo>
                <a:lnTo>
                  <a:pt x="11320" y="1052892"/>
                </a:lnTo>
                <a:lnTo>
                  <a:pt x="24937" y="1074564"/>
                </a:lnTo>
                <a:lnTo>
                  <a:pt x="43036" y="1092663"/>
                </a:lnTo>
                <a:lnTo>
                  <a:pt x="64708" y="1106280"/>
                </a:lnTo>
                <a:lnTo>
                  <a:pt x="88866" y="1114734"/>
                </a:lnTo>
                <a:lnTo>
                  <a:pt x="114300" y="1117600"/>
                </a:lnTo>
                <a:lnTo>
                  <a:pt x="101583" y="1114734"/>
                </a:lnTo>
                <a:lnTo>
                  <a:pt x="89504" y="1106280"/>
                </a:lnTo>
                <a:lnTo>
                  <a:pt x="78668" y="1092663"/>
                </a:lnTo>
                <a:lnTo>
                  <a:pt x="69619" y="1074564"/>
                </a:lnTo>
                <a:lnTo>
                  <a:pt x="62810" y="1052892"/>
                </a:lnTo>
                <a:lnTo>
                  <a:pt x="58583" y="1028734"/>
                </a:lnTo>
                <a:lnTo>
                  <a:pt x="57150" y="1003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175500"/>
            <a:ext cx="9525" cy="1117600"/>
          </a:xfrm>
          <a:custGeom xmlns:a="http://schemas.openxmlformats.org/drawingml/2006/main">
            <a:avLst/>
            <a:pathLst>
              <a:path w="9525" h="1117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1003300"/>
                </a:lnTo>
                <a:lnTo>
                  <a:pt x="2866" y="1028734"/>
                </a:lnTo>
                <a:lnTo>
                  <a:pt x="11320" y="1052892"/>
                </a:lnTo>
                <a:lnTo>
                  <a:pt x="24937" y="1074564"/>
                </a:lnTo>
                <a:lnTo>
                  <a:pt x="43036" y="1092663"/>
                </a:lnTo>
                <a:lnTo>
                  <a:pt x="64708" y="1106280"/>
                </a:lnTo>
                <a:lnTo>
                  <a:pt x="88866" y="1114734"/>
                </a:lnTo>
                <a:lnTo>
                  <a:pt x="114300" y="1117600"/>
                </a:lnTo>
                <a:lnTo>
                  <a:pt x="101583" y="1114734"/>
                </a:lnTo>
                <a:lnTo>
                  <a:pt x="89504" y="1106280"/>
                </a:lnTo>
                <a:lnTo>
                  <a:pt x="78668" y="1092663"/>
                </a:lnTo>
                <a:lnTo>
                  <a:pt x="69619" y="1074564"/>
                </a:lnTo>
                <a:lnTo>
                  <a:pt x="62810" y="1052892"/>
                </a:lnTo>
                <a:lnTo>
                  <a:pt x="58583" y="1028734"/>
                </a:lnTo>
                <a:lnTo>
                  <a:pt x="57150" y="1003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流程路径图</a:t>
            </a:r>
            <a:endParaRPr lang="zh-CN"/>
          </a:p>
        </p:txBody>
      </p:sp>
      <p:sp>
        <p:nvSpPr>
          <p:cNvPr id="8040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0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1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f07374383fe44c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0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1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8146e74b7e74c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0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0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08</a:t>
            </a:r>
            <a:endParaRPr lang="zh-CN"/>
          </a:p>
        </p:txBody>
      </p:sp>
      <p:sp>
        <p:nvSpPr>
          <p:cNvPr id="8040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26618" y="4679950"/>
            <a:ext cx="30099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AI 智能助手</a:t>
            </a:r>
            <a:endParaRPr lang="zh-CN"/>
          </a:p>
        </p:txBody>
      </p:sp>
      <p:sp>
        <p:nvSpPr>
          <p:cNvPr id="4010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31406" y="5683250"/>
            <a:ext cx="260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3D对话气泡与智能核心</a:t>
            </a:r>
            <a:endParaRPr lang="zh-CN"/>
          </a:p>
        </p:txBody>
      </p:sp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0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2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39a24569b0348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0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2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fcc589cdcb447f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0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0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05000"/>
            <a:ext cx="5588000" cy="14732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274300" y="23368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2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c0082d4b26c43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20350" y="2487663"/>
            <a:ext cx="317500" cy="254000"/>
          </a:xfrm>
          <a:prstGeom xmlns:a="http://schemas.openxmlformats.org/drawingml/2006/main" prst="rect">
            <a:avLst/>
          </a:prstGeom>
        </p:spPr>
      </p:pic>
      <p:sp>
        <p:nvSpPr>
          <p:cNvPr id="4010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2160384"/>
            <a:ext cx="4724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3D 对话气泡</a:t>
            </a:r>
            <a:endParaRPr lang="zh-CN"/>
          </a:p>
        </p:txBody>
      </p:sp>
      <p:sp>
        <p:nvSpPr>
          <p:cNvPr id="4010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2528684"/>
            <a:ext cx="4343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气泡带厚度与旋转角度，模拟真实物理交互场景。</a:t>
            </a:r>
            <a:endParaRPr lang="zh-CN"/>
          </a:p>
        </p:txBody>
      </p:sp>
      <p:sp>
        <p:nvSpPr>
          <p:cNvPr id="8040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30600"/>
            <a:ext cx="5588000" cy="14732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274300" y="39624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3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4667440afce4b6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52100" y="4113263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0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3785984"/>
            <a:ext cx="4724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菱形立体徽章</a:t>
            </a:r>
            <a:endParaRPr lang="zh-CN"/>
          </a:p>
        </p:txBody>
      </p:sp>
      <p:sp>
        <p:nvSpPr>
          <p:cNvPr id="4010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4154284"/>
            <a:ext cx="4343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特性标签采用立体菱形设计，具有明显厚度与质感。</a:t>
            </a:r>
            <a:endParaRPr lang="zh-CN"/>
          </a:p>
        </p:txBody>
      </p:sp>
      <p:sp>
        <p:nvSpPr>
          <p:cNvPr id="8040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56200"/>
            <a:ext cx="5588000" cy="14732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274300" y="55880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3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955d3293f4648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20350" y="5738863"/>
            <a:ext cx="317500" cy="254000"/>
          </a:xfrm>
          <a:prstGeom xmlns:a="http://schemas.openxmlformats.org/drawingml/2006/main" prst="rect">
            <a:avLst/>
          </a:prstGeom>
        </p:spPr>
      </p:pic>
      <p:sp>
        <p:nvSpPr>
          <p:cNvPr id="4010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5411584"/>
            <a:ext cx="4724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金色线框大脑</a:t>
            </a:r>
            <a:endParaRPr lang="zh-CN"/>
          </a:p>
        </p:txBody>
      </p:sp>
      <p:sp>
        <p:nvSpPr>
          <p:cNvPr id="4010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5779884"/>
            <a:ext cx="4343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半透明材质抽象模型，象征 AI 智能核心与科技感。</a:t>
            </a:r>
            <a:endParaRPr lang="zh-CN"/>
          </a:p>
        </p:txBody>
      </p:sp>
      <p:sp>
        <p:nvSpPr>
          <p:cNvPr id="8040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781800"/>
            <a:ext cx="5588000" cy="1473200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274300" y="7213600"/>
            <a:ext cx="609600" cy="609600"/>
          </a:xfrm>
          <a:prstGeom xmlns:a="http://schemas.openxmlformats.org/drawingml/2006/main" prst="roundRect">
            <a:avLst>
              <a:gd name="adj" fmla="val 1666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3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74b0d86ef7a49f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36225" y="7364463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4010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7037184"/>
            <a:ext cx="4724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00000"/>
                </a:solidFill>
                <a:latin typeface="Noto Sans SC"/>
                <a:ea typeface="Noto Sans SC"/>
              </a:rPr>
              <a:t>Extrusion 厚度</a:t>
            </a:r>
            <a:endParaRPr lang="zh-CN"/>
          </a:p>
        </p:txBody>
      </p:sp>
      <p:sp>
        <p:nvSpPr>
          <p:cNvPr id="4010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87100" y="7405484"/>
            <a:ext cx="4343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通过轻微挤出手法，赋予平面元素真实的体积感。</a:t>
            </a:r>
            <a:endParaRPr lang="zh-CN"/>
          </a:p>
        </p:txBody>
      </p:sp>
      <p:sp>
        <p:nvSpPr>
          <p:cNvPr id="6925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325" y="2336800"/>
            <a:ext cx="28575" cy="609600"/>
          </a:xfrm>
          <a:custGeom xmlns:a="http://schemas.openxmlformats.org/drawingml/2006/main">
            <a:avLst/>
            <a:pathLst>
              <a:path w="28575" h="609600">
                <a:moveTo>
                  <a:pt x="-47625" y="0"/>
                </a:moveTo>
                <a:lnTo>
                  <a:pt x="-30669" y="1911"/>
                </a:lnTo>
                <a:lnTo>
                  <a:pt x="-14564" y="7547"/>
                </a:lnTo>
                <a:lnTo>
                  <a:pt x="-116" y="16625"/>
                </a:lnTo>
                <a:lnTo>
                  <a:pt x="11950" y="28691"/>
                </a:lnTo>
                <a:lnTo>
                  <a:pt x="21028" y="43139"/>
                </a:lnTo>
                <a:lnTo>
                  <a:pt x="26664" y="59244"/>
                </a:lnTo>
                <a:lnTo>
                  <a:pt x="28575" y="76200"/>
                </a:lnTo>
                <a:lnTo>
                  <a:pt x="28575" y="533400"/>
                </a:lnTo>
                <a:lnTo>
                  <a:pt x="26664" y="550356"/>
                </a:lnTo>
                <a:lnTo>
                  <a:pt x="21028" y="566461"/>
                </a:lnTo>
                <a:lnTo>
                  <a:pt x="11950" y="580909"/>
                </a:lnTo>
                <a:lnTo>
                  <a:pt x="-116" y="592975"/>
                </a:lnTo>
                <a:lnTo>
                  <a:pt x="-14564" y="602053"/>
                </a:lnTo>
                <a:lnTo>
                  <a:pt x="-30669" y="607689"/>
                </a:lnTo>
                <a:lnTo>
                  <a:pt x="-47625" y="609600"/>
                </a:lnTo>
                <a:lnTo>
                  <a:pt x="-39147" y="607689"/>
                </a:lnTo>
                <a:lnTo>
                  <a:pt x="-31095" y="602053"/>
                </a:lnTo>
                <a:lnTo>
                  <a:pt x="-23871" y="592975"/>
                </a:lnTo>
                <a:lnTo>
                  <a:pt x="-17838" y="580909"/>
                </a:lnTo>
                <a:lnTo>
                  <a:pt x="-13299" y="566461"/>
                </a:lnTo>
                <a:lnTo>
                  <a:pt x="-10481" y="550356"/>
                </a:lnTo>
                <a:lnTo>
                  <a:pt x="-9525" y="533400"/>
                </a:lnTo>
                <a:lnTo>
                  <a:pt x="-9525" y="76200"/>
                </a:lnTo>
                <a:lnTo>
                  <a:pt x="-10481" y="59244"/>
                </a:lnTo>
                <a:lnTo>
                  <a:pt x="-13299" y="43139"/>
                </a:lnTo>
                <a:lnTo>
                  <a:pt x="-17838" y="28691"/>
                </a:lnTo>
                <a:lnTo>
                  <a:pt x="-23871" y="16625"/>
                </a:lnTo>
                <a:lnTo>
                  <a:pt x="-31095" y="7547"/>
                </a:lnTo>
                <a:lnTo>
                  <a:pt x="-39147" y="1911"/>
                </a:lnTo>
                <a:lnTo>
                  <a:pt x="-47625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8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325" y="3962400"/>
            <a:ext cx="28575" cy="609600"/>
          </a:xfrm>
          <a:custGeom xmlns:a="http://schemas.openxmlformats.org/drawingml/2006/main">
            <a:avLst/>
            <a:pathLst>
              <a:path w="28575" h="609600">
                <a:moveTo>
                  <a:pt x="-47625" y="0"/>
                </a:moveTo>
                <a:lnTo>
                  <a:pt x="-30669" y="1911"/>
                </a:lnTo>
                <a:lnTo>
                  <a:pt x="-14564" y="7547"/>
                </a:lnTo>
                <a:lnTo>
                  <a:pt x="-116" y="16625"/>
                </a:lnTo>
                <a:lnTo>
                  <a:pt x="11950" y="28691"/>
                </a:lnTo>
                <a:lnTo>
                  <a:pt x="21028" y="43139"/>
                </a:lnTo>
                <a:lnTo>
                  <a:pt x="26664" y="59244"/>
                </a:lnTo>
                <a:lnTo>
                  <a:pt x="28575" y="76200"/>
                </a:lnTo>
                <a:lnTo>
                  <a:pt x="28575" y="533400"/>
                </a:lnTo>
                <a:lnTo>
                  <a:pt x="26664" y="550356"/>
                </a:lnTo>
                <a:lnTo>
                  <a:pt x="21028" y="566461"/>
                </a:lnTo>
                <a:lnTo>
                  <a:pt x="11950" y="580909"/>
                </a:lnTo>
                <a:lnTo>
                  <a:pt x="-116" y="592975"/>
                </a:lnTo>
                <a:lnTo>
                  <a:pt x="-14564" y="602053"/>
                </a:lnTo>
                <a:lnTo>
                  <a:pt x="-30669" y="607689"/>
                </a:lnTo>
                <a:lnTo>
                  <a:pt x="-47625" y="609600"/>
                </a:lnTo>
                <a:lnTo>
                  <a:pt x="-39147" y="607689"/>
                </a:lnTo>
                <a:lnTo>
                  <a:pt x="-31095" y="602053"/>
                </a:lnTo>
                <a:lnTo>
                  <a:pt x="-23871" y="592975"/>
                </a:lnTo>
                <a:lnTo>
                  <a:pt x="-17838" y="580909"/>
                </a:lnTo>
                <a:lnTo>
                  <a:pt x="-13299" y="566461"/>
                </a:lnTo>
                <a:lnTo>
                  <a:pt x="-10481" y="550356"/>
                </a:lnTo>
                <a:lnTo>
                  <a:pt x="-9525" y="533400"/>
                </a:lnTo>
                <a:lnTo>
                  <a:pt x="-9525" y="76200"/>
                </a:lnTo>
                <a:lnTo>
                  <a:pt x="-10481" y="59244"/>
                </a:lnTo>
                <a:lnTo>
                  <a:pt x="-13299" y="43139"/>
                </a:lnTo>
                <a:lnTo>
                  <a:pt x="-17838" y="28691"/>
                </a:lnTo>
                <a:lnTo>
                  <a:pt x="-23871" y="16625"/>
                </a:lnTo>
                <a:lnTo>
                  <a:pt x="-31095" y="7547"/>
                </a:lnTo>
                <a:lnTo>
                  <a:pt x="-39147" y="1911"/>
                </a:lnTo>
                <a:lnTo>
                  <a:pt x="-47625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59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325" y="5588000"/>
            <a:ext cx="28575" cy="609600"/>
          </a:xfrm>
          <a:custGeom xmlns:a="http://schemas.openxmlformats.org/drawingml/2006/main">
            <a:avLst/>
            <a:pathLst>
              <a:path w="28575" h="609600">
                <a:moveTo>
                  <a:pt x="-47625" y="0"/>
                </a:moveTo>
                <a:lnTo>
                  <a:pt x="-30669" y="1911"/>
                </a:lnTo>
                <a:lnTo>
                  <a:pt x="-14564" y="7547"/>
                </a:lnTo>
                <a:lnTo>
                  <a:pt x="-116" y="16625"/>
                </a:lnTo>
                <a:lnTo>
                  <a:pt x="11950" y="28691"/>
                </a:lnTo>
                <a:lnTo>
                  <a:pt x="21028" y="43139"/>
                </a:lnTo>
                <a:lnTo>
                  <a:pt x="26664" y="59244"/>
                </a:lnTo>
                <a:lnTo>
                  <a:pt x="28575" y="76200"/>
                </a:lnTo>
                <a:lnTo>
                  <a:pt x="28575" y="533400"/>
                </a:lnTo>
                <a:lnTo>
                  <a:pt x="26664" y="550356"/>
                </a:lnTo>
                <a:lnTo>
                  <a:pt x="21028" y="566461"/>
                </a:lnTo>
                <a:lnTo>
                  <a:pt x="11950" y="580909"/>
                </a:lnTo>
                <a:lnTo>
                  <a:pt x="-116" y="592975"/>
                </a:lnTo>
                <a:lnTo>
                  <a:pt x="-14564" y="602053"/>
                </a:lnTo>
                <a:lnTo>
                  <a:pt x="-30669" y="607689"/>
                </a:lnTo>
                <a:lnTo>
                  <a:pt x="-47625" y="609600"/>
                </a:lnTo>
                <a:lnTo>
                  <a:pt x="-39147" y="607689"/>
                </a:lnTo>
                <a:lnTo>
                  <a:pt x="-31095" y="602053"/>
                </a:lnTo>
                <a:lnTo>
                  <a:pt x="-23871" y="592975"/>
                </a:lnTo>
                <a:lnTo>
                  <a:pt x="-17838" y="580909"/>
                </a:lnTo>
                <a:lnTo>
                  <a:pt x="-13299" y="566461"/>
                </a:lnTo>
                <a:lnTo>
                  <a:pt x="-10481" y="550356"/>
                </a:lnTo>
                <a:lnTo>
                  <a:pt x="-9525" y="533400"/>
                </a:lnTo>
                <a:lnTo>
                  <a:pt x="-9525" y="76200"/>
                </a:lnTo>
                <a:lnTo>
                  <a:pt x="-10481" y="59244"/>
                </a:lnTo>
                <a:lnTo>
                  <a:pt x="-13299" y="43139"/>
                </a:lnTo>
                <a:lnTo>
                  <a:pt x="-17838" y="28691"/>
                </a:lnTo>
                <a:lnTo>
                  <a:pt x="-23871" y="16625"/>
                </a:lnTo>
                <a:lnTo>
                  <a:pt x="-31095" y="7547"/>
                </a:lnTo>
                <a:lnTo>
                  <a:pt x="-39147" y="1911"/>
                </a:lnTo>
                <a:lnTo>
                  <a:pt x="-47625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0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325" y="7213600"/>
            <a:ext cx="28575" cy="609600"/>
          </a:xfrm>
          <a:custGeom xmlns:a="http://schemas.openxmlformats.org/drawingml/2006/main">
            <a:avLst/>
            <a:pathLst>
              <a:path w="28575" h="609600">
                <a:moveTo>
                  <a:pt x="-47625" y="0"/>
                </a:moveTo>
                <a:lnTo>
                  <a:pt x="-30669" y="1911"/>
                </a:lnTo>
                <a:lnTo>
                  <a:pt x="-14564" y="7547"/>
                </a:lnTo>
                <a:lnTo>
                  <a:pt x="-116" y="16625"/>
                </a:lnTo>
                <a:lnTo>
                  <a:pt x="11950" y="28691"/>
                </a:lnTo>
                <a:lnTo>
                  <a:pt x="21028" y="43139"/>
                </a:lnTo>
                <a:lnTo>
                  <a:pt x="26664" y="59244"/>
                </a:lnTo>
                <a:lnTo>
                  <a:pt x="28575" y="76200"/>
                </a:lnTo>
                <a:lnTo>
                  <a:pt x="28575" y="533400"/>
                </a:lnTo>
                <a:lnTo>
                  <a:pt x="26664" y="550356"/>
                </a:lnTo>
                <a:lnTo>
                  <a:pt x="21028" y="566461"/>
                </a:lnTo>
                <a:lnTo>
                  <a:pt x="11950" y="580909"/>
                </a:lnTo>
                <a:lnTo>
                  <a:pt x="-116" y="592975"/>
                </a:lnTo>
                <a:lnTo>
                  <a:pt x="-14564" y="602053"/>
                </a:lnTo>
                <a:lnTo>
                  <a:pt x="-30669" y="607689"/>
                </a:lnTo>
                <a:lnTo>
                  <a:pt x="-47625" y="609600"/>
                </a:lnTo>
                <a:lnTo>
                  <a:pt x="-39147" y="607689"/>
                </a:lnTo>
                <a:lnTo>
                  <a:pt x="-31095" y="602053"/>
                </a:lnTo>
                <a:lnTo>
                  <a:pt x="-23871" y="592975"/>
                </a:lnTo>
                <a:lnTo>
                  <a:pt x="-17838" y="580909"/>
                </a:lnTo>
                <a:lnTo>
                  <a:pt x="-13299" y="566461"/>
                </a:lnTo>
                <a:lnTo>
                  <a:pt x="-10481" y="550356"/>
                </a:lnTo>
                <a:lnTo>
                  <a:pt x="-9525" y="533400"/>
                </a:lnTo>
                <a:lnTo>
                  <a:pt x="-9525" y="76200"/>
                </a:lnTo>
                <a:lnTo>
                  <a:pt x="-10481" y="59244"/>
                </a:lnTo>
                <a:lnTo>
                  <a:pt x="-13299" y="43139"/>
                </a:lnTo>
                <a:lnTo>
                  <a:pt x="-17838" y="28691"/>
                </a:lnTo>
                <a:lnTo>
                  <a:pt x="-23871" y="16625"/>
                </a:lnTo>
                <a:lnTo>
                  <a:pt x="-31095" y="7547"/>
                </a:lnTo>
                <a:lnTo>
                  <a:pt x="-39147" y="1911"/>
                </a:lnTo>
                <a:lnTo>
                  <a:pt x="-47625" y="0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1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2917825"/>
            <a:ext cx="609600" cy="28575"/>
          </a:xfrm>
          <a:custGeom xmlns:a="http://schemas.openxmlformats.org/drawingml/2006/main">
            <a:avLst/>
            <a:pathLst>
              <a:path w="609600" h="28575">
                <a:moveTo>
                  <a:pt x="0" y="-47625"/>
                </a:moveTo>
                <a:lnTo>
                  <a:pt x="1911" y="-30669"/>
                </a:lnTo>
                <a:lnTo>
                  <a:pt x="7547" y="-14564"/>
                </a:lnTo>
                <a:lnTo>
                  <a:pt x="16625" y="-116"/>
                </a:lnTo>
                <a:lnTo>
                  <a:pt x="28691" y="11950"/>
                </a:lnTo>
                <a:lnTo>
                  <a:pt x="43139" y="21028"/>
                </a:lnTo>
                <a:lnTo>
                  <a:pt x="59244" y="26664"/>
                </a:lnTo>
                <a:lnTo>
                  <a:pt x="76200" y="28575"/>
                </a:lnTo>
                <a:lnTo>
                  <a:pt x="533400" y="28575"/>
                </a:lnTo>
                <a:lnTo>
                  <a:pt x="550356" y="26664"/>
                </a:lnTo>
                <a:lnTo>
                  <a:pt x="566461" y="21028"/>
                </a:lnTo>
                <a:lnTo>
                  <a:pt x="580909" y="11950"/>
                </a:lnTo>
                <a:lnTo>
                  <a:pt x="592975" y="-116"/>
                </a:lnTo>
                <a:lnTo>
                  <a:pt x="602053" y="-14564"/>
                </a:lnTo>
                <a:lnTo>
                  <a:pt x="607689" y="-30669"/>
                </a:lnTo>
                <a:lnTo>
                  <a:pt x="609600" y="-47625"/>
                </a:lnTo>
                <a:lnTo>
                  <a:pt x="607689" y="-39147"/>
                </a:lnTo>
                <a:lnTo>
                  <a:pt x="602053" y="-31095"/>
                </a:lnTo>
                <a:lnTo>
                  <a:pt x="592975" y="-23871"/>
                </a:lnTo>
                <a:lnTo>
                  <a:pt x="580909" y="-17838"/>
                </a:lnTo>
                <a:lnTo>
                  <a:pt x="566461" y="-13299"/>
                </a:lnTo>
                <a:lnTo>
                  <a:pt x="550356" y="-10481"/>
                </a:lnTo>
                <a:lnTo>
                  <a:pt x="533400" y="-9525"/>
                </a:lnTo>
                <a:lnTo>
                  <a:pt x="76200" y="-9525"/>
                </a:lnTo>
                <a:lnTo>
                  <a:pt x="59244" y="-10481"/>
                </a:lnTo>
                <a:lnTo>
                  <a:pt x="43139" y="-13299"/>
                </a:lnTo>
                <a:lnTo>
                  <a:pt x="28691" y="-17838"/>
                </a:lnTo>
                <a:lnTo>
                  <a:pt x="16625" y="-23871"/>
                </a:lnTo>
                <a:lnTo>
                  <a:pt x="7547" y="-31095"/>
                </a:lnTo>
                <a:lnTo>
                  <a:pt x="1911" y="-39147"/>
                </a:lnTo>
                <a:lnTo>
                  <a:pt x="0" y="-47625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2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4543425"/>
            <a:ext cx="609600" cy="28575"/>
          </a:xfrm>
          <a:custGeom xmlns:a="http://schemas.openxmlformats.org/drawingml/2006/main">
            <a:avLst/>
            <a:pathLst>
              <a:path w="609600" h="28575">
                <a:moveTo>
                  <a:pt x="0" y="-47625"/>
                </a:moveTo>
                <a:lnTo>
                  <a:pt x="1911" y="-30669"/>
                </a:lnTo>
                <a:lnTo>
                  <a:pt x="7547" y="-14564"/>
                </a:lnTo>
                <a:lnTo>
                  <a:pt x="16625" y="-116"/>
                </a:lnTo>
                <a:lnTo>
                  <a:pt x="28691" y="11950"/>
                </a:lnTo>
                <a:lnTo>
                  <a:pt x="43139" y="21028"/>
                </a:lnTo>
                <a:lnTo>
                  <a:pt x="59244" y="26664"/>
                </a:lnTo>
                <a:lnTo>
                  <a:pt x="76200" y="28575"/>
                </a:lnTo>
                <a:lnTo>
                  <a:pt x="533400" y="28575"/>
                </a:lnTo>
                <a:lnTo>
                  <a:pt x="550356" y="26664"/>
                </a:lnTo>
                <a:lnTo>
                  <a:pt x="566461" y="21028"/>
                </a:lnTo>
                <a:lnTo>
                  <a:pt x="580909" y="11950"/>
                </a:lnTo>
                <a:lnTo>
                  <a:pt x="592975" y="-116"/>
                </a:lnTo>
                <a:lnTo>
                  <a:pt x="602053" y="-14564"/>
                </a:lnTo>
                <a:lnTo>
                  <a:pt x="607689" y="-30669"/>
                </a:lnTo>
                <a:lnTo>
                  <a:pt x="609600" y="-47625"/>
                </a:lnTo>
                <a:lnTo>
                  <a:pt x="607689" y="-39147"/>
                </a:lnTo>
                <a:lnTo>
                  <a:pt x="602053" y="-31095"/>
                </a:lnTo>
                <a:lnTo>
                  <a:pt x="592975" y="-23871"/>
                </a:lnTo>
                <a:lnTo>
                  <a:pt x="580909" y="-17838"/>
                </a:lnTo>
                <a:lnTo>
                  <a:pt x="566461" y="-13299"/>
                </a:lnTo>
                <a:lnTo>
                  <a:pt x="550356" y="-10481"/>
                </a:lnTo>
                <a:lnTo>
                  <a:pt x="533400" y="-9525"/>
                </a:lnTo>
                <a:lnTo>
                  <a:pt x="76200" y="-9525"/>
                </a:lnTo>
                <a:lnTo>
                  <a:pt x="59244" y="-10481"/>
                </a:lnTo>
                <a:lnTo>
                  <a:pt x="43139" y="-13299"/>
                </a:lnTo>
                <a:lnTo>
                  <a:pt x="28691" y="-17838"/>
                </a:lnTo>
                <a:lnTo>
                  <a:pt x="16625" y="-23871"/>
                </a:lnTo>
                <a:lnTo>
                  <a:pt x="7547" y="-31095"/>
                </a:lnTo>
                <a:lnTo>
                  <a:pt x="1911" y="-39147"/>
                </a:lnTo>
                <a:lnTo>
                  <a:pt x="0" y="-47625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6169025"/>
            <a:ext cx="609600" cy="28575"/>
          </a:xfrm>
          <a:custGeom xmlns:a="http://schemas.openxmlformats.org/drawingml/2006/main">
            <a:avLst/>
            <a:pathLst>
              <a:path w="609600" h="28575">
                <a:moveTo>
                  <a:pt x="0" y="-47625"/>
                </a:moveTo>
                <a:lnTo>
                  <a:pt x="1911" y="-30669"/>
                </a:lnTo>
                <a:lnTo>
                  <a:pt x="7547" y="-14564"/>
                </a:lnTo>
                <a:lnTo>
                  <a:pt x="16625" y="-116"/>
                </a:lnTo>
                <a:lnTo>
                  <a:pt x="28691" y="11950"/>
                </a:lnTo>
                <a:lnTo>
                  <a:pt x="43139" y="21028"/>
                </a:lnTo>
                <a:lnTo>
                  <a:pt x="59244" y="26664"/>
                </a:lnTo>
                <a:lnTo>
                  <a:pt x="76200" y="28575"/>
                </a:lnTo>
                <a:lnTo>
                  <a:pt x="533400" y="28575"/>
                </a:lnTo>
                <a:lnTo>
                  <a:pt x="550356" y="26664"/>
                </a:lnTo>
                <a:lnTo>
                  <a:pt x="566461" y="21028"/>
                </a:lnTo>
                <a:lnTo>
                  <a:pt x="580909" y="11950"/>
                </a:lnTo>
                <a:lnTo>
                  <a:pt x="592975" y="-116"/>
                </a:lnTo>
                <a:lnTo>
                  <a:pt x="602053" y="-14564"/>
                </a:lnTo>
                <a:lnTo>
                  <a:pt x="607689" y="-30669"/>
                </a:lnTo>
                <a:lnTo>
                  <a:pt x="609600" y="-47625"/>
                </a:lnTo>
                <a:lnTo>
                  <a:pt x="607689" y="-39147"/>
                </a:lnTo>
                <a:lnTo>
                  <a:pt x="602053" y="-31095"/>
                </a:lnTo>
                <a:lnTo>
                  <a:pt x="592975" y="-23871"/>
                </a:lnTo>
                <a:lnTo>
                  <a:pt x="580909" y="-17838"/>
                </a:lnTo>
                <a:lnTo>
                  <a:pt x="566461" y="-13299"/>
                </a:lnTo>
                <a:lnTo>
                  <a:pt x="550356" y="-10481"/>
                </a:lnTo>
                <a:lnTo>
                  <a:pt x="533400" y="-9525"/>
                </a:lnTo>
                <a:lnTo>
                  <a:pt x="76200" y="-9525"/>
                </a:lnTo>
                <a:lnTo>
                  <a:pt x="59244" y="-10481"/>
                </a:lnTo>
                <a:lnTo>
                  <a:pt x="43139" y="-13299"/>
                </a:lnTo>
                <a:lnTo>
                  <a:pt x="28691" y="-17838"/>
                </a:lnTo>
                <a:lnTo>
                  <a:pt x="16625" y="-23871"/>
                </a:lnTo>
                <a:lnTo>
                  <a:pt x="7547" y="-31095"/>
                </a:lnTo>
                <a:lnTo>
                  <a:pt x="1911" y="-39147"/>
                </a:lnTo>
                <a:lnTo>
                  <a:pt x="0" y="-47625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4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7794625"/>
            <a:ext cx="609600" cy="28575"/>
          </a:xfrm>
          <a:custGeom xmlns:a="http://schemas.openxmlformats.org/drawingml/2006/main">
            <a:avLst/>
            <a:pathLst>
              <a:path w="609600" h="28575">
                <a:moveTo>
                  <a:pt x="0" y="-47625"/>
                </a:moveTo>
                <a:lnTo>
                  <a:pt x="1911" y="-30669"/>
                </a:lnTo>
                <a:lnTo>
                  <a:pt x="7547" y="-14564"/>
                </a:lnTo>
                <a:lnTo>
                  <a:pt x="16625" y="-116"/>
                </a:lnTo>
                <a:lnTo>
                  <a:pt x="28691" y="11950"/>
                </a:lnTo>
                <a:lnTo>
                  <a:pt x="43139" y="21028"/>
                </a:lnTo>
                <a:lnTo>
                  <a:pt x="59244" y="26664"/>
                </a:lnTo>
                <a:lnTo>
                  <a:pt x="76200" y="28575"/>
                </a:lnTo>
                <a:lnTo>
                  <a:pt x="533400" y="28575"/>
                </a:lnTo>
                <a:lnTo>
                  <a:pt x="550356" y="26664"/>
                </a:lnTo>
                <a:lnTo>
                  <a:pt x="566461" y="21028"/>
                </a:lnTo>
                <a:lnTo>
                  <a:pt x="580909" y="11950"/>
                </a:lnTo>
                <a:lnTo>
                  <a:pt x="592975" y="-116"/>
                </a:lnTo>
                <a:lnTo>
                  <a:pt x="602053" y="-14564"/>
                </a:lnTo>
                <a:lnTo>
                  <a:pt x="607689" y="-30669"/>
                </a:lnTo>
                <a:lnTo>
                  <a:pt x="609600" y="-47625"/>
                </a:lnTo>
                <a:lnTo>
                  <a:pt x="607689" y="-39147"/>
                </a:lnTo>
                <a:lnTo>
                  <a:pt x="602053" y="-31095"/>
                </a:lnTo>
                <a:lnTo>
                  <a:pt x="592975" y="-23871"/>
                </a:lnTo>
                <a:lnTo>
                  <a:pt x="580909" y="-17838"/>
                </a:lnTo>
                <a:lnTo>
                  <a:pt x="566461" y="-13299"/>
                </a:lnTo>
                <a:lnTo>
                  <a:pt x="550356" y="-10481"/>
                </a:lnTo>
                <a:lnTo>
                  <a:pt x="533400" y="-9525"/>
                </a:lnTo>
                <a:lnTo>
                  <a:pt x="76200" y="-9525"/>
                </a:lnTo>
                <a:lnTo>
                  <a:pt x="59244" y="-10481"/>
                </a:lnTo>
                <a:lnTo>
                  <a:pt x="43139" y="-13299"/>
                </a:lnTo>
                <a:lnTo>
                  <a:pt x="28691" y="-17838"/>
                </a:lnTo>
                <a:lnTo>
                  <a:pt x="16625" y="-23871"/>
                </a:lnTo>
                <a:lnTo>
                  <a:pt x="7547" y="-31095"/>
                </a:lnTo>
                <a:lnTo>
                  <a:pt x="1911" y="-39147"/>
                </a:lnTo>
                <a:lnTo>
                  <a:pt x="0" y="-47625"/>
                </a:lnTo>
                <a:close/>
              </a:path>
            </a:pathLst>
          </a:cu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3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4bf6d55c2684e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02000" y="3302000"/>
            <a:ext cx="3556000" cy="3556000"/>
          </a:xfrm>
          <a:prstGeom xmlns:a="http://schemas.openxmlformats.org/drawingml/2006/main" prst="rect">
            <a:avLst/>
          </a:prstGeom>
        </p:spPr>
      </p:pic>
      <p:sp>
        <p:nvSpPr>
          <p:cNvPr id="8040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99">
            <a:off x="3520909" y="3098431"/>
            <a:ext cx="6032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59999">
            <a:off x="3723665" y="3302088"/>
            <a:ext cx="591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000000"/>
                </a:solidFill>
                <a:latin typeface="Noto Sans SC"/>
                <a:ea typeface="Noto Sans SC"/>
              </a:rPr>
              <a:t>这个全新的 AI 助手界面在视觉设计上有什么特别之处？</a:t>
            </a:r>
            <a:endParaRPr lang="zh-CN"/>
          </a:p>
        </p:txBody>
      </p:sp>
      <p:sp>
        <p:nvSpPr>
          <p:cNvPr id="8040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999">
            <a:off x="618192" y="4018876"/>
            <a:ext cx="76073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999">
            <a:off x="874342" y="4189145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4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1359601f32e40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66417" y="4303445"/>
            <a:ext cx="228600" cy="177800"/>
          </a:xfrm>
          <a:prstGeom xmlns:a="http://schemas.openxmlformats.org/drawingml/2006/main" prst="rect">
            <a:avLst/>
          </a:prstGeom>
        </p:spPr>
      </p:pic>
      <p:sp>
        <p:nvSpPr>
          <p:cNvPr id="4010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59999">
            <a:off x="1431391" y="4227398"/>
            <a:ext cx="65913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000000"/>
                </a:solidFill>
                <a:latin typeface="Noto Sans SC"/>
                <a:ea typeface="Noto Sans SC"/>
              </a:rPr>
              <a:t>界面采用了带厚度的 3D 卡片设计。我的气泡会轻微向右旋转，您的气泡向左旋转，配合柔和阴影模拟真实的对话场景。</a:t>
            </a:r>
            <a:endParaRPr lang="zh-CN"/>
          </a:p>
        </p:txBody>
      </p:sp>
      <p:sp>
        <p:nvSpPr>
          <p:cNvPr id="8040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99">
            <a:off x="2686342" y="5216105"/>
            <a:ext cx="6858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59999">
            <a:off x="2889097" y="541975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000000"/>
                </a:solidFill>
                <a:latin typeface="Noto Sans SC"/>
                <a:ea typeface="Noto Sans SC"/>
              </a:rPr>
              <a:t>看起来很有立体感。背景里那个若隐若现的金色模型代表什么？</a:t>
            </a:r>
            <a:endParaRPr lang="zh-CN"/>
          </a:p>
        </p:txBody>
      </p:sp>
      <p:sp>
        <p:nvSpPr>
          <p:cNvPr id="8040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999">
            <a:off x="618192" y="6129261"/>
            <a:ext cx="7607300" cy="1054100"/>
          </a:xfrm>
          <a:prstGeom xmlns:a="http://schemas.openxmlformats.org/drawingml/2006/main" prst="roundRect">
            <a:avLst>
              <a:gd name="adj" fmla="val 144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999">
            <a:off x="874342" y="629953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4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23f5d09f75644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66417" y="6413830"/>
            <a:ext cx="228600" cy="177800"/>
          </a:xfrm>
          <a:prstGeom xmlns:a="http://schemas.openxmlformats.org/drawingml/2006/main" prst="rect">
            <a:avLst/>
          </a:prstGeom>
        </p:spPr>
      </p:pic>
      <p:sp>
        <p:nvSpPr>
          <p:cNvPr id="4010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59999">
            <a:off x="1431391" y="6337782"/>
            <a:ext cx="65913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000000"/>
                </a:solidFill>
                <a:latin typeface="Noto Sans SC"/>
                <a:ea typeface="Noto Sans SC"/>
              </a:rPr>
              <a:t>那是一个抽象的 3D 大脑模型，采用金色线框与半透明材质，象征着 AI 的智能核心，营造科技感与智能氛围。</a:t>
            </a:r>
            <a:endParaRPr lang="zh-CN"/>
          </a:p>
        </p:txBody>
      </p:sp>
      <p:sp>
        <p:nvSpPr>
          <p:cNvPr id="69265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309" y="3098431"/>
            <a:ext cx="38100" cy="762000"/>
          </a:xfrm>
          <a:custGeom xmlns:a="http://schemas.openxmlformats.org/drawingml/2006/main">
            <a:avLst/>
            <a:pathLst>
              <a:path w="38100" h="762000">
                <a:moveTo>
                  <a:pt x="-76200" y="0"/>
                </a:moveTo>
                <a:lnTo>
                  <a:pt x="-50766" y="2866"/>
                </a:lnTo>
                <a:lnTo>
                  <a:pt x="-26608" y="11320"/>
                </a:lnTo>
                <a:lnTo>
                  <a:pt x="-4936" y="24937"/>
                </a:lnTo>
                <a:lnTo>
                  <a:pt x="13163" y="43036"/>
                </a:lnTo>
                <a:lnTo>
                  <a:pt x="26780" y="64708"/>
                </a:lnTo>
                <a:lnTo>
                  <a:pt x="35234" y="88866"/>
                </a:lnTo>
                <a:lnTo>
                  <a:pt x="38100" y="114300"/>
                </a:lnTo>
                <a:lnTo>
                  <a:pt x="38100" y="647700"/>
                </a:lnTo>
                <a:lnTo>
                  <a:pt x="35234" y="673134"/>
                </a:lnTo>
                <a:lnTo>
                  <a:pt x="26780" y="697292"/>
                </a:lnTo>
                <a:lnTo>
                  <a:pt x="13163" y="718964"/>
                </a:lnTo>
                <a:lnTo>
                  <a:pt x="-4936" y="737063"/>
                </a:lnTo>
                <a:lnTo>
                  <a:pt x="-26608" y="750680"/>
                </a:lnTo>
                <a:lnTo>
                  <a:pt x="-50766" y="759134"/>
                </a:lnTo>
                <a:lnTo>
                  <a:pt x="-76200" y="762000"/>
                </a:lnTo>
                <a:lnTo>
                  <a:pt x="-63483" y="759134"/>
                </a:lnTo>
                <a:lnTo>
                  <a:pt x="-51404" y="750680"/>
                </a:lnTo>
                <a:lnTo>
                  <a:pt x="-40568" y="737063"/>
                </a:lnTo>
                <a:lnTo>
                  <a:pt x="-31519" y="718964"/>
                </a:lnTo>
                <a:lnTo>
                  <a:pt x="-24710" y="697292"/>
                </a:lnTo>
                <a:lnTo>
                  <a:pt x="-20483" y="673134"/>
                </a:lnTo>
                <a:lnTo>
                  <a:pt x="-19050" y="647700"/>
                </a:lnTo>
                <a:lnTo>
                  <a:pt x="-19050" y="114300"/>
                </a:lnTo>
                <a:lnTo>
                  <a:pt x="-20483" y="88866"/>
                </a:lnTo>
                <a:lnTo>
                  <a:pt x="-24710" y="64708"/>
                </a:lnTo>
                <a:lnTo>
                  <a:pt x="-31519" y="43036"/>
                </a:lnTo>
                <a:lnTo>
                  <a:pt x="-40568" y="24937"/>
                </a:lnTo>
                <a:lnTo>
                  <a:pt x="-51404" y="11320"/>
                </a:lnTo>
                <a:lnTo>
                  <a:pt x="-63483" y="2866"/>
                </a:lnTo>
                <a:lnTo>
                  <a:pt x="-762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6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92" y="5034876"/>
            <a:ext cx="7607300" cy="38100"/>
          </a:xfrm>
          <a:custGeom xmlns:a="http://schemas.openxmlformats.org/drawingml/2006/main">
            <a:avLst/>
            <a:pathLst>
              <a:path w="76073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7493000" y="38100"/>
                </a:lnTo>
                <a:lnTo>
                  <a:pt x="7518434" y="35234"/>
                </a:lnTo>
                <a:lnTo>
                  <a:pt x="7542592" y="26780"/>
                </a:lnTo>
                <a:lnTo>
                  <a:pt x="7564264" y="13163"/>
                </a:lnTo>
                <a:lnTo>
                  <a:pt x="7582363" y="-4936"/>
                </a:lnTo>
                <a:lnTo>
                  <a:pt x="7595980" y="-26608"/>
                </a:lnTo>
                <a:lnTo>
                  <a:pt x="7604434" y="-50766"/>
                </a:lnTo>
                <a:lnTo>
                  <a:pt x="7607300" y="-76200"/>
                </a:lnTo>
                <a:lnTo>
                  <a:pt x="7604434" y="-63483"/>
                </a:lnTo>
                <a:lnTo>
                  <a:pt x="7595980" y="-51404"/>
                </a:lnTo>
                <a:lnTo>
                  <a:pt x="7582363" y="-40568"/>
                </a:lnTo>
                <a:lnTo>
                  <a:pt x="7564264" y="-31519"/>
                </a:lnTo>
                <a:lnTo>
                  <a:pt x="7542592" y="-24710"/>
                </a:lnTo>
                <a:lnTo>
                  <a:pt x="7518434" y="-20483"/>
                </a:lnTo>
                <a:lnTo>
                  <a:pt x="74930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242" y="5216105"/>
            <a:ext cx="38100" cy="762000"/>
          </a:xfrm>
          <a:custGeom xmlns:a="http://schemas.openxmlformats.org/drawingml/2006/main">
            <a:avLst/>
            <a:pathLst>
              <a:path w="38100" h="762000">
                <a:moveTo>
                  <a:pt x="-76200" y="0"/>
                </a:moveTo>
                <a:lnTo>
                  <a:pt x="-50766" y="2866"/>
                </a:lnTo>
                <a:lnTo>
                  <a:pt x="-26608" y="11320"/>
                </a:lnTo>
                <a:lnTo>
                  <a:pt x="-4936" y="24937"/>
                </a:lnTo>
                <a:lnTo>
                  <a:pt x="13163" y="43036"/>
                </a:lnTo>
                <a:lnTo>
                  <a:pt x="26780" y="64708"/>
                </a:lnTo>
                <a:lnTo>
                  <a:pt x="35234" y="88866"/>
                </a:lnTo>
                <a:lnTo>
                  <a:pt x="38100" y="114300"/>
                </a:lnTo>
                <a:lnTo>
                  <a:pt x="38100" y="647700"/>
                </a:lnTo>
                <a:lnTo>
                  <a:pt x="35234" y="673134"/>
                </a:lnTo>
                <a:lnTo>
                  <a:pt x="26780" y="697292"/>
                </a:lnTo>
                <a:lnTo>
                  <a:pt x="13163" y="718964"/>
                </a:lnTo>
                <a:lnTo>
                  <a:pt x="-4936" y="737063"/>
                </a:lnTo>
                <a:lnTo>
                  <a:pt x="-26608" y="750680"/>
                </a:lnTo>
                <a:lnTo>
                  <a:pt x="-50766" y="759134"/>
                </a:lnTo>
                <a:lnTo>
                  <a:pt x="-76200" y="762000"/>
                </a:lnTo>
                <a:lnTo>
                  <a:pt x="-63483" y="759134"/>
                </a:lnTo>
                <a:lnTo>
                  <a:pt x="-51404" y="750680"/>
                </a:lnTo>
                <a:lnTo>
                  <a:pt x="-40568" y="737063"/>
                </a:lnTo>
                <a:lnTo>
                  <a:pt x="-31519" y="718964"/>
                </a:lnTo>
                <a:lnTo>
                  <a:pt x="-24710" y="697292"/>
                </a:lnTo>
                <a:lnTo>
                  <a:pt x="-20483" y="673134"/>
                </a:lnTo>
                <a:lnTo>
                  <a:pt x="-19050" y="647700"/>
                </a:lnTo>
                <a:lnTo>
                  <a:pt x="-19050" y="114300"/>
                </a:lnTo>
                <a:lnTo>
                  <a:pt x="-20483" y="88866"/>
                </a:lnTo>
                <a:lnTo>
                  <a:pt x="-24710" y="64708"/>
                </a:lnTo>
                <a:lnTo>
                  <a:pt x="-31519" y="43036"/>
                </a:lnTo>
                <a:lnTo>
                  <a:pt x="-40568" y="24937"/>
                </a:lnTo>
                <a:lnTo>
                  <a:pt x="-51404" y="11320"/>
                </a:lnTo>
                <a:lnTo>
                  <a:pt x="-63483" y="2866"/>
                </a:lnTo>
                <a:lnTo>
                  <a:pt x="-762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8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92" y="7145261"/>
            <a:ext cx="7607300" cy="38100"/>
          </a:xfrm>
          <a:custGeom xmlns:a="http://schemas.openxmlformats.org/drawingml/2006/main">
            <a:avLst/>
            <a:pathLst>
              <a:path w="76073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7493000" y="38100"/>
                </a:lnTo>
                <a:lnTo>
                  <a:pt x="7518434" y="35234"/>
                </a:lnTo>
                <a:lnTo>
                  <a:pt x="7542592" y="26780"/>
                </a:lnTo>
                <a:lnTo>
                  <a:pt x="7564264" y="13163"/>
                </a:lnTo>
                <a:lnTo>
                  <a:pt x="7582363" y="-4936"/>
                </a:lnTo>
                <a:lnTo>
                  <a:pt x="7595980" y="-26608"/>
                </a:lnTo>
                <a:lnTo>
                  <a:pt x="7604434" y="-50766"/>
                </a:lnTo>
                <a:lnTo>
                  <a:pt x="7607300" y="-76200"/>
                </a:lnTo>
                <a:lnTo>
                  <a:pt x="7604434" y="-63483"/>
                </a:lnTo>
                <a:lnTo>
                  <a:pt x="7595980" y="-51404"/>
                </a:lnTo>
                <a:lnTo>
                  <a:pt x="7582363" y="-40568"/>
                </a:lnTo>
                <a:lnTo>
                  <a:pt x="7564264" y="-31519"/>
                </a:lnTo>
                <a:lnTo>
                  <a:pt x="7542592" y="-24710"/>
                </a:lnTo>
                <a:lnTo>
                  <a:pt x="7518434" y="-20483"/>
                </a:lnTo>
                <a:lnTo>
                  <a:pt x="74930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69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909" y="3822331"/>
            <a:ext cx="6032500" cy="38100"/>
          </a:xfrm>
          <a:custGeom xmlns:a="http://schemas.openxmlformats.org/drawingml/2006/main">
            <a:avLst/>
            <a:pathLst>
              <a:path w="60325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5918200" y="38100"/>
                </a:lnTo>
                <a:lnTo>
                  <a:pt x="5943634" y="35234"/>
                </a:lnTo>
                <a:lnTo>
                  <a:pt x="5967792" y="26780"/>
                </a:lnTo>
                <a:lnTo>
                  <a:pt x="5989464" y="13163"/>
                </a:lnTo>
                <a:lnTo>
                  <a:pt x="6007563" y="-4936"/>
                </a:lnTo>
                <a:lnTo>
                  <a:pt x="6021180" y="-26608"/>
                </a:lnTo>
                <a:lnTo>
                  <a:pt x="6029634" y="-50766"/>
                </a:lnTo>
                <a:lnTo>
                  <a:pt x="6032500" y="-76200"/>
                </a:lnTo>
                <a:lnTo>
                  <a:pt x="6029634" y="-63483"/>
                </a:lnTo>
                <a:lnTo>
                  <a:pt x="6021180" y="-51404"/>
                </a:lnTo>
                <a:lnTo>
                  <a:pt x="6007563" y="-40568"/>
                </a:lnTo>
                <a:lnTo>
                  <a:pt x="5989464" y="-31519"/>
                </a:lnTo>
                <a:lnTo>
                  <a:pt x="5967792" y="-24710"/>
                </a:lnTo>
                <a:lnTo>
                  <a:pt x="5943634" y="-20483"/>
                </a:lnTo>
                <a:lnTo>
                  <a:pt x="59182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0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92" y="4018876"/>
            <a:ext cx="38100" cy="1054100"/>
          </a:xfrm>
          <a:custGeom xmlns:a="http://schemas.openxmlformats.org/drawingml/2006/main">
            <a:avLst/>
            <a:pathLst>
              <a:path w="38100" h="10541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939800"/>
                </a:lnTo>
                <a:lnTo>
                  <a:pt x="2866" y="965234"/>
                </a:lnTo>
                <a:lnTo>
                  <a:pt x="11320" y="989392"/>
                </a:lnTo>
                <a:lnTo>
                  <a:pt x="24937" y="1011064"/>
                </a:lnTo>
                <a:lnTo>
                  <a:pt x="43036" y="1029163"/>
                </a:lnTo>
                <a:lnTo>
                  <a:pt x="64708" y="1042780"/>
                </a:lnTo>
                <a:lnTo>
                  <a:pt x="88866" y="1051234"/>
                </a:lnTo>
                <a:lnTo>
                  <a:pt x="114300" y="1054100"/>
                </a:lnTo>
                <a:lnTo>
                  <a:pt x="101583" y="1051234"/>
                </a:lnTo>
                <a:lnTo>
                  <a:pt x="89504" y="1042780"/>
                </a:lnTo>
                <a:lnTo>
                  <a:pt x="78668" y="1029163"/>
                </a:lnTo>
                <a:lnTo>
                  <a:pt x="69619" y="1011064"/>
                </a:lnTo>
                <a:lnTo>
                  <a:pt x="62810" y="989392"/>
                </a:lnTo>
                <a:lnTo>
                  <a:pt x="58583" y="965234"/>
                </a:lnTo>
                <a:lnTo>
                  <a:pt x="57150" y="9398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1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342" y="5940005"/>
            <a:ext cx="6858000" cy="38100"/>
          </a:xfrm>
          <a:custGeom xmlns:a="http://schemas.openxmlformats.org/drawingml/2006/main">
            <a:avLst/>
            <a:pathLst>
              <a:path w="68580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6743700" y="38100"/>
                </a:lnTo>
                <a:lnTo>
                  <a:pt x="6769134" y="35234"/>
                </a:lnTo>
                <a:lnTo>
                  <a:pt x="6793292" y="26780"/>
                </a:lnTo>
                <a:lnTo>
                  <a:pt x="6814964" y="13163"/>
                </a:lnTo>
                <a:lnTo>
                  <a:pt x="6833063" y="-4936"/>
                </a:lnTo>
                <a:lnTo>
                  <a:pt x="6846680" y="-26608"/>
                </a:lnTo>
                <a:lnTo>
                  <a:pt x="6855134" y="-50766"/>
                </a:lnTo>
                <a:lnTo>
                  <a:pt x="6858000" y="-76200"/>
                </a:lnTo>
                <a:lnTo>
                  <a:pt x="6855134" y="-63483"/>
                </a:lnTo>
                <a:lnTo>
                  <a:pt x="6846680" y="-51404"/>
                </a:lnTo>
                <a:lnTo>
                  <a:pt x="6833063" y="-40568"/>
                </a:lnTo>
                <a:lnTo>
                  <a:pt x="6814964" y="-31519"/>
                </a:lnTo>
                <a:lnTo>
                  <a:pt x="6793292" y="-24710"/>
                </a:lnTo>
                <a:lnTo>
                  <a:pt x="6769134" y="-20483"/>
                </a:lnTo>
                <a:lnTo>
                  <a:pt x="67437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2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92" y="6129261"/>
            <a:ext cx="38100" cy="1054100"/>
          </a:xfrm>
          <a:custGeom xmlns:a="http://schemas.openxmlformats.org/drawingml/2006/main">
            <a:avLst/>
            <a:pathLst>
              <a:path w="38100" h="10541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939800"/>
                </a:lnTo>
                <a:lnTo>
                  <a:pt x="2866" y="965234"/>
                </a:lnTo>
                <a:lnTo>
                  <a:pt x="11320" y="989392"/>
                </a:lnTo>
                <a:lnTo>
                  <a:pt x="24937" y="1011064"/>
                </a:lnTo>
                <a:lnTo>
                  <a:pt x="43036" y="1029163"/>
                </a:lnTo>
                <a:lnTo>
                  <a:pt x="64708" y="1042780"/>
                </a:lnTo>
                <a:lnTo>
                  <a:pt x="88866" y="1051234"/>
                </a:lnTo>
                <a:lnTo>
                  <a:pt x="114300" y="1054100"/>
                </a:lnTo>
                <a:lnTo>
                  <a:pt x="101583" y="1051234"/>
                </a:lnTo>
                <a:lnTo>
                  <a:pt x="89504" y="1042780"/>
                </a:lnTo>
                <a:lnTo>
                  <a:pt x="78668" y="1029163"/>
                </a:lnTo>
                <a:lnTo>
                  <a:pt x="69619" y="1011064"/>
                </a:lnTo>
                <a:lnTo>
                  <a:pt x="62810" y="989392"/>
                </a:lnTo>
                <a:lnTo>
                  <a:pt x="58583" y="965234"/>
                </a:lnTo>
                <a:lnTo>
                  <a:pt x="57150" y="9398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3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对话界面</a:t>
            </a:r>
            <a:endParaRPr lang="zh-CN"/>
          </a:p>
        </p:txBody>
      </p:sp>
      <p:sp>
        <p:nvSpPr>
          <p:cNvPr id="8040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0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5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320b09e77e64d0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0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5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04d7346047040b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0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0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09</a:t>
            </a:r>
            <a:endParaRPr lang="zh-CN"/>
          </a:p>
        </p:txBody>
      </p:sp>
      <p:sp>
        <p:nvSpPr>
          <p:cNvPr id="8040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09537" y="4679950"/>
            <a:ext cx="3441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前端创新设计</a:t>
            </a:r>
            <a:endParaRPr lang="zh-CN"/>
          </a:p>
        </p:txBody>
      </p:sp>
      <p:sp>
        <p:nvSpPr>
          <p:cNvPr id="4010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05600" y="5683250"/>
            <a:ext cx="284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3D方块与折纸代码窗演示</a:t>
            </a:r>
            <a:endParaRPr lang="zh-CN"/>
          </a:p>
        </p:txBody>
      </p:sp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0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6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eb1b27fb6834d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0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06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2315c1470d845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0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0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074265"/>
            <a:ext cx="609600" cy="50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2328265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000000"/>
                </a:solidFill>
                <a:latin typeface="Noto Sans SC"/>
                <a:ea typeface="Noto Sans SC"/>
              </a:rPr>
              <a:t>主题系统</a:t>
            </a:r>
            <a:endParaRPr lang="zh-CN"/>
          </a:p>
        </p:txBody>
      </p:sp>
      <p:sp>
        <p:nvSpPr>
          <p:cNvPr id="4010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2861665"/>
            <a:ext cx="2540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8个色块等距排列，侧面颜色略深，上方浮动显示主题名称，整体可旋转展示。</a:t>
            </a:r>
            <a:endParaRPr lang="zh-CN"/>
          </a:p>
        </p:txBody>
      </p:sp>
      <p:sp>
        <p:nvSpPr>
          <p:cNvPr id="8040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657600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1</a:t>
            </a:r>
            <a:endParaRPr lang="zh-CN"/>
          </a:p>
        </p:txBody>
      </p:sp>
      <p:sp>
        <p:nvSpPr>
          <p:cNvPr id="8040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53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53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158"/>
          </a:solidFill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53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32"/>
          </a:solidFill>
          <a:ln xmlns:a="http://schemas.openxmlformats.org/drawingml/2006/main" w="12700">
            <a:solidFill>
              <a:srgbClr val="B38D2A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3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D2A"/>
          </a:solidFill>
          <a:ln xmlns:a="http://schemas.openxmlformats.org/drawingml/2006/main" w="12700">
            <a:solidFill>
              <a:srgbClr val="8C6D1D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190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34190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2</a:t>
            </a:r>
            <a:endParaRPr lang="zh-CN"/>
          </a:p>
        </p:txBody>
      </p:sp>
      <p:sp>
        <p:nvSpPr>
          <p:cNvPr id="8040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43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43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5"/>
          </a:solidFill>
          <a:ln xmlns:a="http://schemas.openxmlformats.org/drawingml/2006/main" w="12700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43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C"/>
          </a:solidFill>
          <a:ln xmlns:a="http://schemas.openxmlformats.org/drawingml/2006/main" w="12700">
            <a:solidFill>
              <a:srgbClr val="A8A8B0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043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8B0"/>
          </a:solidFill>
          <a:ln xmlns:a="http://schemas.openxmlformats.org/drawingml/2006/main" w="12700">
            <a:solidFill>
              <a:srgbClr val="8E8E96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768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10768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3</a:t>
            </a:r>
            <a:endParaRPr lang="zh-CN"/>
          </a:p>
        </p:txBody>
      </p:sp>
      <p:sp>
        <p:nvSpPr>
          <p:cNvPr id="8040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021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021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73"/>
          </a:solidFill>
          <a:ln xmlns:a="http://schemas.openxmlformats.org/drawingml/2006/main" w="12700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021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F"/>
          </a:solidFill>
          <a:ln xmlns:a="http://schemas.openxmlformats.org/drawingml/2006/main" w="12700">
            <a:solidFill>
              <a:srgbClr val="333338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621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12700">
            <a:solidFill>
              <a:srgbClr val="1A1A1D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59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7359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4</a:t>
            </a:r>
            <a:endParaRPr lang="zh-CN"/>
          </a:p>
        </p:txBody>
      </p:sp>
      <p:sp>
        <p:nvSpPr>
          <p:cNvPr id="8040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612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612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6B"/>
          </a:solidFill>
          <a:ln xmlns:a="http://schemas.openxmlformats.org/drawingml/2006/main" w="12700">
            <a:solidFill>
              <a:srgbClr val="FFFFFF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612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158"/>
          </a:solidFill>
          <a:ln xmlns:a="http://schemas.openxmlformats.org/drawingml/2006/main" w="12700">
            <a:solidFill>
              <a:srgbClr val="D4A832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12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32"/>
          </a:solidFill>
          <a:ln xmlns:a="http://schemas.openxmlformats.org/drawingml/2006/main" w="12700">
            <a:solidFill>
              <a:srgbClr val="B38D2A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937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963937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5</a:t>
            </a:r>
            <a:endParaRPr lang="zh-CN"/>
          </a:p>
        </p:txBody>
      </p:sp>
      <p:sp>
        <p:nvSpPr>
          <p:cNvPr id="8040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203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203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203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803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5"/>
          </a:solidFill>
          <a:ln xmlns:a="http://schemas.openxmlformats.org/drawingml/2006/main" w="12700">
            <a:solidFill>
              <a:srgbClr val="C5C5CC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528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540528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6</a:t>
            </a:r>
            <a:endParaRPr lang="zh-CN"/>
          </a:p>
        </p:txBody>
      </p:sp>
      <p:sp>
        <p:nvSpPr>
          <p:cNvPr id="8040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781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781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8B0"/>
          </a:solidFill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781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8E96"/>
          </a:solidFill>
          <a:ln xmlns:a="http://schemas.openxmlformats.org/drawingml/2006/main" w="12700">
            <a:solidFill>
              <a:srgbClr val="6E6E73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9381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73"/>
          </a:solidFill>
          <a:ln xmlns:a="http://schemas.openxmlformats.org/drawingml/2006/main" w="12700">
            <a:solidFill>
              <a:srgbClr val="4A4A4F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0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067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117067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7</a:t>
            </a:r>
            <a:endParaRPr lang="zh-CN"/>
          </a:p>
        </p:txBody>
      </p:sp>
      <p:sp>
        <p:nvSpPr>
          <p:cNvPr id="8040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410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410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32"/>
          </a:solidFill>
          <a:ln xmlns:a="http://schemas.openxmlformats.org/drawingml/2006/main" w="12700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410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D2A"/>
          </a:solidFill>
          <a:ln xmlns:a="http://schemas.openxmlformats.org/drawingml/2006/main" w="12700">
            <a:solidFill>
              <a:srgbClr val="8C6D1D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6010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D1D"/>
          </a:solidFill>
          <a:ln xmlns:a="http://schemas.openxmlformats.org/drawingml/2006/main" w="12700">
            <a:solidFill>
              <a:srgbClr val="6B5316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646" y="2304059"/>
            <a:ext cx="749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693646" y="2304059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6E6E73"/>
                </a:solidFill>
                <a:latin typeface="Noto Sans SC"/>
                <a:ea typeface="Noto Sans SC"/>
              </a:rPr>
              <a:t>Theme 8</a:t>
            </a:r>
            <a:endParaRPr lang="zh-CN"/>
          </a:p>
        </p:txBody>
      </p:sp>
      <p:sp>
        <p:nvSpPr>
          <p:cNvPr id="8041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988" y="2875559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254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988" y="2875559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F"/>
          </a:solidFill>
          <a:ln xmlns:a="http://schemas.openxmlformats.org/drawingml/2006/main" w="12700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988" y="3485159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8"/>
          </a:solidFill>
          <a:ln xmlns:a="http://schemas.openxmlformats.org/drawingml/2006/main" w="12700">
            <a:solidFill>
              <a:srgbClr val="1A1A1D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588" y="2875559"/>
            <a:ext cx="30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D"/>
          </a:solidFill>
          <a:ln xmlns:a="http://schemas.openxmlformats.org/drawingml/2006/main" w="12700">
            <a:solidFill>
              <a:srgbClr val="000000">
                <a:alpha val="5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70018"/>
            <a:ext cx="74676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944668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944668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44668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06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689100" y="4887518"/>
            <a:ext cx="246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style.css - 3D Origami View</a:t>
            </a:r>
            <a:endParaRPr lang="zh-CN"/>
          </a:p>
        </p:txBody>
      </p:sp>
      <p:sp>
        <p:nvSpPr>
          <p:cNvPr id="8041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5491759"/>
            <a:ext cx="6096000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381000" dist="359210" dir="2700000" algn="ctr">
              <a:srgbClr val="000000">
                <a:alpha val="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85800" y="5999759"/>
            <a:ext cx="2794000" cy="1778000"/>
          </a:xfrm>
          <a:prstGeom xmlns:a="http://schemas.openxmlformats.org/drawingml/2006/main" prst="round2SameRect">
            <a:avLst>
              <a:gd name="adj1" fmla="val 5714"/>
            </a:avLst>
          </a:prstGeom>
          <a:gradFill xmlns:a="http://schemas.openxmlformats.org/drawingml/2006/main" rotWithShape="0">
            <a:gsLst>
              <a:gs pos="0">
                <a:srgbClr val="F5F5F7"/>
              </a:gs>
              <a:gs pos="100000">
                <a:srgbClr val="E1E1E5"/>
              </a:gs>
            </a:gsLst>
            <a:lin ang="2700000" scaled="1"/>
          </a:gradFill>
          <a:ln xmlns:a="http://schemas.openxmlformats.org/drawingml/2006/main" w="12700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883562" y="6507759"/>
            <a:ext cx="8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333"/>
              </a:lnSpc>
              <a:buNone/>
            </a:pPr>
            <a:r>
              <a:rPr lang="zh-CN" sz="1800" b="1">
                <a:solidFill>
                  <a:srgbClr val="6E6E73"/>
                </a:solidFill>
                <a:latin typeface="Noto Sans SC"/>
                <a:ea typeface="Noto Sans SC"/>
              </a:rPr>
              <a:t>CSS</a:t>
            </a:r>
            <a:endParaRPr lang="zh-CN"/>
          </a:p>
          <a:p xmlns:a="http://schemas.openxmlformats.org/drawingml/2006/main">
            <a:pPr algn="r">
              <a:lnSpc>
                <a:spcPct val="108333"/>
              </a:lnSpc>
              <a:buNone/>
            </a:pPr>
            <a:r>
              <a:rPr lang="zh-CN" sz="1800" b="1">
                <a:solidFill>
                  <a:srgbClr val="6E6E73"/>
                </a:solidFill>
                <a:latin typeface="Noto Sans SC"/>
                <a:ea typeface="Noto Sans SC"/>
              </a:rPr>
              <a:t>STYLES</a:t>
            </a:r>
            <a:endParaRPr lang="zh-CN"/>
          </a:p>
        </p:txBody>
      </p:sp>
      <p:sp>
        <p:nvSpPr>
          <p:cNvPr id="8041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231659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33800" y="4729759"/>
            <a:ext cx="2794000" cy="4318000"/>
          </a:xfrm>
          <a:prstGeom xmlns:a="http://schemas.openxmlformats.org/drawingml/2006/main" prst="round2SameRect">
            <a:avLst>
              <a:gd name="adj1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90500" dist="63500" dir="108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289300" y="5917209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E5C158"/>
                </a:solidFill>
                <a:latin typeface="微软雅黑"/>
                <a:ea typeface="微软雅黑"/>
              </a:rPr>
              <a:t>.theme-3d-block</a:t>
            </a:r>
            <a:endParaRPr lang="zh-CN"/>
          </a:p>
        </p:txBody>
      </p:sp>
      <p:sp>
        <p:nvSpPr>
          <p:cNvPr id="4010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991100" y="5917209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{</a:t>
            </a:r>
            <a:endParaRPr lang="zh-CN"/>
          </a:p>
        </p:txBody>
      </p:sp>
      <p:sp>
        <p:nvSpPr>
          <p:cNvPr id="4010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594100" y="6336309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transform-style:</a:t>
            </a:r>
            <a:endParaRPr lang="zh-CN"/>
          </a:p>
        </p:txBody>
      </p:sp>
      <p:sp>
        <p:nvSpPr>
          <p:cNvPr id="4010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402656" y="6336309"/>
            <a:ext cx="154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preserve-3d;</a:t>
            </a:r>
            <a:endParaRPr lang="zh-CN"/>
          </a:p>
        </p:txBody>
      </p:sp>
      <p:sp>
        <p:nvSpPr>
          <p:cNvPr id="4010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594100" y="6755409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transform:</a:t>
            </a:r>
            <a:endParaRPr lang="zh-CN"/>
          </a:p>
        </p:txBody>
      </p:sp>
      <p:sp>
        <p:nvSpPr>
          <p:cNvPr id="4010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762500" y="6755409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rotateX(60deg);</a:t>
            </a:r>
            <a:endParaRPr lang="zh-CN"/>
          </a:p>
        </p:txBody>
      </p:sp>
      <p:sp>
        <p:nvSpPr>
          <p:cNvPr id="4010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594100" y="7174509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transition:</a:t>
            </a:r>
            <a:endParaRPr lang="zh-CN"/>
          </a:p>
        </p:txBody>
      </p:sp>
      <p:sp>
        <p:nvSpPr>
          <p:cNvPr id="4010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869256" y="7174509"/>
            <a:ext cx="176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all 0.5s ease;</a:t>
            </a:r>
            <a:endParaRPr lang="zh-CN"/>
          </a:p>
        </p:txBody>
      </p:sp>
      <p:sp>
        <p:nvSpPr>
          <p:cNvPr id="4010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289300" y="7593609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}</a:t>
            </a:r>
            <a:endParaRPr lang="zh-CN"/>
          </a:p>
        </p:txBody>
      </p:sp>
      <p:sp>
        <p:nvSpPr>
          <p:cNvPr id="8041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570018"/>
            <a:ext cx="74676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4887518"/>
            <a:ext cx="406400" cy="406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f759fe9542742d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74100" y="4989118"/>
            <a:ext cx="254000" cy="203200"/>
          </a:xfrm>
          <a:prstGeom xmlns:a="http://schemas.openxmlformats.org/drawingml/2006/main" prst="rect">
            <a:avLst/>
          </a:prstGeom>
        </p:spPr>
      </p:pic>
      <p:sp>
        <p:nvSpPr>
          <p:cNvPr id="4010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56700" y="4919268"/>
            <a:ext cx="204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iframe 通信机制</a:t>
            </a:r>
            <a:endParaRPr lang="zh-CN"/>
          </a:p>
        </p:txBody>
      </p:sp>
      <p:sp>
        <p:nvSpPr>
          <p:cNvPr id="4010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597900" y="5395518"/>
            <a:ext cx="709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6E6E73"/>
                </a:solidFill>
                <a:latin typeface="Noto Sans SC"/>
                <a:ea typeface="Noto Sans SC"/>
              </a:rPr>
              <a:t>3D波浪线连接，金色数据点双向流动</a:t>
            </a:r>
            <a:endParaRPr lang="zh-CN"/>
          </a:p>
        </p:txBody>
      </p:sp>
      <p:pic>
        <p:nvPicPr>
          <p:cNvPr id="80411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6f1a419fd7049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97900" y="5865418"/>
            <a:ext cx="6832600" cy="2463800"/>
          </a:xfrm>
          <a:prstGeom xmlns:a="http://schemas.openxmlformats.org/drawingml/2006/main" prst="rect">
            <a:avLst/>
          </a:prstGeom>
        </p:spPr>
      </p:pic>
      <p:sp>
        <p:nvSpPr>
          <p:cNvPr id="8041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75959"/>
            <a:ext cx="1651000" cy="20320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381000" dist="269407" dir="27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5659"/>
            <a:ext cx="127000" cy="200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393459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2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40091fcd767422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88525" y="6571259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4010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98621" y="7206259"/>
            <a:ext cx="97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000000"/>
                </a:solidFill>
                <a:latin typeface="Noto Sans SC"/>
                <a:ea typeface="Noto Sans SC"/>
              </a:rPr>
              <a:t>Parent</a:t>
            </a:r>
            <a:endParaRPr lang="zh-CN"/>
          </a:p>
        </p:txBody>
      </p:sp>
      <p:sp>
        <p:nvSpPr>
          <p:cNvPr id="4010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73603" y="7561859"/>
            <a:ext cx="115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200">
                <a:solidFill>
                  <a:srgbClr val="6E6E73"/>
                </a:solidFill>
                <a:latin typeface="Noto Sans SC"/>
                <a:ea typeface="Noto Sans SC"/>
              </a:rPr>
              <a:t>postMessage</a:t>
            </a:r>
            <a:endParaRPr lang="zh-CN"/>
          </a:p>
        </p:txBody>
      </p:sp>
      <p:sp>
        <p:nvSpPr>
          <p:cNvPr id="8041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500" y="6075959"/>
            <a:ext cx="1651000" cy="20320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381000" dist="269407" dir="81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200" y="6215659"/>
            <a:ext cx="127000" cy="200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393459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2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f7c4282c7b543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3970000" y="6571259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0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70356" y="7206259"/>
            <a:ext cx="96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000000"/>
                </a:solidFill>
                <a:latin typeface="Noto Sans SC"/>
                <a:ea typeface="Noto Sans SC"/>
              </a:rPr>
              <a:t>iframe</a:t>
            </a:r>
            <a:endParaRPr lang="zh-CN"/>
          </a:p>
        </p:txBody>
      </p:sp>
      <p:sp>
        <p:nvSpPr>
          <p:cNvPr id="4010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612621" y="7561859"/>
            <a:ext cx="120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200">
                <a:solidFill>
                  <a:srgbClr val="6E6E73"/>
                </a:solidFill>
                <a:latin typeface="Noto Sans SC"/>
                <a:ea typeface="Noto Sans SC"/>
              </a:rPr>
              <a:t>EventListener</a:t>
            </a:r>
            <a:endParaRPr lang="zh-CN"/>
          </a:p>
        </p:txBody>
      </p:sp>
      <p:sp>
        <p:nvSpPr>
          <p:cNvPr id="8041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444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主题系统与代码窗</a:t>
            </a:r>
            <a:endParaRPr lang="zh-CN"/>
          </a:p>
        </p:txBody>
      </p:sp>
      <p:sp>
        <p:nvSpPr>
          <p:cNvPr id="8041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1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3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f9fd8fa822c4a1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1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3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bcb213cc8ea48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1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0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10</a:t>
            </a:r>
            <a:endParaRPr lang="zh-CN"/>
          </a:p>
        </p:txBody>
      </p:sp>
      <p:sp>
        <p:nvSpPr>
          <p:cNvPr id="8041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982421" y="4679950"/>
            <a:ext cx="2298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安全设计</a:t>
            </a:r>
            <a:endParaRPr lang="zh-CN"/>
          </a:p>
        </p:txBody>
      </p:sp>
      <p:sp>
        <p:nvSpPr>
          <p:cNvPr id="4010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05600" y="5683250"/>
            <a:ext cx="284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3D盾牌承载六项安全措施</a:t>
            </a:r>
            <a:endParaRPr lang="zh-CN"/>
          </a:p>
        </p:txBody>
      </p:sp>
    </p:spTree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1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4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f79343940394fc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1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4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4165740c44b4e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1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1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62000" y="2413000"/>
            <a:ext cx="533400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B0000"/>
            </a:solidFill>
            <a:prstDash val="solid"/>
            <a:round/>
          </a:ln>
          <a:effectLst xmlns:a="http://schemas.openxmlformats.org/drawingml/2006/main">
            <a:outerShdw blurRad="381000" dist="127000" dir="5400000" algn="ctr">
              <a:srgbClr val="8B0000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981972" y="2959722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235624" y="2946438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489278" y="2933141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4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843709" y="279336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8B0000"/>
                </a:solidFill>
                <a:latin typeface="Noto Sans SC"/>
                <a:ea typeface="Noto Sans SC"/>
              </a:rPr>
              <a:t>不安全代码</a:t>
            </a:r>
            <a:endParaRPr lang="zh-CN"/>
          </a:p>
        </p:txBody>
      </p:sp>
      <p:sp>
        <p:nvSpPr>
          <p:cNvPr id="8041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106490" y="3288931"/>
            <a:ext cx="4673600" cy="4127500"/>
          </a:xfrm>
          <a:prstGeom xmlns:a="http://schemas.openxmlformats.org/drawingml/2006/main" prst="roundRect">
            <a:avLst>
              <a:gd name="adj" fmla="val 246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286586" y="3557892"/>
            <a:ext cx="4406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 b="1">
                <a:solidFill>
                  <a:srgbClr val="8B0000"/>
                </a:solidFill>
                <a:latin typeface="微软雅黑"/>
                <a:ea typeface="微软雅黑"/>
              </a:rPr>
              <a:t>function </a:t>
            </a:r>
            <a:r>
              <a:rPr lang="zh-CN" sz="1400" b="1">
                <a:solidFill>
                  <a:srgbClr val="000000"/>
                </a:solidFill>
                <a:latin typeface="微软雅黑"/>
                <a:ea typeface="微软雅黑"/>
              </a:rPr>
              <a:t>login(user, pass) {</a:t>
            </a:r>
            <a:endParaRPr lang="zh-CN"/>
          </a:p>
        </p:txBody>
      </p:sp>
      <p:sp>
        <p:nvSpPr>
          <p:cNvPr id="4010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509839" y="3938003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// 危险：直接拼接SQL字符串，易受注入攻击</a:t>
            </a:r>
            <a:endParaRPr lang="zh-CN"/>
          </a:p>
        </p:txBody>
      </p:sp>
      <p:sp>
        <p:nvSpPr>
          <p:cNvPr id="4010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530045" y="4323435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 b="1">
                <a:solidFill>
                  <a:srgbClr val="8B0000"/>
                </a:solidFill>
                <a:latin typeface="微软雅黑"/>
                <a:ea typeface="微软雅黑"/>
              </a:rPr>
              <a:t>let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 query =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"SELECT * FROM users"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  <a:endParaRPr lang="zh-CN"/>
          </a:p>
        </p:txBody>
      </p:sp>
      <p:sp>
        <p:nvSpPr>
          <p:cNvPr id="4010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557680" y="4708677"/>
            <a:ext cx="393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query +=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 WHERE username='"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 + user +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"'"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  <a:endParaRPr lang="zh-CN"/>
          </a:p>
        </p:txBody>
      </p:sp>
      <p:sp>
        <p:nvSpPr>
          <p:cNvPr id="4010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592757" y="5378081"/>
            <a:ext cx="393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query +=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 AND password='"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 + pass +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"'"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  <a:endParaRPr lang="zh-CN"/>
          </a:p>
        </p:txBody>
      </p:sp>
      <p:sp>
        <p:nvSpPr>
          <p:cNvPr id="4010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620405" y="6047676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db.execute(query);</a:t>
            </a:r>
            <a:endParaRPr lang="zh-CN"/>
          </a:p>
        </p:txBody>
      </p:sp>
      <p:sp>
        <p:nvSpPr>
          <p:cNvPr id="4010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-180000">
            <a:off x="1437538" y="6438430"/>
            <a:ext cx="4406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}</a:t>
            </a:r>
            <a:endParaRPr lang="zh-CN"/>
          </a:p>
        </p:txBody>
      </p:sp>
      <p:sp>
        <p:nvSpPr>
          <p:cNvPr id="8041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160000" y="2413000"/>
            <a:ext cx="533400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6400"/>
            </a:solidFill>
            <a:prstDash val="solid"/>
            <a:round/>
          </a:ln>
          <a:effectLst xmlns:a="http://schemas.openxmlformats.org/drawingml/2006/main">
            <a:outerShdw blurRad="381000" dist="127000" dir="5400000" algn="ctr">
              <a:srgbClr val="006400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606620" y="2723108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860278" y="273640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1113922" y="2749689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4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1468519" y="2692996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6400"/>
                </a:solidFill>
                <a:latin typeface="Noto Sans SC"/>
                <a:ea typeface="Noto Sans SC"/>
              </a:rPr>
              <a:t>安全代码</a:t>
            </a:r>
            <a:endParaRPr lang="zh-CN"/>
          </a:p>
        </p:txBody>
      </p:sp>
      <p:sp>
        <p:nvSpPr>
          <p:cNvPr id="8041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475912" y="3288931"/>
            <a:ext cx="4673600" cy="4127500"/>
          </a:xfrm>
          <a:prstGeom xmlns:a="http://schemas.openxmlformats.org/drawingml/2006/main" prst="roundRect">
            <a:avLst>
              <a:gd name="adj" fmla="val 246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0829213" y="3557892"/>
            <a:ext cx="4406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 b="1">
                <a:solidFill>
                  <a:srgbClr val="006400"/>
                </a:solidFill>
                <a:latin typeface="微软雅黑"/>
                <a:ea typeface="微软雅黑"/>
              </a:rPr>
              <a:t>function </a:t>
            </a:r>
            <a:r>
              <a:rPr lang="zh-CN" sz="1400" b="1">
                <a:solidFill>
                  <a:srgbClr val="000000"/>
                </a:solidFill>
                <a:latin typeface="微软雅黑"/>
                <a:ea typeface="微软雅黑"/>
              </a:rPr>
              <a:t>login(user, pass) {</a:t>
            </a:r>
            <a:endParaRPr lang="zh-CN"/>
          </a:p>
        </p:txBody>
      </p:sp>
      <p:sp>
        <p:nvSpPr>
          <p:cNvPr id="4010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1012081" y="3948645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6E6E73"/>
                </a:solidFill>
                <a:latin typeface="微软雅黑"/>
                <a:ea typeface="微软雅黑"/>
              </a:rPr>
              <a:t>// 安全：使用参数化查询，防御SQL注入</a:t>
            </a:r>
            <a:endParaRPr lang="zh-CN"/>
          </a:p>
        </p:txBody>
      </p:sp>
      <p:sp>
        <p:nvSpPr>
          <p:cNvPr id="4010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0991875" y="4334078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 b="1">
                <a:solidFill>
                  <a:srgbClr val="006400"/>
                </a:solidFill>
                <a:latin typeface="微软雅黑"/>
                <a:ea typeface="微软雅黑"/>
              </a:rPr>
              <a:t>let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 query =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"SELECT * FROM users"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  <a:endParaRPr lang="zh-CN"/>
          </a:p>
        </p:txBody>
      </p:sp>
      <p:sp>
        <p:nvSpPr>
          <p:cNvPr id="4010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0964240" y="4719307"/>
            <a:ext cx="393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query += </a:t>
            </a:r>
            <a:r>
              <a:rPr lang="zh-CN" sz="1400">
                <a:solidFill>
                  <a:srgbClr val="E5C158"/>
                </a:solidFill>
                <a:latin typeface="微软雅黑"/>
                <a:ea typeface="微软雅黑"/>
              </a:rPr>
              <a:t>" WHERE username=? AND password=?"</a:t>
            </a: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  <a:endParaRPr lang="zh-CN"/>
          </a:p>
        </p:txBody>
      </p:sp>
      <p:sp>
        <p:nvSpPr>
          <p:cNvPr id="4010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0936592" y="5388914"/>
            <a:ext cx="42037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db.execute(query, [user, pass]);</a:t>
            </a:r>
            <a:endParaRPr lang="zh-CN"/>
          </a:p>
        </p:txBody>
      </p:sp>
      <p:sp>
        <p:nvSpPr>
          <p:cNvPr id="4010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180000">
            <a:off x="10713339" y="5769025"/>
            <a:ext cx="4406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}</a:t>
            </a:r>
            <a:endParaRPr lang="zh-CN"/>
          </a:p>
        </p:txBody>
      </p:sp>
      <p:pic>
        <p:nvPicPr>
          <p:cNvPr id="80415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b6edd2fda73489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588000" y="2032000"/>
            <a:ext cx="5080000" cy="6096000"/>
          </a:xfrm>
          <a:prstGeom xmlns:a="http://schemas.openxmlformats.org/drawingml/2006/main" prst="rect">
            <a:avLst/>
          </a:prstGeom>
        </p:spPr>
      </p:pic>
      <p:sp>
        <p:nvSpPr>
          <p:cNvPr id="8041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输入验证</a:t>
            </a:r>
            <a:endParaRPr lang="zh-CN"/>
          </a:p>
        </p:txBody>
      </p:sp>
      <p:sp>
        <p:nvSpPr>
          <p:cNvPr id="8041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55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身份认证</a:t>
            </a:r>
            <a:endParaRPr lang="zh-CN"/>
          </a:p>
        </p:txBody>
      </p:sp>
      <p:sp>
        <p:nvSpPr>
          <p:cNvPr id="8041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82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权限控制</a:t>
            </a:r>
            <a:endParaRPr lang="zh-CN"/>
          </a:p>
        </p:txBody>
      </p:sp>
      <p:sp>
        <p:nvSpPr>
          <p:cNvPr id="8041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82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数据加密</a:t>
            </a:r>
            <a:endParaRPr lang="zh-CN"/>
          </a:p>
        </p:txBody>
      </p:sp>
      <p:sp>
        <p:nvSpPr>
          <p:cNvPr id="8041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9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安全审计</a:t>
            </a:r>
            <a:endParaRPr lang="zh-CN"/>
          </a:p>
        </p:txBody>
      </p:sp>
      <p:sp>
        <p:nvSpPr>
          <p:cNvPr id="8041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0"/>
            <a:ext cx="1143000" cy="495300"/>
          </a:xfrm>
          <a:prstGeom xmlns:a="http://schemas.openxmlformats.org/drawingml/2006/main" prst="roundRect">
            <a:avLst>
              <a:gd name="adj" fmla="val 20512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5400000" scaled="1"/>
          </a:gra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127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00000"/>
                </a:solidFill>
                <a:latin typeface="Noto Sans SC"/>
                <a:ea typeface="Noto Sans SC"/>
              </a:rPr>
              <a:t>异常处理</a:t>
            </a:r>
            <a:endParaRPr lang="zh-CN"/>
          </a:p>
        </p:txBody>
      </p:sp>
      <p:pic>
        <p:nvPicPr>
          <p:cNvPr id="80416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622ca543b8f41f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0" y="4699000"/>
            <a:ext cx="711200" cy="812800"/>
          </a:xfrm>
          <a:prstGeom xmlns:a="http://schemas.openxmlformats.org/drawingml/2006/main" prst="rect">
            <a:avLst/>
          </a:prstGeom>
        </p:spPr>
      </p:pic>
      <p:sp>
        <p:nvSpPr>
          <p:cNvPr id="8041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3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金属盾牌</a:t>
            </a:r>
            <a:endParaRPr lang="zh-CN"/>
          </a:p>
        </p:txBody>
      </p:sp>
      <p:sp>
        <p:nvSpPr>
          <p:cNvPr id="8041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1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7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3df730e030f4f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1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7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e33a9a01a10471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1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0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11</a:t>
            </a:r>
            <a:endParaRPr lang="zh-CN"/>
          </a:p>
        </p:txBody>
      </p:sp>
      <p:sp>
        <p:nvSpPr>
          <p:cNvPr id="8041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09537" y="4679950"/>
            <a:ext cx="34417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创新点与特色</a:t>
            </a:r>
            <a:endParaRPr lang="zh-CN"/>
          </a:p>
        </p:txBody>
      </p:sp>
      <p:sp>
        <p:nvSpPr>
          <p:cNvPr id="4010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52615" y="5683250"/>
            <a:ext cx="295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2x2网格翻转卡片展示创新</a:t>
            </a:r>
            <a:endParaRPr lang="zh-CN"/>
          </a:p>
        </p:txBody>
      </p:sp>
    </p:spTree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1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8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0d92fe4035941f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1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1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9295f66289c44f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1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0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1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7366000" cy="3403600"/>
          </a:xfrm>
          <a:prstGeom xmlns:a="http://schemas.openxmlformats.org/drawingml/2006/main" prst="roundRect">
            <a:avLst>
              <a:gd name="adj" fmla="val 4477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0" dist="143684" dir="2700000" algn="ctr">
              <a:srgbClr val="E1E1E5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0700" y="1536700"/>
            <a:ext cx="1625600" cy="1625600"/>
          </a:xfrm>
          <a:prstGeom xmlns:a="http://schemas.openxmlformats.org/drawingml/2006/main" prst="round1Rect">
            <a:avLst>
              <a:gd name="adj" fmla="val 9375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29300" y="2819400"/>
            <a:ext cx="2032000" cy="2032000"/>
          </a:xfrm>
          <a:prstGeom xmlns:a="http://schemas.openxmlformats.org/drawingml/2006/main" prst="round1Rect">
            <a:avLst>
              <a:gd name="adj" fmla="val 75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35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524000"/>
            <a:ext cx="7366000" cy="3403600"/>
          </a:xfrm>
          <a:prstGeom xmlns:a="http://schemas.openxmlformats.org/drawingml/2006/main" prst="roundRect">
            <a:avLst>
              <a:gd name="adj" fmla="val 4477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0" dist="143684" dir="2700000" algn="ctr">
              <a:srgbClr val="E1E1E5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67700" y="1536700"/>
            <a:ext cx="1625600" cy="1625600"/>
          </a:xfrm>
          <a:prstGeom xmlns:a="http://schemas.openxmlformats.org/drawingml/2006/main" prst="round1Rect">
            <a:avLst>
              <a:gd name="adj" fmla="val 9375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76300" y="2819400"/>
            <a:ext cx="2032000" cy="2032000"/>
          </a:xfrm>
          <a:prstGeom xmlns:a="http://schemas.openxmlformats.org/drawingml/2006/main" prst="round1Rect">
            <a:avLst>
              <a:gd name="adj" fmla="val 75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35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207000"/>
            <a:ext cx="7366000" cy="3403600"/>
          </a:xfrm>
          <a:prstGeom xmlns:a="http://schemas.openxmlformats.org/drawingml/2006/main" prst="roundRect">
            <a:avLst>
              <a:gd name="adj" fmla="val 4477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0" dist="143684" dir="2700000" algn="ctr">
              <a:srgbClr val="E1E1E5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0700" y="5219700"/>
            <a:ext cx="1625600" cy="1625600"/>
          </a:xfrm>
          <a:prstGeom xmlns:a="http://schemas.openxmlformats.org/drawingml/2006/main" prst="round1Rect">
            <a:avLst>
              <a:gd name="adj" fmla="val 9375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29300" y="6502400"/>
            <a:ext cx="2032000" cy="2032000"/>
          </a:xfrm>
          <a:prstGeom xmlns:a="http://schemas.openxmlformats.org/drawingml/2006/main" prst="round1Rect">
            <a:avLst>
              <a:gd name="adj" fmla="val 75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35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207000"/>
            <a:ext cx="7366000" cy="3403600"/>
          </a:xfrm>
          <a:prstGeom xmlns:a="http://schemas.openxmlformats.org/drawingml/2006/main" prst="roundRect">
            <a:avLst>
              <a:gd name="adj" fmla="val 4477"/>
            </a:avLst>
          </a:prstGeom>
          <a:gradFill xmlns:a="http://schemas.openxmlformats.org/drawingml/2006/main" rotWithShape="0">
            <a:gsLst>
              <a:gs pos="0">
                <a:srgbClr val="FFFFFF"/>
              </a:gs>
              <a:gs pos="100000">
                <a:srgbClr val="F5F5F7"/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0" dist="143684" dir="2700000" algn="ctr">
              <a:srgbClr val="E1E1E5"/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67700" y="5219700"/>
            <a:ext cx="1625600" cy="1625600"/>
          </a:xfrm>
          <a:prstGeom xmlns:a="http://schemas.openxmlformats.org/drawingml/2006/main" prst="round1Rect">
            <a:avLst>
              <a:gd name="adj" fmla="val 9375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1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76300" y="6502400"/>
            <a:ext cx="2032000" cy="2032000"/>
          </a:xfrm>
          <a:prstGeom xmlns:a="http://schemas.openxmlformats.org/drawingml/2006/main" prst="round1Rect">
            <a:avLst>
              <a:gd name="adj" fmla="val 75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35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3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7366000" cy="9525"/>
          </a:xfrm>
          <a:custGeom xmlns:a="http://schemas.openxmlformats.org/drawingml/2006/main">
            <a:avLst/>
            <a:pathLst>
              <a:path w="736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251700" y="0"/>
                </a:lnTo>
                <a:lnTo>
                  <a:pt x="7277134" y="2866"/>
                </a:lnTo>
                <a:lnTo>
                  <a:pt x="7301292" y="11320"/>
                </a:lnTo>
                <a:lnTo>
                  <a:pt x="7322964" y="24937"/>
                </a:lnTo>
                <a:lnTo>
                  <a:pt x="7341063" y="43036"/>
                </a:lnTo>
                <a:lnTo>
                  <a:pt x="7354680" y="64708"/>
                </a:lnTo>
                <a:lnTo>
                  <a:pt x="7363134" y="88866"/>
                </a:lnTo>
                <a:lnTo>
                  <a:pt x="7366000" y="114300"/>
                </a:lnTo>
                <a:lnTo>
                  <a:pt x="7363134" y="101583"/>
                </a:lnTo>
                <a:lnTo>
                  <a:pt x="7354680" y="89504"/>
                </a:lnTo>
                <a:lnTo>
                  <a:pt x="7341063" y="78668"/>
                </a:lnTo>
                <a:lnTo>
                  <a:pt x="7322964" y="69619"/>
                </a:lnTo>
                <a:lnTo>
                  <a:pt x="7301292" y="62810"/>
                </a:lnTo>
                <a:lnTo>
                  <a:pt x="7277134" y="58583"/>
                </a:lnTo>
                <a:lnTo>
                  <a:pt x="725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4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524000"/>
            <a:ext cx="7366000" cy="9525"/>
          </a:xfrm>
          <a:custGeom xmlns:a="http://schemas.openxmlformats.org/drawingml/2006/main">
            <a:avLst/>
            <a:pathLst>
              <a:path w="736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251700" y="0"/>
                </a:lnTo>
                <a:lnTo>
                  <a:pt x="7277134" y="2866"/>
                </a:lnTo>
                <a:lnTo>
                  <a:pt x="7301292" y="11320"/>
                </a:lnTo>
                <a:lnTo>
                  <a:pt x="7322964" y="24937"/>
                </a:lnTo>
                <a:lnTo>
                  <a:pt x="7341063" y="43036"/>
                </a:lnTo>
                <a:lnTo>
                  <a:pt x="7354680" y="64708"/>
                </a:lnTo>
                <a:lnTo>
                  <a:pt x="7363134" y="88866"/>
                </a:lnTo>
                <a:lnTo>
                  <a:pt x="7366000" y="114300"/>
                </a:lnTo>
                <a:lnTo>
                  <a:pt x="7363134" y="101583"/>
                </a:lnTo>
                <a:lnTo>
                  <a:pt x="7354680" y="89504"/>
                </a:lnTo>
                <a:lnTo>
                  <a:pt x="7341063" y="78668"/>
                </a:lnTo>
                <a:lnTo>
                  <a:pt x="7322964" y="69619"/>
                </a:lnTo>
                <a:lnTo>
                  <a:pt x="7301292" y="62810"/>
                </a:lnTo>
                <a:lnTo>
                  <a:pt x="7277134" y="58583"/>
                </a:lnTo>
                <a:lnTo>
                  <a:pt x="725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5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207000"/>
            <a:ext cx="7366000" cy="9525"/>
          </a:xfrm>
          <a:custGeom xmlns:a="http://schemas.openxmlformats.org/drawingml/2006/main">
            <a:avLst/>
            <a:pathLst>
              <a:path w="736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251700" y="0"/>
                </a:lnTo>
                <a:lnTo>
                  <a:pt x="7277134" y="2866"/>
                </a:lnTo>
                <a:lnTo>
                  <a:pt x="7301292" y="11320"/>
                </a:lnTo>
                <a:lnTo>
                  <a:pt x="7322964" y="24937"/>
                </a:lnTo>
                <a:lnTo>
                  <a:pt x="7341063" y="43036"/>
                </a:lnTo>
                <a:lnTo>
                  <a:pt x="7354680" y="64708"/>
                </a:lnTo>
                <a:lnTo>
                  <a:pt x="7363134" y="88866"/>
                </a:lnTo>
                <a:lnTo>
                  <a:pt x="7366000" y="114300"/>
                </a:lnTo>
                <a:lnTo>
                  <a:pt x="7363134" y="101583"/>
                </a:lnTo>
                <a:lnTo>
                  <a:pt x="7354680" y="89504"/>
                </a:lnTo>
                <a:lnTo>
                  <a:pt x="7341063" y="78668"/>
                </a:lnTo>
                <a:lnTo>
                  <a:pt x="7322964" y="69619"/>
                </a:lnTo>
                <a:lnTo>
                  <a:pt x="7301292" y="62810"/>
                </a:lnTo>
                <a:lnTo>
                  <a:pt x="7277134" y="58583"/>
                </a:lnTo>
                <a:lnTo>
                  <a:pt x="725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6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207000"/>
            <a:ext cx="7366000" cy="9525"/>
          </a:xfrm>
          <a:custGeom xmlns:a="http://schemas.openxmlformats.org/drawingml/2006/main">
            <a:avLst/>
            <a:pathLst>
              <a:path w="73660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251700" y="0"/>
                </a:lnTo>
                <a:lnTo>
                  <a:pt x="7277134" y="2866"/>
                </a:lnTo>
                <a:lnTo>
                  <a:pt x="7301292" y="11320"/>
                </a:lnTo>
                <a:lnTo>
                  <a:pt x="7322964" y="24937"/>
                </a:lnTo>
                <a:lnTo>
                  <a:pt x="7341063" y="43036"/>
                </a:lnTo>
                <a:lnTo>
                  <a:pt x="7354680" y="64708"/>
                </a:lnTo>
                <a:lnTo>
                  <a:pt x="7363134" y="88866"/>
                </a:lnTo>
                <a:lnTo>
                  <a:pt x="7366000" y="114300"/>
                </a:lnTo>
                <a:lnTo>
                  <a:pt x="7363134" y="101583"/>
                </a:lnTo>
                <a:lnTo>
                  <a:pt x="7354680" y="89504"/>
                </a:lnTo>
                <a:lnTo>
                  <a:pt x="7341063" y="78668"/>
                </a:lnTo>
                <a:lnTo>
                  <a:pt x="7322964" y="69619"/>
                </a:lnTo>
                <a:lnTo>
                  <a:pt x="7301292" y="62810"/>
                </a:lnTo>
                <a:lnTo>
                  <a:pt x="7277134" y="58583"/>
                </a:lnTo>
                <a:lnTo>
                  <a:pt x="72517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7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475" y="1524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3289300"/>
                </a:lnTo>
                <a:lnTo>
                  <a:pt x="6659" y="3314734"/>
                </a:lnTo>
                <a:lnTo>
                  <a:pt x="-1795" y="3338892"/>
                </a:lnTo>
                <a:lnTo>
                  <a:pt x="-15412" y="3360564"/>
                </a:lnTo>
                <a:lnTo>
                  <a:pt x="-33511" y="3378663"/>
                </a:lnTo>
                <a:lnTo>
                  <a:pt x="-55183" y="3392280"/>
                </a:lnTo>
                <a:lnTo>
                  <a:pt x="-79341" y="3400734"/>
                </a:lnTo>
                <a:lnTo>
                  <a:pt x="-104775" y="3403600"/>
                </a:lnTo>
                <a:lnTo>
                  <a:pt x="-92058" y="3400734"/>
                </a:lnTo>
                <a:lnTo>
                  <a:pt x="-79979" y="3392280"/>
                </a:lnTo>
                <a:lnTo>
                  <a:pt x="-69143" y="3378663"/>
                </a:lnTo>
                <a:lnTo>
                  <a:pt x="-60094" y="3360564"/>
                </a:lnTo>
                <a:lnTo>
                  <a:pt x="-53285" y="3338892"/>
                </a:lnTo>
                <a:lnTo>
                  <a:pt x="-49058" y="3314734"/>
                </a:lnTo>
                <a:lnTo>
                  <a:pt x="-47625" y="3289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8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1524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3289300"/>
                </a:lnTo>
                <a:lnTo>
                  <a:pt x="6659" y="3314734"/>
                </a:lnTo>
                <a:lnTo>
                  <a:pt x="-1795" y="3338892"/>
                </a:lnTo>
                <a:lnTo>
                  <a:pt x="-15412" y="3360564"/>
                </a:lnTo>
                <a:lnTo>
                  <a:pt x="-33511" y="3378663"/>
                </a:lnTo>
                <a:lnTo>
                  <a:pt x="-55183" y="3392280"/>
                </a:lnTo>
                <a:lnTo>
                  <a:pt x="-79341" y="3400734"/>
                </a:lnTo>
                <a:lnTo>
                  <a:pt x="-104775" y="3403600"/>
                </a:lnTo>
                <a:lnTo>
                  <a:pt x="-92058" y="3400734"/>
                </a:lnTo>
                <a:lnTo>
                  <a:pt x="-79979" y="3392280"/>
                </a:lnTo>
                <a:lnTo>
                  <a:pt x="-69143" y="3378663"/>
                </a:lnTo>
                <a:lnTo>
                  <a:pt x="-60094" y="3360564"/>
                </a:lnTo>
                <a:lnTo>
                  <a:pt x="-53285" y="3338892"/>
                </a:lnTo>
                <a:lnTo>
                  <a:pt x="-49058" y="3314734"/>
                </a:lnTo>
                <a:lnTo>
                  <a:pt x="-47625" y="3289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79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475" y="5207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3289300"/>
                </a:lnTo>
                <a:lnTo>
                  <a:pt x="6659" y="3314734"/>
                </a:lnTo>
                <a:lnTo>
                  <a:pt x="-1795" y="3338892"/>
                </a:lnTo>
                <a:lnTo>
                  <a:pt x="-15412" y="3360564"/>
                </a:lnTo>
                <a:lnTo>
                  <a:pt x="-33511" y="3378663"/>
                </a:lnTo>
                <a:lnTo>
                  <a:pt x="-55183" y="3392280"/>
                </a:lnTo>
                <a:lnTo>
                  <a:pt x="-79341" y="3400734"/>
                </a:lnTo>
                <a:lnTo>
                  <a:pt x="-104775" y="3403600"/>
                </a:lnTo>
                <a:lnTo>
                  <a:pt x="-92058" y="3400734"/>
                </a:lnTo>
                <a:lnTo>
                  <a:pt x="-79979" y="3392280"/>
                </a:lnTo>
                <a:lnTo>
                  <a:pt x="-69143" y="3378663"/>
                </a:lnTo>
                <a:lnTo>
                  <a:pt x="-60094" y="3360564"/>
                </a:lnTo>
                <a:lnTo>
                  <a:pt x="-53285" y="3338892"/>
                </a:lnTo>
                <a:lnTo>
                  <a:pt x="-49058" y="3314734"/>
                </a:lnTo>
                <a:lnTo>
                  <a:pt x="-47625" y="3289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0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5207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3289300"/>
                </a:lnTo>
                <a:lnTo>
                  <a:pt x="6659" y="3314734"/>
                </a:lnTo>
                <a:lnTo>
                  <a:pt x="-1795" y="3338892"/>
                </a:lnTo>
                <a:lnTo>
                  <a:pt x="-15412" y="3360564"/>
                </a:lnTo>
                <a:lnTo>
                  <a:pt x="-33511" y="3378663"/>
                </a:lnTo>
                <a:lnTo>
                  <a:pt x="-55183" y="3392280"/>
                </a:lnTo>
                <a:lnTo>
                  <a:pt x="-79341" y="3400734"/>
                </a:lnTo>
                <a:lnTo>
                  <a:pt x="-104775" y="3403600"/>
                </a:lnTo>
                <a:lnTo>
                  <a:pt x="-92058" y="3400734"/>
                </a:lnTo>
                <a:lnTo>
                  <a:pt x="-79979" y="3392280"/>
                </a:lnTo>
                <a:lnTo>
                  <a:pt x="-69143" y="3378663"/>
                </a:lnTo>
                <a:lnTo>
                  <a:pt x="-60094" y="3360564"/>
                </a:lnTo>
                <a:lnTo>
                  <a:pt x="-53285" y="3338892"/>
                </a:lnTo>
                <a:lnTo>
                  <a:pt x="-49058" y="3314734"/>
                </a:lnTo>
                <a:lnTo>
                  <a:pt x="-47625" y="32893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1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70450"/>
            <a:ext cx="7366000" cy="57150"/>
          </a:xfrm>
          <a:custGeom xmlns:a="http://schemas.openxmlformats.org/drawingml/2006/main">
            <a:avLst/>
            <a:pathLst>
              <a:path w="736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7251700" y="57150"/>
                </a:lnTo>
                <a:lnTo>
                  <a:pt x="7277134" y="54284"/>
                </a:lnTo>
                <a:lnTo>
                  <a:pt x="7301292" y="45830"/>
                </a:lnTo>
                <a:lnTo>
                  <a:pt x="7322964" y="32213"/>
                </a:lnTo>
                <a:lnTo>
                  <a:pt x="7341063" y="14114"/>
                </a:lnTo>
                <a:lnTo>
                  <a:pt x="7354680" y="-7558"/>
                </a:lnTo>
                <a:lnTo>
                  <a:pt x="7363134" y="-31716"/>
                </a:lnTo>
                <a:lnTo>
                  <a:pt x="7366000" y="-57150"/>
                </a:lnTo>
                <a:lnTo>
                  <a:pt x="7363134" y="-44433"/>
                </a:lnTo>
                <a:lnTo>
                  <a:pt x="7354680" y="-32354"/>
                </a:lnTo>
                <a:lnTo>
                  <a:pt x="7341063" y="-21518"/>
                </a:lnTo>
                <a:lnTo>
                  <a:pt x="7322964" y="-12469"/>
                </a:lnTo>
                <a:lnTo>
                  <a:pt x="7301292" y="-5660"/>
                </a:lnTo>
                <a:lnTo>
                  <a:pt x="7277134" y="-1433"/>
                </a:lnTo>
                <a:lnTo>
                  <a:pt x="725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D9534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2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0450"/>
            <a:ext cx="7366000" cy="57150"/>
          </a:xfrm>
          <a:custGeom xmlns:a="http://schemas.openxmlformats.org/drawingml/2006/main">
            <a:avLst/>
            <a:pathLst>
              <a:path w="736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7251700" y="57150"/>
                </a:lnTo>
                <a:lnTo>
                  <a:pt x="7277134" y="54284"/>
                </a:lnTo>
                <a:lnTo>
                  <a:pt x="7301292" y="45830"/>
                </a:lnTo>
                <a:lnTo>
                  <a:pt x="7322964" y="32213"/>
                </a:lnTo>
                <a:lnTo>
                  <a:pt x="7341063" y="14114"/>
                </a:lnTo>
                <a:lnTo>
                  <a:pt x="7354680" y="-7558"/>
                </a:lnTo>
                <a:lnTo>
                  <a:pt x="7363134" y="-31716"/>
                </a:lnTo>
                <a:lnTo>
                  <a:pt x="7366000" y="-57150"/>
                </a:lnTo>
                <a:lnTo>
                  <a:pt x="7363134" y="-44433"/>
                </a:lnTo>
                <a:lnTo>
                  <a:pt x="7354680" y="-32354"/>
                </a:lnTo>
                <a:lnTo>
                  <a:pt x="7341063" y="-21518"/>
                </a:lnTo>
                <a:lnTo>
                  <a:pt x="7322964" y="-12469"/>
                </a:lnTo>
                <a:lnTo>
                  <a:pt x="7301292" y="-5660"/>
                </a:lnTo>
                <a:lnTo>
                  <a:pt x="7277134" y="-1433"/>
                </a:lnTo>
                <a:lnTo>
                  <a:pt x="725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D9534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8553450"/>
            <a:ext cx="7366000" cy="57150"/>
          </a:xfrm>
          <a:custGeom xmlns:a="http://schemas.openxmlformats.org/drawingml/2006/main">
            <a:avLst/>
            <a:pathLst>
              <a:path w="736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7251700" y="57150"/>
                </a:lnTo>
                <a:lnTo>
                  <a:pt x="7277134" y="54284"/>
                </a:lnTo>
                <a:lnTo>
                  <a:pt x="7301292" y="45830"/>
                </a:lnTo>
                <a:lnTo>
                  <a:pt x="7322964" y="32213"/>
                </a:lnTo>
                <a:lnTo>
                  <a:pt x="7341063" y="14114"/>
                </a:lnTo>
                <a:lnTo>
                  <a:pt x="7354680" y="-7558"/>
                </a:lnTo>
                <a:lnTo>
                  <a:pt x="7363134" y="-31716"/>
                </a:lnTo>
                <a:lnTo>
                  <a:pt x="7366000" y="-57150"/>
                </a:lnTo>
                <a:lnTo>
                  <a:pt x="7363134" y="-44433"/>
                </a:lnTo>
                <a:lnTo>
                  <a:pt x="7354680" y="-32354"/>
                </a:lnTo>
                <a:lnTo>
                  <a:pt x="7341063" y="-21518"/>
                </a:lnTo>
                <a:lnTo>
                  <a:pt x="7322964" y="-12469"/>
                </a:lnTo>
                <a:lnTo>
                  <a:pt x="7301292" y="-5660"/>
                </a:lnTo>
                <a:lnTo>
                  <a:pt x="7277134" y="-1433"/>
                </a:lnTo>
                <a:lnTo>
                  <a:pt x="725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D9534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4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8553450"/>
            <a:ext cx="7366000" cy="57150"/>
          </a:xfrm>
          <a:custGeom xmlns:a="http://schemas.openxmlformats.org/drawingml/2006/main">
            <a:avLst/>
            <a:pathLst>
              <a:path w="7366000" h="57150">
                <a:moveTo>
                  <a:pt x="0" y="-57150"/>
                </a:moveTo>
                <a:lnTo>
                  <a:pt x="2866" y="-31716"/>
                </a:lnTo>
                <a:lnTo>
                  <a:pt x="11320" y="-7558"/>
                </a:lnTo>
                <a:lnTo>
                  <a:pt x="24937" y="14114"/>
                </a:lnTo>
                <a:lnTo>
                  <a:pt x="43036" y="32213"/>
                </a:lnTo>
                <a:lnTo>
                  <a:pt x="64708" y="45830"/>
                </a:lnTo>
                <a:lnTo>
                  <a:pt x="88866" y="54284"/>
                </a:lnTo>
                <a:lnTo>
                  <a:pt x="114300" y="57150"/>
                </a:lnTo>
                <a:lnTo>
                  <a:pt x="7251700" y="57150"/>
                </a:lnTo>
                <a:lnTo>
                  <a:pt x="7277134" y="54284"/>
                </a:lnTo>
                <a:lnTo>
                  <a:pt x="7301292" y="45830"/>
                </a:lnTo>
                <a:lnTo>
                  <a:pt x="7322964" y="32213"/>
                </a:lnTo>
                <a:lnTo>
                  <a:pt x="7341063" y="14114"/>
                </a:lnTo>
                <a:lnTo>
                  <a:pt x="7354680" y="-7558"/>
                </a:lnTo>
                <a:lnTo>
                  <a:pt x="7363134" y="-31716"/>
                </a:lnTo>
                <a:lnTo>
                  <a:pt x="7366000" y="-57150"/>
                </a:lnTo>
                <a:lnTo>
                  <a:pt x="7363134" y="-44433"/>
                </a:lnTo>
                <a:lnTo>
                  <a:pt x="7354680" y="-32354"/>
                </a:lnTo>
                <a:lnTo>
                  <a:pt x="7341063" y="-21518"/>
                </a:lnTo>
                <a:lnTo>
                  <a:pt x="7322964" y="-12469"/>
                </a:lnTo>
                <a:lnTo>
                  <a:pt x="7301292" y="-5660"/>
                </a:lnTo>
                <a:lnTo>
                  <a:pt x="7277134" y="-1433"/>
                </a:lnTo>
                <a:lnTo>
                  <a:pt x="7251700" y="0"/>
                </a:lnTo>
                <a:lnTo>
                  <a:pt x="114300" y="0"/>
                </a:lnTo>
                <a:lnTo>
                  <a:pt x="88866" y="-1433"/>
                </a:lnTo>
                <a:lnTo>
                  <a:pt x="64708" y="-5660"/>
                </a:lnTo>
                <a:lnTo>
                  <a:pt x="43036" y="-12469"/>
                </a:lnTo>
                <a:lnTo>
                  <a:pt x="24937" y="-21518"/>
                </a:lnTo>
                <a:lnTo>
                  <a:pt x="11320" y="-32354"/>
                </a:lnTo>
                <a:lnTo>
                  <a:pt x="2866" y="-44433"/>
                </a:lnTo>
                <a:lnTo>
                  <a:pt x="0" y="-57150"/>
                </a:lnTo>
                <a:close/>
              </a:path>
            </a:pathLst>
          </a:custGeom>
          <a:solidFill xmlns:a="http://schemas.openxmlformats.org/drawingml/2006/main">
            <a:srgbClr val="D9534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3289300"/>
                </a:lnTo>
                <a:lnTo>
                  <a:pt x="2866" y="3314734"/>
                </a:lnTo>
                <a:lnTo>
                  <a:pt x="11320" y="3338892"/>
                </a:lnTo>
                <a:lnTo>
                  <a:pt x="24937" y="3360564"/>
                </a:lnTo>
                <a:lnTo>
                  <a:pt x="43036" y="3378663"/>
                </a:lnTo>
                <a:lnTo>
                  <a:pt x="64708" y="3392280"/>
                </a:lnTo>
                <a:lnTo>
                  <a:pt x="88866" y="3400734"/>
                </a:lnTo>
                <a:lnTo>
                  <a:pt x="114300" y="3403600"/>
                </a:lnTo>
                <a:lnTo>
                  <a:pt x="101583" y="3400734"/>
                </a:lnTo>
                <a:lnTo>
                  <a:pt x="89504" y="3392280"/>
                </a:lnTo>
                <a:lnTo>
                  <a:pt x="78668" y="3378663"/>
                </a:lnTo>
                <a:lnTo>
                  <a:pt x="69619" y="3360564"/>
                </a:lnTo>
                <a:lnTo>
                  <a:pt x="62810" y="3338892"/>
                </a:lnTo>
                <a:lnTo>
                  <a:pt x="58583" y="3314734"/>
                </a:lnTo>
                <a:lnTo>
                  <a:pt x="57150" y="3289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524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3289300"/>
                </a:lnTo>
                <a:lnTo>
                  <a:pt x="2866" y="3314734"/>
                </a:lnTo>
                <a:lnTo>
                  <a:pt x="11320" y="3338892"/>
                </a:lnTo>
                <a:lnTo>
                  <a:pt x="24937" y="3360564"/>
                </a:lnTo>
                <a:lnTo>
                  <a:pt x="43036" y="3378663"/>
                </a:lnTo>
                <a:lnTo>
                  <a:pt x="64708" y="3392280"/>
                </a:lnTo>
                <a:lnTo>
                  <a:pt x="88866" y="3400734"/>
                </a:lnTo>
                <a:lnTo>
                  <a:pt x="114300" y="3403600"/>
                </a:lnTo>
                <a:lnTo>
                  <a:pt x="101583" y="3400734"/>
                </a:lnTo>
                <a:lnTo>
                  <a:pt x="89504" y="3392280"/>
                </a:lnTo>
                <a:lnTo>
                  <a:pt x="78668" y="3378663"/>
                </a:lnTo>
                <a:lnTo>
                  <a:pt x="69619" y="3360564"/>
                </a:lnTo>
                <a:lnTo>
                  <a:pt x="62810" y="3338892"/>
                </a:lnTo>
                <a:lnTo>
                  <a:pt x="58583" y="3314734"/>
                </a:lnTo>
                <a:lnTo>
                  <a:pt x="57150" y="3289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7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207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3289300"/>
                </a:lnTo>
                <a:lnTo>
                  <a:pt x="2866" y="3314734"/>
                </a:lnTo>
                <a:lnTo>
                  <a:pt x="11320" y="3338892"/>
                </a:lnTo>
                <a:lnTo>
                  <a:pt x="24937" y="3360564"/>
                </a:lnTo>
                <a:lnTo>
                  <a:pt x="43036" y="3378663"/>
                </a:lnTo>
                <a:lnTo>
                  <a:pt x="64708" y="3392280"/>
                </a:lnTo>
                <a:lnTo>
                  <a:pt x="88866" y="3400734"/>
                </a:lnTo>
                <a:lnTo>
                  <a:pt x="114300" y="3403600"/>
                </a:lnTo>
                <a:lnTo>
                  <a:pt x="101583" y="3400734"/>
                </a:lnTo>
                <a:lnTo>
                  <a:pt x="89504" y="3392280"/>
                </a:lnTo>
                <a:lnTo>
                  <a:pt x="78668" y="3378663"/>
                </a:lnTo>
                <a:lnTo>
                  <a:pt x="69619" y="3360564"/>
                </a:lnTo>
                <a:lnTo>
                  <a:pt x="62810" y="3338892"/>
                </a:lnTo>
                <a:lnTo>
                  <a:pt x="58583" y="3314734"/>
                </a:lnTo>
                <a:lnTo>
                  <a:pt x="57150" y="3289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88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207000"/>
            <a:ext cx="9525" cy="3403600"/>
          </a:xfrm>
          <a:custGeom xmlns:a="http://schemas.openxmlformats.org/drawingml/2006/main">
            <a:avLst/>
            <a:pathLst>
              <a:path w="9525" h="34036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3289300"/>
                </a:lnTo>
                <a:lnTo>
                  <a:pt x="2866" y="3314734"/>
                </a:lnTo>
                <a:lnTo>
                  <a:pt x="11320" y="3338892"/>
                </a:lnTo>
                <a:lnTo>
                  <a:pt x="24937" y="3360564"/>
                </a:lnTo>
                <a:lnTo>
                  <a:pt x="43036" y="3378663"/>
                </a:lnTo>
                <a:lnTo>
                  <a:pt x="64708" y="3392280"/>
                </a:lnTo>
                <a:lnTo>
                  <a:pt x="88866" y="3400734"/>
                </a:lnTo>
                <a:lnTo>
                  <a:pt x="114300" y="3403600"/>
                </a:lnTo>
                <a:lnTo>
                  <a:pt x="101583" y="3400734"/>
                </a:lnTo>
                <a:lnTo>
                  <a:pt x="89504" y="3392280"/>
                </a:lnTo>
                <a:lnTo>
                  <a:pt x="78668" y="3378663"/>
                </a:lnTo>
                <a:lnTo>
                  <a:pt x="69619" y="3360564"/>
                </a:lnTo>
                <a:lnTo>
                  <a:pt x="62810" y="3338892"/>
                </a:lnTo>
                <a:lnTo>
                  <a:pt x="58583" y="3314734"/>
                </a:lnTo>
                <a:lnTo>
                  <a:pt x="57150" y="32893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796" y="2120900"/>
            <a:ext cx="1270000" cy="127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0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159be52de2b4f7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85996" y="24511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010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230765" y="3695700"/>
            <a:ext cx="261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技术创新</a:t>
            </a:r>
            <a:endParaRPr lang="zh-CN"/>
          </a:p>
        </p:txBody>
      </p:sp>
      <p:sp>
        <p:nvSpPr>
          <p:cNvPr id="8042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796" y="2120900"/>
            <a:ext cx="1270000" cy="127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0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74293b38b3e44b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32996" y="24511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010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7765" y="3695700"/>
            <a:ext cx="261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设计创新</a:t>
            </a:r>
            <a:endParaRPr lang="zh-CN"/>
          </a:p>
        </p:txBody>
      </p:sp>
      <p:sp>
        <p:nvSpPr>
          <p:cNvPr id="8042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796" y="5803900"/>
            <a:ext cx="1270000" cy="127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0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94b8345eb41448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47896" y="6134100"/>
            <a:ext cx="685800" cy="609600"/>
          </a:xfrm>
          <a:prstGeom xmlns:a="http://schemas.openxmlformats.org/drawingml/2006/main" prst="rect">
            <a:avLst/>
          </a:prstGeom>
        </p:spPr>
      </p:pic>
      <p:sp>
        <p:nvSpPr>
          <p:cNvPr id="4010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3230765" y="7378700"/>
            <a:ext cx="261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功能创新</a:t>
            </a:r>
            <a:endParaRPr lang="zh-CN"/>
          </a:p>
        </p:txBody>
      </p:sp>
      <p:sp>
        <p:nvSpPr>
          <p:cNvPr id="8042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796" y="5803900"/>
            <a:ext cx="1270000" cy="127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0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dd5a28e5c054e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32996" y="61341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010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7765" y="7378700"/>
            <a:ext cx="261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工程质量</a:t>
            </a:r>
            <a:endParaRPr lang="zh-CN"/>
          </a:p>
        </p:txBody>
      </p:sp>
      <p:sp>
        <p:nvSpPr>
          <p:cNvPr id="8042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0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3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翻转卡片</a:t>
            </a:r>
            <a:endParaRPr lang="zh-CN"/>
          </a:p>
        </p:txBody>
      </p:sp>
      <p:sp>
        <p:nvSpPr>
          <p:cNvPr id="8042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2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1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f664344bd00456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2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1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a5269e4f2ba427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2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1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1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12</a:t>
            </a:r>
            <a:endParaRPr lang="zh-CN"/>
          </a:p>
        </p:txBody>
      </p:sp>
      <p:sp>
        <p:nvSpPr>
          <p:cNvPr id="8042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23190" y="4679950"/>
            <a:ext cx="401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项目数据与成果</a:t>
            </a:r>
            <a:endParaRPr lang="zh-CN"/>
          </a:p>
        </p:txBody>
      </p:sp>
      <p:sp>
        <p:nvSpPr>
          <p:cNvPr id="4011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17487" y="5683250"/>
            <a:ext cx="302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3D仪表盘展示KPI关键指标</a:t>
            </a:r>
            <a:endParaRPr lang="zh-CN"/>
          </a:p>
        </p:txBody>
      </p:sp>
    </p:spTree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2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14d88511bad49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2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2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aa4dc7b1790407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2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1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2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4876800" cy="2286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3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a8541235e0044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27100" y="21844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1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82700" y="2139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进度达成率</a:t>
            </a:r>
            <a:endParaRPr lang="zh-CN"/>
          </a:p>
        </p:txBody>
      </p:sp>
      <p:sp>
        <p:nvSpPr>
          <p:cNvPr id="4011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7100" y="2635250"/>
            <a:ext cx="2336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85%</a:t>
            </a:r>
            <a:endParaRPr lang="zh-CN"/>
          </a:p>
        </p:txBody>
      </p:sp>
      <p:pic>
        <p:nvPicPr>
          <p:cNvPr id="80423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151a2db931d430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568700" y="1968500"/>
            <a:ext cx="1397000" cy="1397000"/>
          </a:xfrm>
          <a:prstGeom xmlns:a="http://schemas.openxmlformats.org/drawingml/2006/main" prst="rect">
            <a:avLst/>
          </a:prstGeom>
        </p:spPr>
      </p:pic>
      <p:sp>
        <p:nvSpPr>
          <p:cNvPr id="8042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40000">
            <a:off x="4056862" y="2304034"/>
            <a:ext cx="50800" cy="457200"/>
          </a:xfrm>
          <a:custGeom xmlns:a="http://schemas.openxmlformats.org/drawingml/2006/main">
            <a:avLst/>
            <a:rect l="l" t="t" r="r" b="b"/>
            <a:pathLst>
              <a:path w="38100" h="342900">
                <a:moveTo>
                  <a:pt x="38100" y="0"/>
                </a:moveTo>
                <a:lnTo>
                  <a:pt x="0" y="0"/>
                </a:lnTo>
                <a:arcTo wR="38100" hR="38100" stAng="16200000" swAng="5400000"/>
                <a:lnTo>
                  <a:pt x="38100" y="342900"/>
                </a:lnTo>
                <a:lnTo>
                  <a:pt x="0" y="3429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F2D06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40000">
            <a:off x="4178300" y="2578100"/>
            <a:ext cx="177800" cy="17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25400">
            <a:solidFill>
              <a:srgbClr val="FFFFFF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0"/>
            <a:ext cx="4876800" cy="2286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3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40ecef049164ad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08700" y="21844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1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464300" y="2139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质量达标率</a:t>
            </a:r>
            <a:endParaRPr lang="zh-CN"/>
          </a:p>
        </p:txBody>
      </p:sp>
      <p:sp>
        <p:nvSpPr>
          <p:cNvPr id="4011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08700" y="2635250"/>
            <a:ext cx="2336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92%</a:t>
            </a:r>
            <a:endParaRPr lang="zh-CN"/>
          </a:p>
        </p:txBody>
      </p:sp>
      <p:pic>
        <p:nvPicPr>
          <p:cNvPr id="80423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710076cbe754cb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50300" y="1968500"/>
            <a:ext cx="1397000" cy="1397000"/>
          </a:xfrm>
          <a:prstGeom xmlns:a="http://schemas.openxmlformats.org/drawingml/2006/main" prst="rect">
            <a:avLst/>
          </a:prstGeom>
        </p:spPr>
      </p:pic>
      <p:sp>
        <p:nvSpPr>
          <p:cNvPr id="8042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9312567" y="2238463"/>
            <a:ext cx="50800" cy="457200"/>
          </a:xfrm>
          <a:custGeom xmlns:a="http://schemas.openxmlformats.org/drawingml/2006/main">
            <a:avLst/>
            <a:rect l="l" t="t" r="r" b="b"/>
            <a:pathLst>
              <a:path w="38100" h="342900">
                <a:moveTo>
                  <a:pt x="38100" y="0"/>
                </a:moveTo>
                <a:lnTo>
                  <a:pt x="0" y="0"/>
                </a:lnTo>
                <a:arcTo wR="38100" hR="38100" stAng="16200000" swAng="5400000"/>
                <a:lnTo>
                  <a:pt x="38100" y="342900"/>
                </a:lnTo>
                <a:lnTo>
                  <a:pt x="0" y="3429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F2D06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9359900" y="2578100"/>
            <a:ext cx="177800" cy="17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25400">
            <a:solidFill>
              <a:srgbClr val="FFFFFF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1524000"/>
            <a:ext cx="4876800" cy="2286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4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56f803184ec48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90300" y="21844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1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645900" y="2139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资源利用率</a:t>
            </a:r>
            <a:endParaRPr lang="zh-CN"/>
          </a:p>
        </p:txBody>
      </p:sp>
      <p:sp>
        <p:nvSpPr>
          <p:cNvPr id="4011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90300" y="2635250"/>
            <a:ext cx="2336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78%</a:t>
            </a:r>
            <a:endParaRPr lang="zh-CN"/>
          </a:p>
        </p:txBody>
      </p:sp>
      <p:pic>
        <p:nvPicPr>
          <p:cNvPr id="80424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469fe463ab0487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3931900" y="1968500"/>
            <a:ext cx="1397000" cy="1397000"/>
          </a:xfrm>
          <a:prstGeom xmlns:a="http://schemas.openxmlformats.org/drawingml/2006/main" prst="rect">
            <a:avLst/>
          </a:prstGeom>
        </p:spPr>
      </p:pic>
      <p:sp>
        <p:nvSpPr>
          <p:cNvPr id="8042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40000">
            <a:off x="14380591" y="2394775"/>
            <a:ext cx="50800" cy="457200"/>
          </a:xfrm>
          <a:custGeom xmlns:a="http://schemas.openxmlformats.org/drawingml/2006/main">
            <a:avLst/>
            <a:rect l="l" t="t" r="r" b="b"/>
            <a:pathLst>
              <a:path w="38100" h="342900">
                <a:moveTo>
                  <a:pt x="38100" y="0"/>
                </a:moveTo>
                <a:lnTo>
                  <a:pt x="0" y="0"/>
                </a:lnTo>
                <a:arcTo wR="38100" hR="38100" stAng="16200000" swAng="5400000"/>
                <a:lnTo>
                  <a:pt x="38100" y="342900"/>
                </a:lnTo>
                <a:lnTo>
                  <a:pt x="0" y="3429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 xmlns:a="http://schemas.openxmlformats.org/drawingml/2006/main">
            <a:srgbClr val="F2D06B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40000">
            <a:off x="14541500" y="2578100"/>
            <a:ext cx="177800" cy="17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25400">
            <a:solidFill>
              <a:srgbClr val="FFFFFF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7467600" cy="4521200"/>
          </a:xfrm>
          <a:prstGeom xmlns:a="http://schemas.openxmlformats.org/drawingml/2006/main" prst="roundRect">
            <a:avLst>
              <a:gd name="adj" fmla="val 3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4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f083e9df2bf43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25500" y="4489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11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55700" y="44323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各阶段进度达成对比</a:t>
            </a:r>
            <a:endParaRPr lang="zh-CN"/>
          </a:p>
        </p:txBody>
      </p:sp>
      <p:graphicFrame>
        <p:nvGraphicFramePr>
          <p:cNvPr id="472" name="Chart "/>
          <p:cNvGraphicFramePr/>
        </p:nvGraphicFramePr>
        <p:xfrm>
          <a:off xmlns:a="http://schemas.openxmlformats.org/drawingml/2006/main" x="825500" y="4876800"/>
          <a:ext xmlns:a="http://schemas.openxmlformats.org/drawingml/2006/main" cx="6832600" cy="340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c1bf3e89264f90"/>
          </a:graphicData>
        </a:graphic>
      </p:graphicFrame>
      <p:sp>
        <p:nvSpPr>
          <p:cNvPr id="8042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114800"/>
            <a:ext cx="7467600" cy="4521200"/>
          </a:xfrm>
          <a:prstGeom xmlns:a="http://schemas.openxmlformats.org/drawingml/2006/main" prst="roundRect">
            <a:avLst>
              <a:gd name="adj" fmla="val 3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4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56da01b43314fa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97900" y="448945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4011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956675" y="44323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核心指标综合分布</a:t>
            </a:r>
            <a:endParaRPr lang="zh-CN"/>
          </a:p>
        </p:txBody>
      </p:sp>
      <p:graphicFrame>
        <p:nvGraphicFramePr>
          <p:cNvPr id="473" name="Chart "/>
          <p:cNvGraphicFramePr/>
        </p:nvGraphicFramePr>
        <p:xfrm>
          <a:off xmlns:a="http://schemas.openxmlformats.org/drawingml/2006/main" x="8597900" y="4876800"/>
          <a:ext xmlns:a="http://schemas.openxmlformats.org/drawingml/2006/main" cx="6832600" cy="340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e6791d269b4e80"/>
          </a:graphicData>
        </a:graphic>
      </p:graphicFrame>
      <p:sp>
        <p:nvSpPr>
          <p:cNvPr id="69289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7467600" cy="9525"/>
          </a:xfrm>
          <a:custGeom xmlns:a="http://schemas.openxmlformats.org/drawingml/2006/main">
            <a:avLst/>
            <a:pathLst>
              <a:path w="74676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353300" y="0"/>
                </a:lnTo>
                <a:lnTo>
                  <a:pt x="7378734" y="2866"/>
                </a:lnTo>
                <a:lnTo>
                  <a:pt x="7402892" y="11320"/>
                </a:lnTo>
                <a:lnTo>
                  <a:pt x="7424564" y="24937"/>
                </a:lnTo>
                <a:lnTo>
                  <a:pt x="7442663" y="43036"/>
                </a:lnTo>
                <a:lnTo>
                  <a:pt x="7456280" y="64708"/>
                </a:lnTo>
                <a:lnTo>
                  <a:pt x="7464734" y="88866"/>
                </a:lnTo>
                <a:lnTo>
                  <a:pt x="7467600" y="114300"/>
                </a:lnTo>
                <a:lnTo>
                  <a:pt x="7464734" y="101583"/>
                </a:lnTo>
                <a:lnTo>
                  <a:pt x="7456280" y="89504"/>
                </a:lnTo>
                <a:lnTo>
                  <a:pt x="7442663" y="78668"/>
                </a:lnTo>
                <a:lnTo>
                  <a:pt x="7424564" y="69619"/>
                </a:lnTo>
                <a:lnTo>
                  <a:pt x="7402892" y="62810"/>
                </a:lnTo>
                <a:lnTo>
                  <a:pt x="7378734" y="58583"/>
                </a:lnTo>
                <a:lnTo>
                  <a:pt x="73533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0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114800"/>
            <a:ext cx="7467600" cy="9525"/>
          </a:xfrm>
          <a:custGeom xmlns:a="http://schemas.openxmlformats.org/drawingml/2006/main">
            <a:avLst/>
            <a:pathLst>
              <a:path w="7467600" h="9525">
                <a:moveTo>
                  <a:pt x="0" y="114300"/>
                </a:moveTo>
                <a:lnTo>
                  <a:pt x="2866" y="88866"/>
                </a:lnTo>
                <a:lnTo>
                  <a:pt x="11320" y="64708"/>
                </a:lnTo>
                <a:lnTo>
                  <a:pt x="24937" y="43036"/>
                </a:lnTo>
                <a:lnTo>
                  <a:pt x="43036" y="24937"/>
                </a:lnTo>
                <a:lnTo>
                  <a:pt x="64708" y="11320"/>
                </a:lnTo>
                <a:lnTo>
                  <a:pt x="88866" y="2866"/>
                </a:lnTo>
                <a:lnTo>
                  <a:pt x="114300" y="0"/>
                </a:lnTo>
                <a:lnTo>
                  <a:pt x="7353300" y="0"/>
                </a:lnTo>
                <a:lnTo>
                  <a:pt x="7378734" y="2866"/>
                </a:lnTo>
                <a:lnTo>
                  <a:pt x="7402892" y="11320"/>
                </a:lnTo>
                <a:lnTo>
                  <a:pt x="7424564" y="24937"/>
                </a:lnTo>
                <a:lnTo>
                  <a:pt x="7442663" y="43036"/>
                </a:lnTo>
                <a:lnTo>
                  <a:pt x="7456280" y="64708"/>
                </a:lnTo>
                <a:lnTo>
                  <a:pt x="7464734" y="88866"/>
                </a:lnTo>
                <a:lnTo>
                  <a:pt x="7467600" y="114300"/>
                </a:lnTo>
                <a:lnTo>
                  <a:pt x="7464734" y="101583"/>
                </a:lnTo>
                <a:lnTo>
                  <a:pt x="7456280" y="89504"/>
                </a:lnTo>
                <a:lnTo>
                  <a:pt x="7442663" y="78668"/>
                </a:lnTo>
                <a:lnTo>
                  <a:pt x="7424564" y="69619"/>
                </a:lnTo>
                <a:lnTo>
                  <a:pt x="7402892" y="62810"/>
                </a:lnTo>
                <a:lnTo>
                  <a:pt x="7378734" y="58583"/>
                </a:lnTo>
                <a:lnTo>
                  <a:pt x="7353300" y="57150"/>
                </a:lnTo>
                <a:lnTo>
                  <a:pt x="114300" y="57150"/>
                </a:lnTo>
                <a:lnTo>
                  <a:pt x="88866" y="58583"/>
                </a:lnTo>
                <a:lnTo>
                  <a:pt x="64708" y="62810"/>
                </a:lnTo>
                <a:lnTo>
                  <a:pt x="43036" y="69619"/>
                </a:lnTo>
                <a:lnTo>
                  <a:pt x="24937" y="78668"/>
                </a:lnTo>
                <a:lnTo>
                  <a:pt x="11320" y="89504"/>
                </a:lnTo>
                <a:lnTo>
                  <a:pt x="2866" y="101583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1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4114800"/>
            <a:ext cx="9525" cy="4521200"/>
          </a:xfrm>
          <a:custGeom xmlns:a="http://schemas.openxmlformats.org/drawingml/2006/main">
            <a:avLst/>
            <a:pathLst>
              <a:path w="9525" h="45212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4406900"/>
                </a:lnTo>
                <a:lnTo>
                  <a:pt x="6659" y="4432334"/>
                </a:lnTo>
                <a:lnTo>
                  <a:pt x="-1795" y="4456492"/>
                </a:lnTo>
                <a:lnTo>
                  <a:pt x="-15412" y="4478164"/>
                </a:lnTo>
                <a:lnTo>
                  <a:pt x="-33511" y="4496263"/>
                </a:lnTo>
                <a:lnTo>
                  <a:pt x="-55183" y="4509880"/>
                </a:lnTo>
                <a:lnTo>
                  <a:pt x="-79341" y="4518334"/>
                </a:lnTo>
                <a:lnTo>
                  <a:pt x="-104775" y="4521200"/>
                </a:lnTo>
                <a:lnTo>
                  <a:pt x="-92058" y="4518334"/>
                </a:lnTo>
                <a:lnTo>
                  <a:pt x="-79979" y="4509880"/>
                </a:lnTo>
                <a:lnTo>
                  <a:pt x="-69143" y="4496263"/>
                </a:lnTo>
                <a:lnTo>
                  <a:pt x="-60094" y="4478164"/>
                </a:lnTo>
                <a:lnTo>
                  <a:pt x="-53285" y="4456492"/>
                </a:lnTo>
                <a:lnTo>
                  <a:pt x="-49058" y="4432334"/>
                </a:lnTo>
                <a:lnTo>
                  <a:pt x="-47625" y="44069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2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8475" y="4114800"/>
            <a:ext cx="9525" cy="4521200"/>
          </a:xfrm>
          <a:custGeom xmlns:a="http://schemas.openxmlformats.org/drawingml/2006/main">
            <a:avLst/>
            <a:pathLst>
              <a:path w="9525" h="4521200">
                <a:moveTo>
                  <a:pt x="-104775" y="0"/>
                </a:moveTo>
                <a:lnTo>
                  <a:pt x="-79341" y="2866"/>
                </a:lnTo>
                <a:lnTo>
                  <a:pt x="-55183" y="11320"/>
                </a:lnTo>
                <a:lnTo>
                  <a:pt x="-33511" y="24937"/>
                </a:lnTo>
                <a:lnTo>
                  <a:pt x="-15412" y="43036"/>
                </a:lnTo>
                <a:lnTo>
                  <a:pt x="-1795" y="64708"/>
                </a:lnTo>
                <a:lnTo>
                  <a:pt x="6659" y="88866"/>
                </a:lnTo>
                <a:lnTo>
                  <a:pt x="9525" y="114300"/>
                </a:lnTo>
                <a:lnTo>
                  <a:pt x="9525" y="4406900"/>
                </a:lnTo>
                <a:lnTo>
                  <a:pt x="6659" y="4432334"/>
                </a:lnTo>
                <a:lnTo>
                  <a:pt x="-1795" y="4456492"/>
                </a:lnTo>
                <a:lnTo>
                  <a:pt x="-15412" y="4478164"/>
                </a:lnTo>
                <a:lnTo>
                  <a:pt x="-33511" y="4496263"/>
                </a:lnTo>
                <a:lnTo>
                  <a:pt x="-55183" y="4509880"/>
                </a:lnTo>
                <a:lnTo>
                  <a:pt x="-79341" y="4518334"/>
                </a:lnTo>
                <a:lnTo>
                  <a:pt x="-104775" y="4521200"/>
                </a:lnTo>
                <a:lnTo>
                  <a:pt x="-92058" y="4518334"/>
                </a:lnTo>
                <a:lnTo>
                  <a:pt x="-79979" y="4509880"/>
                </a:lnTo>
                <a:lnTo>
                  <a:pt x="-69143" y="4496263"/>
                </a:lnTo>
                <a:lnTo>
                  <a:pt x="-60094" y="4478164"/>
                </a:lnTo>
                <a:lnTo>
                  <a:pt x="-53285" y="4456492"/>
                </a:lnTo>
                <a:lnTo>
                  <a:pt x="-49058" y="4432334"/>
                </a:lnTo>
                <a:lnTo>
                  <a:pt x="-47625" y="4406900"/>
                </a:lnTo>
                <a:lnTo>
                  <a:pt x="-47625" y="114300"/>
                </a:lnTo>
                <a:lnTo>
                  <a:pt x="-49058" y="88866"/>
                </a:lnTo>
                <a:lnTo>
                  <a:pt x="-53285" y="64708"/>
                </a:lnTo>
                <a:lnTo>
                  <a:pt x="-60094" y="43036"/>
                </a:lnTo>
                <a:lnTo>
                  <a:pt x="-69143" y="24937"/>
                </a:lnTo>
                <a:lnTo>
                  <a:pt x="-79979" y="11320"/>
                </a:lnTo>
                <a:lnTo>
                  <a:pt x="-92058" y="2866"/>
                </a:lnTo>
                <a:lnTo>
                  <a:pt x="-104775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8597900"/>
            <a:ext cx="7467600" cy="38100"/>
          </a:xfrm>
          <a:custGeom xmlns:a="http://schemas.openxmlformats.org/drawingml/2006/main">
            <a:avLst/>
            <a:pathLst>
              <a:path w="74676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7353300" y="38100"/>
                </a:lnTo>
                <a:lnTo>
                  <a:pt x="7378734" y="35234"/>
                </a:lnTo>
                <a:lnTo>
                  <a:pt x="7402892" y="26780"/>
                </a:lnTo>
                <a:lnTo>
                  <a:pt x="7424564" y="13163"/>
                </a:lnTo>
                <a:lnTo>
                  <a:pt x="7442663" y="-4936"/>
                </a:lnTo>
                <a:lnTo>
                  <a:pt x="7456280" y="-26608"/>
                </a:lnTo>
                <a:lnTo>
                  <a:pt x="7464734" y="-50766"/>
                </a:lnTo>
                <a:lnTo>
                  <a:pt x="7467600" y="-76200"/>
                </a:lnTo>
                <a:lnTo>
                  <a:pt x="7464734" y="-63483"/>
                </a:lnTo>
                <a:lnTo>
                  <a:pt x="7456280" y="-51404"/>
                </a:lnTo>
                <a:lnTo>
                  <a:pt x="7442663" y="-40568"/>
                </a:lnTo>
                <a:lnTo>
                  <a:pt x="7424564" y="-31519"/>
                </a:lnTo>
                <a:lnTo>
                  <a:pt x="7402892" y="-24710"/>
                </a:lnTo>
                <a:lnTo>
                  <a:pt x="7378734" y="-20483"/>
                </a:lnTo>
                <a:lnTo>
                  <a:pt x="73533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4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8597900"/>
            <a:ext cx="7467600" cy="38100"/>
          </a:xfrm>
          <a:custGeom xmlns:a="http://schemas.openxmlformats.org/drawingml/2006/main">
            <a:avLst/>
            <a:pathLst>
              <a:path w="7467600" h="38100">
                <a:moveTo>
                  <a:pt x="0" y="-76200"/>
                </a:moveTo>
                <a:lnTo>
                  <a:pt x="2866" y="-50766"/>
                </a:lnTo>
                <a:lnTo>
                  <a:pt x="11320" y="-26608"/>
                </a:lnTo>
                <a:lnTo>
                  <a:pt x="24937" y="-4936"/>
                </a:lnTo>
                <a:lnTo>
                  <a:pt x="43036" y="13163"/>
                </a:lnTo>
                <a:lnTo>
                  <a:pt x="64708" y="26780"/>
                </a:lnTo>
                <a:lnTo>
                  <a:pt x="88866" y="35234"/>
                </a:lnTo>
                <a:lnTo>
                  <a:pt x="114300" y="38100"/>
                </a:lnTo>
                <a:lnTo>
                  <a:pt x="7353300" y="38100"/>
                </a:lnTo>
                <a:lnTo>
                  <a:pt x="7378734" y="35234"/>
                </a:lnTo>
                <a:lnTo>
                  <a:pt x="7402892" y="26780"/>
                </a:lnTo>
                <a:lnTo>
                  <a:pt x="7424564" y="13163"/>
                </a:lnTo>
                <a:lnTo>
                  <a:pt x="7442663" y="-4936"/>
                </a:lnTo>
                <a:lnTo>
                  <a:pt x="7456280" y="-26608"/>
                </a:lnTo>
                <a:lnTo>
                  <a:pt x="7464734" y="-50766"/>
                </a:lnTo>
                <a:lnTo>
                  <a:pt x="7467600" y="-76200"/>
                </a:lnTo>
                <a:lnTo>
                  <a:pt x="7464734" y="-63483"/>
                </a:lnTo>
                <a:lnTo>
                  <a:pt x="7456280" y="-51404"/>
                </a:lnTo>
                <a:lnTo>
                  <a:pt x="7442663" y="-40568"/>
                </a:lnTo>
                <a:lnTo>
                  <a:pt x="7424564" y="-31519"/>
                </a:lnTo>
                <a:lnTo>
                  <a:pt x="7402892" y="-24710"/>
                </a:lnTo>
                <a:lnTo>
                  <a:pt x="7378734" y="-20483"/>
                </a:lnTo>
                <a:lnTo>
                  <a:pt x="7353300" y="-19050"/>
                </a:lnTo>
                <a:lnTo>
                  <a:pt x="114300" y="-19050"/>
                </a:lnTo>
                <a:lnTo>
                  <a:pt x="88866" y="-20483"/>
                </a:lnTo>
                <a:lnTo>
                  <a:pt x="64708" y="-24710"/>
                </a:lnTo>
                <a:lnTo>
                  <a:pt x="43036" y="-31519"/>
                </a:lnTo>
                <a:lnTo>
                  <a:pt x="24937" y="-40568"/>
                </a:lnTo>
                <a:lnTo>
                  <a:pt x="11320" y="-51404"/>
                </a:lnTo>
                <a:lnTo>
                  <a:pt x="2866" y="-63483"/>
                </a:lnTo>
                <a:lnTo>
                  <a:pt x="0" y="-7620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9525" cy="4521200"/>
          </a:xfrm>
          <a:custGeom xmlns:a="http://schemas.openxmlformats.org/drawingml/2006/main">
            <a:avLst/>
            <a:pathLst>
              <a:path w="9525" h="4521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4406900"/>
                </a:lnTo>
                <a:lnTo>
                  <a:pt x="2866" y="4432334"/>
                </a:lnTo>
                <a:lnTo>
                  <a:pt x="11320" y="4456492"/>
                </a:lnTo>
                <a:lnTo>
                  <a:pt x="24937" y="4478164"/>
                </a:lnTo>
                <a:lnTo>
                  <a:pt x="43036" y="4496263"/>
                </a:lnTo>
                <a:lnTo>
                  <a:pt x="64708" y="4509880"/>
                </a:lnTo>
                <a:lnTo>
                  <a:pt x="88866" y="4518334"/>
                </a:lnTo>
                <a:lnTo>
                  <a:pt x="114300" y="4521200"/>
                </a:lnTo>
                <a:lnTo>
                  <a:pt x="101583" y="4518334"/>
                </a:lnTo>
                <a:lnTo>
                  <a:pt x="89504" y="4509880"/>
                </a:lnTo>
                <a:lnTo>
                  <a:pt x="78668" y="4496263"/>
                </a:lnTo>
                <a:lnTo>
                  <a:pt x="69619" y="4478164"/>
                </a:lnTo>
                <a:lnTo>
                  <a:pt x="62810" y="4456492"/>
                </a:lnTo>
                <a:lnTo>
                  <a:pt x="58583" y="4432334"/>
                </a:lnTo>
                <a:lnTo>
                  <a:pt x="57150" y="4406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29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114800"/>
            <a:ext cx="9525" cy="4521200"/>
          </a:xfrm>
          <a:custGeom xmlns:a="http://schemas.openxmlformats.org/drawingml/2006/main">
            <a:avLst/>
            <a:pathLst>
              <a:path w="9525" h="4521200">
                <a:moveTo>
                  <a:pt x="114300" y="0"/>
                </a:moveTo>
                <a:lnTo>
                  <a:pt x="88866" y="2866"/>
                </a:lnTo>
                <a:lnTo>
                  <a:pt x="64708" y="11320"/>
                </a:lnTo>
                <a:lnTo>
                  <a:pt x="43036" y="24937"/>
                </a:lnTo>
                <a:lnTo>
                  <a:pt x="24937" y="43036"/>
                </a:lnTo>
                <a:lnTo>
                  <a:pt x="11320" y="64708"/>
                </a:lnTo>
                <a:lnTo>
                  <a:pt x="2866" y="88866"/>
                </a:lnTo>
                <a:lnTo>
                  <a:pt x="0" y="114300"/>
                </a:lnTo>
                <a:lnTo>
                  <a:pt x="0" y="4406900"/>
                </a:lnTo>
                <a:lnTo>
                  <a:pt x="2866" y="4432334"/>
                </a:lnTo>
                <a:lnTo>
                  <a:pt x="11320" y="4456492"/>
                </a:lnTo>
                <a:lnTo>
                  <a:pt x="24937" y="4478164"/>
                </a:lnTo>
                <a:lnTo>
                  <a:pt x="43036" y="4496263"/>
                </a:lnTo>
                <a:lnTo>
                  <a:pt x="64708" y="4509880"/>
                </a:lnTo>
                <a:lnTo>
                  <a:pt x="88866" y="4518334"/>
                </a:lnTo>
                <a:lnTo>
                  <a:pt x="114300" y="4521200"/>
                </a:lnTo>
                <a:lnTo>
                  <a:pt x="101583" y="4518334"/>
                </a:lnTo>
                <a:lnTo>
                  <a:pt x="89504" y="4509880"/>
                </a:lnTo>
                <a:lnTo>
                  <a:pt x="78668" y="4496263"/>
                </a:lnTo>
                <a:lnTo>
                  <a:pt x="69619" y="4478164"/>
                </a:lnTo>
                <a:lnTo>
                  <a:pt x="62810" y="4456492"/>
                </a:lnTo>
                <a:lnTo>
                  <a:pt x="58583" y="4432334"/>
                </a:lnTo>
                <a:lnTo>
                  <a:pt x="57150" y="4406900"/>
                </a:lnTo>
                <a:lnTo>
                  <a:pt x="57150" y="114300"/>
                </a:lnTo>
                <a:lnTo>
                  <a:pt x="58583" y="88866"/>
                </a:lnTo>
                <a:lnTo>
                  <a:pt x="62810" y="64708"/>
                </a:lnTo>
                <a:lnTo>
                  <a:pt x="69619" y="43036"/>
                </a:lnTo>
                <a:lnTo>
                  <a:pt x="78668" y="24937"/>
                </a:lnTo>
                <a:lnTo>
                  <a:pt x="89504" y="11320"/>
                </a:lnTo>
                <a:lnTo>
                  <a:pt x="101583" y="2866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74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仪表盘 KPI</a:t>
            </a:r>
            <a:endParaRPr lang="zh-CN"/>
          </a:p>
        </p:txBody>
      </p:sp>
      <p:sp>
        <p:nvSpPr>
          <p:cNvPr id="8042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2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5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2a73e098f9845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2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5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60ef23bdbe14a1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2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1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4011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542606" y="3117850"/>
            <a:ext cx="118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83333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13</a:t>
            </a:r>
            <a:endParaRPr lang="zh-CN"/>
          </a:p>
        </p:txBody>
      </p:sp>
      <p:sp>
        <p:nvSpPr>
          <p:cNvPr id="8042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337050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696075" y="4679950"/>
            <a:ext cx="2870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000000"/>
                </a:solidFill>
                <a:latin typeface="Noto Sans SC"/>
                <a:ea typeface="Noto Sans SC"/>
              </a:rPr>
              <a:t>致谢与问答</a:t>
            </a:r>
            <a:endParaRPr lang="zh-CN"/>
          </a:p>
        </p:txBody>
      </p:sp>
      <p:sp>
        <p:nvSpPr>
          <p:cNvPr id="4011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202756" y="5683250"/>
            <a:ext cx="386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3D金属字与粒子背景营造结束氛围</a:t>
            </a:r>
            <a:endParaRPr lang="zh-CN"/>
          </a:p>
        </p:txBody>
      </p:sp>
    </p:spTree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2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6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75a6994f9fc4a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2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6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83963177f2b41c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2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1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pic>
        <p:nvPicPr>
          <p:cNvPr id="8301" name="Picture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35306e15f461c"/>
          <a:srcRect xmlns:a="http://schemas.openxmlformats.org/drawingml/2006/main" l="0" t="28918" r="0" b="2891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oundRect">
            <a:avLst>
              <a:gd name="adj" fmla="val 1666"/>
            </a:avLst>
          </a:prstGeom>
        </p:spPr>
      </p:pic>
      <p:sp>
        <p:nvSpPr>
          <p:cNvPr id="8042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3048000"/>
            <a:ext cx="8890000" cy="406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2700">
            <a:solidFill>
              <a:srgbClr val="E1E1E5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6243" y="3219450"/>
            <a:ext cx="539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7200" b="1">
                <a:solidFill>
                  <a:srgbClr val="E5C158"/>
                </a:solidFill>
                <a:latin typeface="Noto Sans SC"/>
                <a:ea typeface="Noto Sans SC"/>
              </a:rPr>
              <a:t>感谢聆听</a:t>
            </a:r>
            <a:endParaRPr lang="zh-CN"/>
          </a:p>
        </p:txBody>
      </p:sp>
      <p:sp>
        <p:nvSpPr>
          <p:cNvPr id="8042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10160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06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987" y="5200650"/>
            <a:ext cx="2590800" cy="889000"/>
          </a:xfrm>
          <a:prstGeom xmlns:a="http://schemas.openxmlformats.org/drawingml/2006/main" prst="roundRect">
            <a:avLst>
              <a:gd name="adj" fmla="val 17142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0" scaled="1"/>
          </a:gradFill>
          <a:ln xmlns:a="http://schemas.openxmlformats.org/drawingml/2006/main" w="12700">
            <a:solidFill>
              <a:srgbClr val="F2D06B">
                <a:alpha val="50000"/>
              </a:srgbClr>
            </a:solidFill>
            <a:prstDash val="solid"/>
            <a:round/>
          </a:ln>
          <a:effectLst xmlns:a="http://schemas.openxmlformats.org/drawingml/2006/main">
            <a:outerShdw blurRad="190500" dist="1270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457287" y="5416550"/>
            <a:ext cx="180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FFFFFF"/>
                </a:solidFill>
                <a:latin typeface="Noto Sans SC"/>
                <a:ea typeface="Noto Sans SC"/>
              </a:rPr>
              <a:t>欢迎提问</a:t>
            </a:r>
            <a:endParaRPr lang="zh-CN"/>
          </a:p>
        </p:txBody>
      </p:sp>
      <p:pic>
        <p:nvPicPr>
          <p:cNvPr id="80427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e99b379b22f42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295303" y="66421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11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650903" y="65976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000000"/>
                </a:solidFill>
                <a:latin typeface="Noto Sans SC"/>
                <a:ea typeface="Noto Sans SC"/>
              </a:rPr>
              <a:t>博雅书院</a:t>
            </a:r>
            <a:endParaRPr lang="zh-CN"/>
          </a:p>
        </p:txBody>
      </p:sp>
      <p:sp>
        <p:nvSpPr>
          <p:cNvPr id="8042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703" y="6667500"/>
            <a:ext cx="25400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1177d72016c4c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03503" y="6654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011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33703" y="65976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contact@boyashuyuan.edu.cn</a:t>
            </a:r>
            <a:endParaRPr lang="zh-CN"/>
          </a:p>
        </p:txBody>
      </p:sp>
      <p:sp>
        <p:nvSpPr>
          <p:cNvPr id="8042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"/>
            <a:ext cx="63500" cy="4318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100000">
                <a:srgbClr val="F2D06B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0" dir="0" algn="ctr">
              <a:srgbClr val="E5C158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" y="419100"/>
            <a:ext cx="33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00000"/>
                </a:solidFill>
                <a:latin typeface="Noto Sans SC"/>
                <a:ea typeface="Noto Sans SC"/>
              </a:rPr>
              <a:t>3D 致谢文字</a:t>
            </a:r>
            <a:endParaRPr lang="zh-CN"/>
          </a:p>
        </p:txBody>
      </p:sp>
      <p:sp>
        <p:nvSpPr>
          <p:cNvPr id="8042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4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78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1E1E5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200" y="723900"/>
            <a:ext cx="76200" cy="76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C158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2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FFFFF"/>
              </a:gs>
              <a:gs pos="50000">
                <a:srgbClr val="F5F5F7"/>
              </a:gs>
              <a:gs pos="100000">
                <a:srgbClr val="EAEAEF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-1270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>
                  <a:alpha val="15000"/>
                </a:srgbClr>
              </a:gs>
              <a:gs pos="100000">
                <a:srgbClr val="F2D06B">
                  <a:alpha val="500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1E1E5">
                  <a:alpha val="40000"/>
                </a:srgbClr>
              </a:gs>
              <a:gs pos="100000">
                <a:srgbClr val="E1E1E5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8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c4bbfdf4ebe48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" y="571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8042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0" y="3016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158">
              <a:alpha val="75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8042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fb76c5c0aa641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76000" y="1016000"/>
            <a:ext cx="6350000" cy="7620000"/>
          </a:xfrm>
          <a:prstGeom xmlns:a="http://schemas.openxmlformats.org/drawingml/2006/main" prst="rect">
            <a:avLst/>
          </a:prstGeom>
        </p:spPr>
      </p:pic>
      <p:sp>
        <p:nvSpPr>
          <p:cNvPr id="8042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61400"/>
            <a:ext cx="146304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826500"/>
            <a:ext cx="113792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1E1E5">
                  <a:alpha val="0"/>
                </a:srgbClr>
              </a:gs>
              <a:gs pos="50000">
                <a:srgbClr val="E1E1E5">
                  <a:alpha val="50000"/>
                </a:srgbClr>
              </a:gs>
              <a:gs pos="100000">
                <a:srgbClr val="E1E1E5">
                  <a:alpha val="0"/>
                </a:srgbClr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098606" y="8699500"/>
            <a:ext cx="485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 b="1">
                <a:solidFill>
                  <a:srgbClr val="6E6E73">
                    <a:alpha val="40000"/>
                  </a:srgbClr>
                </a:solidFill>
                <a:latin typeface="Noto Sans SC"/>
                <a:ea typeface="Noto Sans SC"/>
              </a:rPr>
              <a:t>3D Visual Design System • Platinum Edition</a:t>
            </a:r>
            <a:endParaRPr lang="zh-CN"/>
          </a:p>
        </p:txBody>
      </p:sp>
      <p:sp>
        <p:nvSpPr>
          <p:cNvPr id="4011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8699500"/>
            <a:ext cx="193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000">
                <a:solidFill>
                  <a:srgbClr val="6E6E73">
                    <a:alpha val="30000"/>
                  </a:srgbClr>
                </a:solidFill>
                <a:latin typeface="微软雅黑"/>
                <a:ea typeface="微软雅黑"/>
              </a:rPr>
              <a:t>SYS.RENDER // V.2.0.4</a:t>
            </a:r>
            <a:endParaRPr lang="zh-CN"/>
          </a:p>
        </p:txBody>
      </p:sp>
      <p:sp>
        <p:nvSpPr>
          <p:cNvPr id="8042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3376612"/>
            <a:ext cx="6096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5C158">
                  <a:alpha val="0"/>
                </a:srgbClr>
              </a:gs>
              <a:gs pos="100000">
                <a:srgbClr val="E5C158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077200" y="3332162"/>
            <a:ext cx="101600" cy="1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5C158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8042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6612"/>
            <a:ext cx="609600" cy="127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5C158">
                  <a:alpha val="0"/>
                </a:srgbClr>
              </a:gs>
              <a:gs pos="100000">
                <a:srgbClr val="E5C158"/>
              </a:gs>
            </a:gsLst>
            <a:lin ang="108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03596" y="3840162"/>
            <a:ext cx="626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800" b="1">
                <a:solidFill>
                  <a:srgbClr val="000000"/>
                </a:solidFill>
                <a:latin typeface="Noto Sans SC"/>
                <a:ea typeface="Noto Sans SC"/>
              </a:rPr>
              <a:t>敬请各位老师批评指正</a:t>
            </a:r>
            <a:endParaRPr lang="zh-CN"/>
          </a:p>
        </p:txBody>
      </p:sp>
      <p:sp>
        <p:nvSpPr>
          <p:cNvPr id="8042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08562"/>
            <a:ext cx="1016000" cy="25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E5C158"/>
              </a:gs>
              <a:gs pos="50000">
                <a:srgbClr val="F2D06B"/>
              </a:gs>
              <a:gs pos="100000">
                <a:srgbClr val="E5C158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011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842000" y="5440362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33333"/>
              </a:lnSpc>
              <a:buNone/>
            </a:pPr>
            <a:r>
              <a:rPr lang="zh-CN" sz="1800">
                <a:solidFill>
                  <a:srgbClr val="6E6E73"/>
                </a:solidFill>
                <a:latin typeface="Noto Sans SC"/>
                <a:ea typeface="Noto Sans SC"/>
              </a:rPr>
              <a:t>展示技术深度与设计美学，期待您的宝贵建议</a:t>
            </a:r>
            <a:endParaRPr lang="zh-CN"/>
          </a:p>
        </p:txBody>
      </p:sp>
      <p:sp>
        <p:nvSpPr>
          <p:cNvPr id="8042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0" y="8509000"/>
            <a:ext cx="13589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200">
                <a:solidFill>
                  <a:srgbClr val="FFFFFF"/>
                </a:solidFill>
                <a:latin typeface="Noto Sans SC"/>
                <a:ea typeface="Noto Sans SC"/>
              </a:rPr>
              <a:t>内容由 AI 生成</a:t>
            </a:r>
            <a:endParaRPr lang="zh-CN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80000"/>
                <a:satMod val="2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lin ang="16200000" scaled="1"/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博雅书院 3D 视觉设计规范</dc:title>
  <dc:creator>Claude Code</dc:creator>
  <cp:lastModifiedBy>Claude Code</cp:lastModifiedBy>
  <dcterms:created xsi:type="dcterms:W3CDTF">2026-06-13T16:11:44Z</dcterms:created>
  <dcterms:modified xsi:type="dcterms:W3CDTF">2026-06-13T16:11:44Z</dcterms:modified>
</cp:coreProperties>
</file>